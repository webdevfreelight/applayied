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6672a0-6f36-d44a-5396-8e724a4c8b5d}">
          <p14:sldIdLst>
            <p14:sldId id="256"/>
          </p14:sldIdLst>
        </p14:section>
        <p14:section name="Case for change" id="{f0079b9a-b674-88fb-1531-8fedc189bede}">
          <p14:sldIdLst>
            <p14:sldId id="257"/>
            <p14:sldId id="258"/>
          </p14:sldIdLst>
        </p14:section>
        <p14:section name="The solution" id="{619fb470-1a26-0db0-2209-52a937c40b47}">
          <p14:sldIdLst>
            <p14:sldId id="259"/>
            <p14:sldId id="260"/>
            <p14:sldId id="261"/>
          </p14:sldIdLst>
        </p14:section>
        <p14:section name="Intelligence &amp; value" id="{d50fe121-2325-4389-6868-7b89fae4d50a}">
          <p14:sldIdLst>
            <p14:sldId id="262"/>
            <p14:sldId id="263"/>
            <p14:sldId id="264"/>
          </p14:sldIdLst>
        </p14:section>
        <p14:section name="Decision" id="{e7529f24-2292-6ac1-404d-b7e76b5b005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8"/>
                </a:solidFill>
                <a:latin typeface="+mn-lt"/>
              </a:defRPr>
            </a:pPr>
            <a:r>
              <a:rPr sz="1300" b="0" i="0" u="none" strike="noStrike">
                <a:solidFill>
                  <a:srgbClr val="E8EEF8"/>
                </a:solidFill>
                <a:latin typeface="+mn-lt"/>
              </a:rPr>
              <a:t>Budget vs actual vs EAC (AED M)</a:t>
            </a:r>
          </a:p>
        </c:rich>
      </c:tx>
      <c:layout/>
      <c:overlay val="0"/>
    </c:title>
    <c:autoTitleDeleted val="0"/>
    <c:plotArea>
      <c:layout/>
      <c:barChart>
        <c:barDir val="col"/>
        <c:grouping val="clustered"/>
        <c:varyColors val="0"/>
        <c:ser>
          <c:idx val="0"/>
          <c:order val="0"/>
          <c:tx>
            <c:strRef>
              <c:f>Sheet1!$B$1</c:f>
              <c:strCache>
                <c:ptCount val="1"/>
                <c:pt idx="0">
                  <c:v>Budget</c:v>
                </c:pt>
              </c:strCache>
            </c:strRef>
          </c:tx>
          <c:spPr>
            <a:solidFill>
              <a:srgbClr val="4B5D78"/>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Sheet1!$B$2:$B$9</c:f>
              <c:numCache>
                <c:formatCode>General</c:formatCode>
                <c:ptCount val="8"/>
                <c:pt idx="0">
                  <c:v>5</c:v>
                </c:pt>
                <c:pt idx="1">
                  <c:v>2.2</c:v>
                </c:pt>
                <c:pt idx="2">
                  <c:v>1.6</c:v>
                </c:pt>
                <c:pt idx="3">
                  <c:v>2.8</c:v>
                </c:pt>
                <c:pt idx="4">
                  <c:v>1.4</c:v>
                </c:pt>
                <c:pt idx="5">
                  <c:v>0.8</c:v>
                </c:pt>
                <c:pt idx="6">
                  <c:v>0.6</c:v>
                </c:pt>
                <c:pt idx="7">
                  <c:v>0.9</c:v>
                </c:pt>
              </c:numCache>
            </c:numRef>
          </c:val>
        </c:ser>
        <c:ser>
          <c:idx val="1"/>
          <c:order val="1"/>
          <c:tx>
            <c:strRef>
              <c:f>Sheet1!$C$1</c:f>
              <c:strCache>
                <c:ptCount val="1"/>
                <c:pt idx="0">
                  <c:v>Actual</c:v>
                </c:pt>
              </c:strCache>
            </c:strRef>
          </c:tx>
          <c:spPr>
            <a:solidFill>
              <a:srgbClr val="7CC4FF"/>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Sheet1!$C$2:$C$9</c:f>
              <c:numCache>
                <c:formatCode>General</c:formatCode>
                <c:ptCount val="8"/>
                <c:pt idx="0">
                  <c:v>3.62</c:v>
                </c:pt>
                <c:pt idx="1">
                  <c:v>1.71</c:v>
                </c:pt>
                <c:pt idx="2">
                  <c:v>1.18</c:v>
                </c:pt>
                <c:pt idx="3">
                  <c:v>2.02</c:v>
                </c:pt>
                <c:pt idx="4">
                  <c:v>1.04</c:v>
                </c:pt>
                <c:pt idx="5">
                  <c:v>0.61</c:v>
                </c:pt>
                <c:pt idx="6">
                  <c:v>0.31</c:v>
                </c:pt>
                <c:pt idx="7">
                  <c:v>0.93</c:v>
                </c:pt>
              </c:numCache>
            </c:numRef>
          </c:val>
        </c:ser>
        <c:ser>
          <c:idx val="2"/>
          <c:order val="2"/>
          <c:tx>
            <c:strRef>
              <c:f>Sheet1!$D$1</c:f>
              <c:strCache>
                <c:ptCount val="1"/>
                <c:pt idx="0">
                  <c:v>EAC</c:v>
                </c:pt>
              </c:strCache>
            </c:strRef>
          </c:tx>
          <c:spPr>
            <a:solidFill>
              <a:srgbClr val="F5B342"/>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Sheet1!$D$2:$D$9</c:f>
              <c:numCache>
                <c:formatCode>General</c:formatCode>
                <c:ptCount val="8"/>
                <c:pt idx="0">
                  <c:v>5.46</c:v>
                </c:pt>
                <c:pt idx="1">
                  <c:v>2.24</c:v>
                </c:pt>
                <c:pt idx="2">
                  <c:v>1.93</c:v>
                </c:pt>
                <c:pt idx="3">
                  <c:v>2.71</c:v>
                </c:pt>
                <c:pt idx="4">
                  <c:v>1.37</c:v>
                </c:pt>
                <c:pt idx="5">
                  <c:v>0.93</c:v>
                </c:pt>
                <c:pt idx="6">
                  <c:v>0.58</c:v>
                </c:pt>
                <c:pt idx="7">
                  <c:v>0.93</c:v>
                </c:pt>
              </c:numCache>
            </c:numRef>
          </c:val>
        </c:ser>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7B6C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A55"/>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A7B6CC"/>
                </a:solidFill>
                <a:latin typeface="+mn-lt"/>
              </a:defRPr>
            </a:pPr>
            <a:endParaRPr lang="en-US"/>
          </a:p>
        </c:txPr>
        <c:crossAx val="2094734554"/>
        <c:crosses val="autoZero"/>
        <c:crossBetween val="between"/>
      </c:valAx>
      <c:spPr>
        <a:solidFill>
          <a:srgbClr val="16233A"/>
        </a:solidFill>
        <a:ln>
          <a:noFill/>
        </a:ln>
        <a:effectLst/>
      </c:spPr>
    </c:plotArea>
    <c:legend>
      <c:legendPos val="b"/>
      <c:overlay val="0"/>
      <c:txPr>
        <a:bodyPr/>
        <a:lstStyle/>
        <a:p>
          <a:pPr>
            <a:defRPr sz="1100">
              <a:solidFill>
                <a:srgbClr val="A7B6CC"/>
              </a:solidFill>
              <a:latin typeface="+mn-lt"/>
              <a:cs typeface="+mn-lt"/>
            </a:defRPr>
          </a:pPr>
          <a:endParaRPr lang="en-US"/>
        </a:p>
      </c:txPr>
    </c:legend>
    <c:plotVisOnly val="1"/>
    <c:dispBlanksAs val="span"/>
  </c:chart>
  <c:spPr>
    <a:solidFill>
      <a:srgbClr val="16233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8"/>
                </a:solidFill>
                <a:latin typeface="+mn-lt"/>
              </a:defRPr>
            </a:pPr>
            <a:r>
              <a:rPr sz="1300" b="0" i="0" u="none" strike="noStrike">
                <a:solidFill>
                  <a:srgbClr val="E8EEF8"/>
                </a:solidFill>
                <a:latin typeface="+mn-lt"/>
              </a:rPr>
              <a:t>Monthly cost (AED M)</a:t>
            </a:r>
          </a:p>
        </c:rich>
      </c:tx>
      <c:layout/>
      <c:overlay val="0"/>
    </c:title>
    <c:autoTitleDeleted val="0"/>
    <c:plotArea>
      <c:layout/>
      <c:lineChart>
        <c:varyColors val="0"/>
        <c:ser>
          <c:idx val="0"/>
          <c:order val="0"/>
          <c:tx>
            <c:strRef>
              <c:f>Sheet1!$B$1</c:f>
              <c:strCache>
                <c:ptCount val="1"/>
                <c:pt idx="0">
                  <c:v>Posted cost</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marker>
            <c:symbol val="none"/>
            <c:size val="6"/>
            <c:spPr>
              <a:solidFill>
                <a:srgbClr val="2DD4BF"/>
              </a:solidFill>
              <a:ln w="9525" cap="flat">
                <a:solidFill>
                  <a:srgbClr val="2DD4BF"/>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0.96</c:v>
                </c:pt>
                <c:pt idx="1">
                  <c:v>1.08</c:v>
                </c:pt>
                <c:pt idx="2">
                  <c:v>1.21</c:v>
                </c:pt>
                <c:pt idx="3">
                  <c:v>1.28</c:v>
                </c:pt>
                <c:pt idx="4">
                  <c:v>1.34</c:v>
                </c:pt>
                <c:pt idx="5">
                  <c:v>1.39</c:v>
                </c:pt>
                <c:pt idx="6">
                  <c:v>1.38</c:v>
                </c:pt>
                <c:pt idx="7">
                  <c:v>1.41</c:v>
                </c:pt>
                <c:pt idx="8">
                  <c:v>1.37</c:v>
                </c:pt>
              </c:numCache>
            </c:numRef>
          </c:val>
          <c:smooth val="0"/>
        </c:ser>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7B6C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A55"/>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A7B6CC"/>
                </a:solidFill>
                <a:latin typeface="+mn-lt"/>
              </a:defRPr>
            </a:pPr>
            <a:endParaRPr lang="en-US"/>
          </a:p>
        </c:txPr>
        <c:crossAx val="2094734554"/>
        <c:crosses val="autoZero"/>
        <c:crossBetween val="between"/>
      </c:valAx>
      <c:spPr>
        <a:solidFill>
          <a:srgbClr val="16233A"/>
        </a:solidFill>
        <a:ln>
          <a:noFill/>
        </a:ln>
        <a:effectLst/>
      </c:spPr>
    </c:plotArea>
    <c:plotVisOnly val="1"/>
    <c:dispBlanksAs val="span"/>
  </c:chart>
  <c:spPr>
    <a:solidFill>
      <a:srgbClr val="16233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8"/>
                </a:solidFill>
                <a:latin typeface="+mn-lt"/>
              </a:defRPr>
            </a:pPr>
            <a:r>
              <a:rPr sz="1300" b="0" i="0" u="none" strike="noStrike">
                <a:solidFill>
                  <a:srgbClr val="E8EEF8"/>
                </a:solidFill>
                <a:latin typeface="+mn-lt"/>
              </a:rPr>
              <a:t>Task status</a:t>
            </a:r>
          </a:p>
        </c:rich>
      </c:tx>
      <c:layout/>
      <c:overlay val="0"/>
    </c:title>
    <c:autoTitleDeleted val="0"/>
    <c:plotArea>
      <c:layout/>
      <c:barChart>
        <c:barDir val="bar"/>
        <c:grouping val="stacked"/>
        <c:varyColors val="0"/>
        <c:ser>
          <c:idx val="0"/>
          <c:order val="0"/>
          <c:tx>
            <c:strRef>
              <c:f>Sheet1!$B$1</c:f>
              <c:strCache>
                <c:ptCount val="1"/>
                <c:pt idx="0">
                  <c:v>Done</c:v>
                </c:pt>
              </c:strCache>
            </c:strRef>
          </c:tx>
          <c:spPr>
            <a:solidFill>
              <a:srgbClr val="2DD4BF"/>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Sheet1!$B$2:$B$9</c:f>
              <c:numCache>
                <c:formatCode>General</c:formatCode>
                <c:ptCount val="8"/>
                <c:pt idx="0">
                  <c:v>3</c:v>
                </c:pt>
                <c:pt idx="1">
                  <c:v>0</c:v>
                </c:pt>
                <c:pt idx="2">
                  <c:v>0</c:v>
                </c:pt>
                <c:pt idx="3">
                  <c:v>0</c:v>
                </c:pt>
                <c:pt idx="4">
                  <c:v>0</c:v>
                </c:pt>
                <c:pt idx="5">
                  <c:v>2</c:v>
                </c:pt>
                <c:pt idx="6">
                  <c:v>3</c:v>
                </c:pt>
                <c:pt idx="7">
                  <c:v>6</c:v>
                </c:pt>
              </c:numCache>
            </c:numRef>
          </c:val>
        </c:ser>
        <c:ser>
          <c:idx val="1"/>
          <c:order val="1"/>
          <c:tx>
            <c:strRef>
              <c:f>Sheet1!$C$1</c:f>
              <c:strCache>
                <c:ptCount val="1"/>
                <c:pt idx="0">
                  <c:v>In progress</c:v>
                </c:pt>
              </c:strCache>
            </c:strRef>
          </c:tx>
          <c:spPr>
            <a:solidFill>
              <a:srgbClr val="7CC4FF"/>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Sheet1!$C$2:$C$9</c:f>
              <c:numCache>
                <c:formatCode>General</c:formatCode>
                <c:ptCount val="8"/>
                <c:pt idx="0">
                  <c:v>5</c:v>
                </c:pt>
                <c:pt idx="1">
                  <c:v>1</c:v>
                </c:pt>
                <c:pt idx="2">
                  <c:v>1</c:v>
                </c:pt>
                <c:pt idx="3">
                  <c:v>1</c:v>
                </c:pt>
                <c:pt idx="4">
                  <c:v>0</c:v>
                </c:pt>
                <c:pt idx="5">
                  <c:v>2</c:v>
                </c:pt>
                <c:pt idx="6">
                  <c:v>3</c:v>
                </c:pt>
                <c:pt idx="7">
                  <c:v>0</c:v>
                </c:pt>
              </c:numCache>
            </c:numRef>
          </c:val>
        </c:ser>
        <c:ser>
          <c:idx val="2"/>
          <c:order val="2"/>
          <c:tx>
            <c:strRef>
              <c:f>Sheet1!$D$1</c:f>
              <c:strCache>
                <c:ptCount val="1"/>
                <c:pt idx="0">
                  <c:v>To do</c:v>
                </c:pt>
              </c:strCache>
            </c:strRef>
          </c:tx>
          <c:spPr>
            <a:solidFill>
              <a:srgbClr val="4B5D78"/>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Sheet1!$D$2:$D$9</c:f>
              <c:numCache>
                <c:formatCode>General</c:formatCode>
                <c:ptCount val="8"/>
                <c:pt idx="0">
                  <c:v>6</c:v>
                </c:pt>
                <c:pt idx="1">
                  <c:v>0</c:v>
                </c:pt>
                <c:pt idx="2">
                  <c:v>0</c:v>
                </c:pt>
                <c:pt idx="3">
                  <c:v>0</c:v>
                </c:pt>
                <c:pt idx="4">
                  <c:v>1</c:v>
                </c:pt>
                <c:pt idx="5">
                  <c:v>1</c:v>
                </c:pt>
                <c:pt idx="6">
                  <c:v>2</c:v>
                </c:pt>
                <c:pt idx="7">
                  <c:v>0</c:v>
                </c:pt>
              </c:numCache>
            </c:numRef>
          </c:val>
        </c:ser>
        <c:ser>
          <c:idx val="3"/>
          <c:order val="3"/>
          <c:tx>
            <c:strRef>
              <c:f>Sheet1!$E$1</c:f>
              <c:strCache>
                <c:ptCount val="1"/>
                <c:pt idx="0">
                  <c:v>Blocked</c:v>
                </c:pt>
              </c:strCache>
            </c:strRef>
          </c:tx>
          <c:spPr>
            <a:solidFill>
              <a:srgbClr val="FF6B5E"/>
            </a:solidFill>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cat>
            <c:multiLvlStrRef>
              <c:f>Sheet1!$A$2:$A$9</c:f>
              <c:multiLvlStrCache>
                <c:ptCount val="8"/>
                <c:lvl>
                  <c:pt idx="0">
                    <c:v>CBM</c:v>
                  </c:pt>
                  <c:pt idx="1">
                    <c:v>NBU</c:v>
                  </c:pt>
                  <c:pt idx="2">
                    <c:v>AIC</c:v>
                  </c:pt>
                  <c:pt idx="3">
                    <c:v>DLP</c:v>
                  </c:pt>
                  <c:pt idx="4">
                    <c:v>CYB</c:v>
                  </c:pt>
                  <c:pt idx="5">
                    <c:v>HRP</c:v>
                  </c:pt>
                  <c:pt idx="6">
                    <c:v>MOB</c:v>
                  </c:pt>
                  <c:pt idx="7">
                    <c:v>LEG</c:v>
                  </c:pt>
                </c:lvl>
              </c:multiLvlStrCache>
            </c:multiLvlStrRef>
          </c:cat>
          <c:val>
            <c:numRef>
              <c:f>Sheet1!$E$2:$E$9</c:f>
              <c:numCache>
                <c:formatCode>General</c:formatCode>
                <c:ptCount val="8"/>
                <c:pt idx="0">
                  <c:v>3</c:v>
                </c:pt>
                <c:pt idx="1">
                  <c:v>0</c:v>
                </c:pt>
                <c:pt idx="2">
                  <c:v>1</c:v>
                </c:pt>
                <c:pt idx="3">
                  <c:v>0</c:v>
                </c:pt>
                <c:pt idx="4">
                  <c:v>0</c:v>
                </c:pt>
                <c:pt idx="5">
                  <c:v>2</c:v>
                </c:pt>
                <c:pt idx="6">
                  <c:v>3</c:v>
                </c:pt>
                <c:pt idx="7">
                  <c:v>0</c:v>
                </c:pt>
              </c:numCache>
            </c:numRef>
          </c:val>
        </c:ser>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7B6C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3A5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A7B6CC"/>
                </a:solidFill>
                <a:latin typeface="+mn-lt"/>
              </a:defRPr>
            </a:pPr>
            <a:endParaRPr lang="en-US"/>
          </a:p>
        </c:txPr>
        <c:crossAx val="2094734554"/>
        <c:crosses val="autoZero"/>
        <c:crossBetween val="between"/>
      </c:valAx>
      <c:spPr>
        <a:solidFill>
          <a:srgbClr val="16233A"/>
        </a:solidFill>
        <a:ln>
          <a:noFill/>
        </a:ln>
        <a:effectLst/>
      </c:spPr>
    </c:plotArea>
    <c:legend>
      <c:legendPos val="b"/>
      <c:overlay val="0"/>
      <c:txPr>
        <a:bodyPr/>
        <a:lstStyle/>
        <a:p>
          <a:pPr>
            <a:defRPr sz="1100">
              <a:solidFill>
                <a:srgbClr val="A7B6CC"/>
              </a:solidFill>
              <a:latin typeface="+mn-lt"/>
              <a:cs typeface="+mn-lt"/>
            </a:defRPr>
          </a:pPr>
          <a:endParaRPr lang="en-US"/>
        </a:p>
      </c:txPr>
    </c:legend>
    <c:plotVisOnly val="1"/>
    <c:dispBlanksAs val="span"/>
  </c:chart>
  <c:spPr>
    <a:solidFill>
      <a:srgbClr val="16233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8"/>
                </a:solidFill>
                <a:latin typeface="+mn-lt"/>
              </a:defRPr>
            </a:pPr>
            <a:r>
              <a:rPr sz="1300" b="0" i="0" u="none" strike="noStrike">
                <a:solidFill>
                  <a:srgbClr val="E8EEF8"/>
                </a:solidFill>
                <a:latin typeface="+mn-lt"/>
              </a:rPr>
              <a:t>Cumulative net cash position (AED M)</a:t>
            </a:r>
          </a:p>
        </c:rich>
      </c:tx>
      <c:layout/>
      <c:overlay val="0"/>
    </c:title>
    <c:autoTitleDeleted val="0"/>
    <c:plotArea>
      <c:layout/>
      <c:lineChart>
        <c:varyColors val="0"/>
        <c:ser>
          <c:idx val="0"/>
          <c:order val="0"/>
          <c:tx>
            <c:strRef>
              <c:f>Sheet1!$B$1</c:f>
              <c:strCache>
                <c:ptCount val="1"/>
                <c:pt idx="0">
                  <c:v>Phased rollout</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marker>
            <c:symbol val="none"/>
            <c:size val="6"/>
            <c:spPr>
              <a:solidFill>
                <a:srgbClr val="2DD4BF"/>
              </a:solidFill>
              <a:ln w="9525" cap="flat">
                <a:solidFill>
                  <a:srgbClr val="2DD4BF"/>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Sheet1!$B$2:$B$37</c:f>
              <c:numCache>
                <c:formatCode>General</c:formatCode>
                <c:ptCount val="36"/>
                <c:pt idx="0">
                  <c:v>-0.84</c:v>
                </c:pt>
                <c:pt idx="1">
                  <c:v>-0.79</c:v>
                </c:pt>
                <c:pt idx="2">
                  <c:v>-0.7</c:v>
                </c:pt>
                <c:pt idx="3">
                  <c:v>-0.57</c:v>
                </c:pt>
                <c:pt idx="4">
                  <c:v>-0.41</c:v>
                </c:pt>
                <c:pt idx="5">
                  <c:v>-0.21</c:v>
                </c:pt>
                <c:pt idx="6">
                  <c:v>-0.01</c:v>
                </c:pt>
                <c:pt idx="7">
                  <c:v>0.19</c:v>
                </c:pt>
                <c:pt idx="8">
                  <c:v>0.39</c:v>
                </c:pt>
                <c:pt idx="9">
                  <c:v>0.59</c:v>
                </c:pt>
                <c:pt idx="10">
                  <c:v>0.79</c:v>
                </c:pt>
                <c:pt idx="11">
                  <c:v>0.99</c:v>
                </c:pt>
                <c:pt idx="12">
                  <c:v>1.19</c:v>
                </c:pt>
                <c:pt idx="13">
                  <c:v>1.39</c:v>
                </c:pt>
                <c:pt idx="14">
                  <c:v>1.58</c:v>
                </c:pt>
                <c:pt idx="15">
                  <c:v>1.78</c:v>
                </c:pt>
                <c:pt idx="16">
                  <c:v>1.98</c:v>
                </c:pt>
                <c:pt idx="17">
                  <c:v>2.18</c:v>
                </c:pt>
                <c:pt idx="18">
                  <c:v>2.38</c:v>
                </c:pt>
                <c:pt idx="19">
                  <c:v>2.58</c:v>
                </c:pt>
                <c:pt idx="20">
                  <c:v>2.78</c:v>
                </c:pt>
                <c:pt idx="21">
                  <c:v>2.98</c:v>
                </c:pt>
                <c:pt idx="22">
                  <c:v>3.18</c:v>
                </c:pt>
                <c:pt idx="23">
                  <c:v>3.38</c:v>
                </c:pt>
                <c:pt idx="24">
                  <c:v>3.58</c:v>
                </c:pt>
                <c:pt idx="25">
                  <c:v>3.77</c:v>
                </c:pt>
                <c:pt idx="26">
                  <c:v>3.97</c:v>
                </c:pt>
                <c:pt idx="27">
                  <c:v>4.17</c:v>
                </c:pt>
                <c:pt idx="28">
                  <c:v>4.37</c:v>
                </c:pt>
                <c:pt idx="29">
                  <c:v>4.57</c:v>
                </c:pt>
                <c:pt idx="30">
                  <c:v>4.77</c:v>
                </c:pt>
                <c:pt idx="31">
                  <c:v>4.97</c:v>
                </c:pt>
                <c:pt idx="32">
                  <c:v>5.17</c:v>
                </c:pt>
                <c:pt idx="33">
                  <c:v>5.37</c:v>
                </c:pt>
                <c:pt idx="34">
                  <c:v>5.57</c:v>
                </c:pt>
                <c:pt idx="35">
                  <c:v>5.77</c:v>
                </c:pt>
              </c:numCache>
            </c:numRef>
          </c:val>
          <c:smooth val="0"/>
        </c:ser>
        <c:ser>
          <c:idx val="1"/>
          <c:order val="1"/>
          <c:tx>
            <c:strRef>
              <c:f>Sheet1!$C$1</c:f>
              <c:strCache>
                <c:ptCount val="1"/>
                <c:pt idx="0">
                  <c:v>Big bang</c:v>
                </c:pt>
              </c:strCache>
            </c:strRef>
          </c:tx>
          <c:spPr>
            <a:solidFill>
              <a:srgbClr val="8B7CFF"/>
            </a:solidFill>
            <a:ln w="31750" cap="flat">
              <a:solidFill>
                <a:srgbClr val="8B7CFF"/>
              </a:solidFill>
              <a:prstDash val="solid"/>
              <a:round/>
            </a:ln>
            <a:effectLst/>
          </c:spPr>
          <c:invertIfNegative val="0"/>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marker>
            <c:symbol val="none"/>
            <c:size val="6"/>
            <c:spPr>
              <a:solidFill>
                <a:srgbClr val="8B7CFF"/>
              </a:solidFill>
              <a:ln w="9525" cap="flat">
                <a:solidFill>
                  <a:srgbClr val="8B7CFF"/>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Sheet1!$C$2:$C$37</c:f>
              <c:numCache>
                <c:formatCode>General</c:formatCode>
                <c:ptCount val="36"/>
                <c:pt idx="0">
                  <c:v>-0.94</c:v>
                </c:pt>
                <c:pt idx="1">
                  <c:v>-0.76</c:v>
                </c:pt>
                <c:pt idx="2">
                  <c:v>-0.59</c:v>
                </c:pt>
                <c:pt idx="3">
                  <c:v>-0.42</c:v>
                </c:pt>
                <c:pt idx="4">
                  <c:v>-0.24</c:v>
                </c:pt>
                <c:pt idx="5">
                  <c:v>-0.07</c:v>
                </c:pt>
                <c:pt idx="6">
                  <c:v>0.1</c:v>
                </c:pt>
                <c:pt idx="7">
                  <c:v>0.27</c:v>
                </c:pt>
                <c:pt idx="8">
                  <c:v>0.45</c:v>
                </c:pt>
                <c:pt idx="9">
                  <c:v>0.62</c:v>
                </c:pt>
                <c:pt idx="10">
                  <c:v>0.79</c:v>
                </c:pt>
                <c:pt idx="11">
                  <c:v>0.97</c:v>
                </c:pt>
                <c:pt idx="12">
                  <c:v>1.17</c:v>
                </c:pt>
                <c:pt idx="13">
                  <c:v>1.37</c:v>
                </c:pt>
                <c:pt idx="14">
                  <c:v>1.56</c:v>
                </c:pt>
                <c:pt idx="15">
                  <c:v>1.76</c:v>
                </c:pt>
                <c:pt idx="16">
                  <c:v>1.96</c:v>
                </c:pt>
                <c:pt idx="17">
                  <c:v>2.16</c:v>
                </c:pt>
                <c:pt idx="18">
                  <c:v>2.36</c:v>
                </c:pt>
                <c:pt idx="19">
                  <c:v>2.56</c:v>
                </c:pt>
                <c:pt idx="20">
                  <c:v>2.76</c:v>
                </c:pt>
                <c:pt idx="21">
                  <c:v>2.96</c:v>
                </c:pt>
                <c:pt idx="22">
                  <c:v>3.16</c:v>
                </c:pt>
                <c:pt idx="23">
                  <c:v>3.36</c:v>
                </c:pt>
                <c:pt idx="24">
                  <c:v>3.55</c:v>
                </c:pt>
                <c:pt idx="25">
                  <c:v>3.75</c:v>
                </c:pt>
                <c:pt idx="26">
                  <c:v>3.95</c:v>
                </c:pt>
                <c:pt idx="27">
                  <c:v>4.15</c:v>
                </c:pt>
                <c:pt idx="28">
                  <c:v>4.35</c:v>
                </c:pt>
                <c:pt idx="29">
                  <c:v>4.55</c:v>
                </c:pt>
                <c:pt idx="30">
                  <c:v>4.75</c:v>
                </c:pt>
                <c:pt idx="31">
                  <c:v>4.95</c:v>
                </c:pt>
                <c:pt idx="32">
                  <c:v>5.15</c:v>
                </c:pt>
                <c:pt idx="33">
                  <c:v>5.35</c:v>
                </c:pt>
                <c:pt idx="34">
                  <c:v>5.55</c:v>
                </c:pt>
                <c:pt idx="35">
                  <c:v>5.74</c:v>
                </c:pt>
              </c:numCache>
            </c:numRef>
          </c:val>
          <c:smooth val="0"/>
        </c:ser>
        <c:dLbls>
          <c:numFmt formatCode="#,##0" sourceLinked="0"/>
          <c:txPr>
            <a:bodyPr/>
            <a:lstStyle/>
            <a:p>
              <a:pPr>
                <a:defRPr b="0" i="0" strike="noStrike" sz="1000" u="none">
                  <a:solidFill>
                    <a:srgbClr val="E8EEF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7B6CC"/>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2A3A55"/>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A7B6CC"/>
                </a:solidFill>
                <a:latin typeface="+mn-lt"/>
              </a:defRPr>
            </a:pPr>
            <a:endParaRPr lang="en-US"/>
          </a:p>
        </c:txPr>
        <c:crossAx val="2094734554"/>
        <c:crosses val="autoZero"/>
        <c:crossBetween val="between"/>
      </c:valAx>
      <c:spPr>
        <a:solidFill>
          <a:srgbClr val="16233A"/>
        </a:solidFill>
        <a:ln>
          <a:noFill/>
        </a:ln>
        <a:effectLst/>
      </c:spPr>
    </c:plotArea>
    <c:legend>
      <c:legendPos val="b"/>
      <c:overlay val="0"/>
      <c:txPr>
        <a:bodyPr/>
        <a:lstStyle/>
        <a:p>
          <a:pPr>
            <a:defRPr sz="1100">
              <a:solidFill>
                <a:srgbClr val="A7B6CC"/>
              </a:solidFill>
              <a:latin typeface="+mn-lt"/>
              <a:cs typeface="+mn-lt"/>
            </a:defRPr>
          </a:pPr>
          <a:endParaRPr lang="en-US"/>
        </a:p>
      </c:txPr>
    </c:legend>
    <c:plotVisOnly val="1"/>
    <c:dispBlanksAs val="span"/>
  </c:chart>
  <c:spPr>
    <a:solidFill>
      <a:srgbClr val="16233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8"/>
                </a:solidFill>
                <a:latin typeface="+mn-lt"/>
              </a:defRPr>
            </a:pPr>
            <a:r>
              <a:rPr sz="1300" b="0" i="0" u="none" strike="noStrike">
                <a:solidFill>
                  <a:srgbClr val="E8EEF8"/>
                </a:solidFill>
                <a:latin typeface="+mn-lt"/>
              </a:rPr>
              <a:t>Weekly PMO hours per analyst</a:t>
            </a:r>
          </a:p>
        </c:rich>
      </c:tx>
      <c:layout/>
      <c:overlay val="0"/>
    </c:title>
    <c:autoTitleDeleted val="0"/>
    <c:plotArea>
      <c:layout/>
      <c:barChart>
        <c:barDir val="bar"/>
        <c:grouping val="clustered"/>
        <c:varyColors val="0"/>
        <c:ser>
          <c:idx val="0"/>
          <c:order val="0"/>
          <c:tx>
            <c:strRef>
              <c:f>Sheet1!$B$1</c:f>
              <c:strCache>
                <c:ptCount val="1"/>
                <c:pt idx="0">
                  <c:v>Today (manual)</c:v>
                </c:pt>
              </c:strCache>
            </c:strRef>
          </c:tx>
          <c:spPr>
            <a:solidFill>
              <a:srgbClr val="FF6B5E"/>
            </a:solidFill>
            <a:effectLst/>
          </c:spPr>
          <c:invertIfNegative val="0"/>
          <c:dLbls>
            <c:numFmt formatCode="0.0" sourceLinked="0"/>
            <c:txPr>
              <a:bodyPr/>
              <a:lstStyle/>
              <a:p>
                <a:pPr>
                  <a:defRPr b="0" i="0" strike="noStrike" sz="1000" u="none">
                    <a:solidFill>
                      <a:srgbClr val="E8EEF8"/>
                    </a:solidFill>
                    <a:latin typeface="+mn-lt"/>
                  </a:defRPr>
                </a:pPr>
              </a:p>
            </c:txPr>
            <c:showLegendKey val="0"/>
            <c:showVal val="1"/>
            <c:showCatName val="0"/>
            <c:showSerName val="0"/>
            <c:showPercent val="0"/>
            <c:showBubbleSize val="0"/>
            <c:showLeaderLines val="0"/>
          </c:dLbls>
          <c:cat>
            <c:multiLvlStrRef>
              <c:f>Sheet1!$A$2:$A$6</c:f>
              <c:multiLvlStrCache>
                <c:ptCount val="5"/>
                <c:lvl>
                  <c:pt idx="0">
                    <c:v>Collect status from PMs</c:v>
                  </c:pt>
                  <c:pt idx="1">
                    <c:v>Reconcile cost sheets</c:v>
                  </c:pt>
                  <c:pt idx="2">
                    <c:v>Chase overdue &amp; blocked</c:v>
                  </c:pt>
                  <c:pt idx="3">
                    <c:v>Build executive pack</c:v>
                  </c:pt>
                  <c:pt idx="4">
                    <c:v>Track change decisions</c:v>
                  </c:pt>
                </c:lvl>
              </c:multiLvlStrCache>
            </c:multiLvlStrRef>
          </c:cat>
          <c:val>
            <c:numRef>
              <c:f>Sheet1!$B$2:$B$6</c:f>
              <c:numCache>
                <c:formatCode>General</c:formatCode>
                <c:ptCount val="5"/>
                <c:pt idx="0">
                  <c:v>9</c:v>
                </c:pt>
                <c:pt idx="1">
                  <c:v>7</c:v>
                </c:pt>
                <c:pt idx="2">
                  <c:v>5</c:v>
                </c:pt>
                <c:pt idx="3">
                  <c:v>8</c:v>
                </c:pt>
                <c:pt idx="4">
                  <c:v>4</c:v>
                </c:pt>
              </c:numCache>
            </c:numRef>
          </c:val>
        </c:ser>
        <c:ser>
          <c:idx val="1"/>
          <c:order val="1"/>
          <c:tx>
            <c:strRef>
              <c:f>Sheet1!$C$1</c:f>
              <c:strCache>
                <c:ptCount val="1"/>
                <c:pt idx="0">
                  <c:v>With PMO Portal</c:v>
                </c:pt>
              </c:strCache>
            </c:strRef>
          </c:tx>
          <c:spPr>
            <a:solidFill>
              <a:srgbClr val="2DD4BF"/>
            </a:solidFill>
            <a:effectLst/>
          </c:spPr>
          <c:invertIfNegative val="0"/>
          <c:dLbls>
            <c:numFmt formatCode="0.0" sourceLinked="0"/>
            <c:txPr>
              <a:bodyPr/>
              <a:lstStyle/>
              <a:p>
                <a:pPr>
                  <a:defRPr b="0" i="0" strike="noStrike" sz="1000" u="none">
                    <a:solidFill>
                      <a:srgbClr val="E8EEF8"/>
                    </a:solidFill>
                    <a:latin typeface="+mn-lt"/>
                  </a:defRPr>
                </a:pPr>
              </a:p>
            </c:txPr>
            <c:showLegendKey val="0"/>
            <c:showVal val="1"/>
            <c:showCatName val="0"/>
            <c:showSerName val="0"/>
            <c:showPercent val="0"/>
            <c:showBubbleSize val="0"/>
            <c:showLeaderLines val="0"/>
          </c:dLbls>
          <c:cat>
            <c:multiLvlStrRef>
              <c:f>Sheet1!$A$2:$A$6</c:f>
              <c:multiLvlStrCache>
                <c:ptCount val="5"/>
                <c:lvl>
                  <c:pt idx="0">
                    <c:v>Collect status from PMs</c:v>
                  </c:pt>
                  <c:pt idx="1">
                    <c:v>Reconcile cost sheets</c:v>
                  </c:pt>
                  <c:pt idx="2">
                    <c:v>Chase overdue &amp; blocked</c:v>
                  </c:pt>
                  <c:pt idx="3">
                    <c:v>Build executive pack</c:v>
                  </c:pt>
                  <c:pt idx="4">
                    <c:v>Track change decisions</c:v>
                  </c:pt>
                </c:lvl>
              </c:multiLvlStrCache>
            </c:multiLvlStrRef>
          </c:cat>
          <c:val>
            <c:numRef>
              <c:f>Sheet1!$C$2:$C$6</c:f>
              <c:numCache>
                <c:formatCode>General</c:formatCode>
                <c:ptCount val="5"/>
                <c:pt idx="0">
                  <c:v>1</c:v>
                </c:pt>
                <c:pt idx="1">
                  <c:v>1.5</c:v>
                </c:pt>
                <c:pt idx="2">
                  <c:v>0.5</c:v>
                </c:pt>
                <c:pt idx="3">
                  <c:v>0.5</c:v>
                </c:pt>
                <c:pt idx="4">
                  <c:v>0.5</c:v>
                </c:pt>
              </c:numCache>
            </c:numRef>
          </c:val>
        </c:ser>
        <c:dLbls>
          <c:numFmt formatCode="0.0" sourceLinked="0"/>
          <c:txPr>
            <a:bodyPr/>
            <a:lstStyle/>
            <a:p>
              <a:pPr>
                <a:defRPr b="0" i="0" strike="noStrike" sz="1000" u="none">
                  <a:solidFill>
                    <a:srgbClr val="E8EEF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7B6C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3A5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A7B6CC"/>
                </a:solidFill>
                <a:latin typeface="+mn-lt"/>
              </a:defRPr>
            </a:pPr>
            <a:endParaRPr lang="en-US"/>
          </a:p>
        </c:txPr>
        <c:crossAx val="2094734554"/>
        <c:crosses val="autoZero"/>
        <c:crossBetween val="between"/>
      </c:valAx>
      <c:spPr>
        <a:solidFill>
          <a:srgbClr val="16233A"/>
        </a:solidFill>
        <a:ln>
          <a:noFill/>
        </a:ln>
        <a:effectLst/>
      </c:spPr>
    </c:plotArea>
    <c:legend>
      <c:legendPos val="b"/>
      <c:overlay val="0"/>
      <c:txPr>
        <a:bodyPr/>
        <a:lstStyle/>
        <a:p>
          <a:pPr>
            <a:defRPr sz="1100">
              <a:solidFill>
                <a:srgbClr val="A7B6CC"/>
              </a:solidFill>
              <a:latin typeface="+mn-lt"/>
              <a:cs typeface="+mn-lt"/>
            </a:defRPr>
          </a:pPr>
          <a:endParaRPr lang="en-US"/>
        </a:p>
      </c:txPr>
    </c:legend>
    <c:plotVisOnly val="1"/>
    <c:dispBlanksAs val="span"/>
  </c:chart>
  <c:spPr>
    <a:solidFill>
      <a:srgbClr val="16233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the group runs eight transformation projects worth AED 15M on spreadsheets and email. This proposal asks for investment to make the PMO Portal the single source of truth. The portal already runs in pilot — this is a scale-up decision, not a bet on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numbers come from the PMO Portal pilot dataset: half of decided milestones were missed and 14 tasks are already overdue. Financial overruns and the 34-day visibility lag are illustrative. The point: nobody sees problems until they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audience gets a different benefit from the same data. In the live version, click a persona to see their outcomes. Emphasise that the numbers in this slide are targets, not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modules share one data model, so a change request, its cost and its risk are linked records — not three spreadsheets. In the live version each module is selectable with its live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request down and back up the stack. The live version animates three traces: opening the dashboard, approving a change request, and asking the AI assistant. Key point: permissions are enforced at the API with keys like pmo:finance:list, not just hidden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version the committee chooses the branch — approve, return or reject — and the project card, audit log and notifications change accordingly. Time-to-decision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HTML version: three tabs (Delivery, Risk &amp; governance, Financial), project slicers, click-to-filter bars, a 5×5 risk heatmap with drill-down, and an AI insight that rewrites itself for the selection. Core Banking Modernization drives the largest overrun (EAC AED 5.46M vs AED 5.00M). Financial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committee participates in the live version: sliders for portfolio size, projects onboarded and overrun avoided, plus a phased vs big-bang toggle. Big bang reaches payback in month 7 but costs 18% more and carries first-year friction. Everything is computed in models.js — no pre-recorded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toggle "With PMO Portal" to collapse the weekly cycle, and switch on "Simulate provider outage" — Groq and OpenRouter fail and Cerebras answers, with no impact on the user. The AI never acts on its own: it drafts, summarises and recommends; people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The amount on this slide is the base case; in the live version it updates from whatever inputs the committee chose in the simulator. End on: "Decide once. See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A11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7315200"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737360"/>
            <a:ext cx="6766560" cy="23774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
        <p:nvSpPr>
          <p:cNvPr id="4" name="Text 0"/>
          <p:cNvSpPr/>
          <p:nvPr>
            <p:ph idx="102" type="body" hasCustomPrompt="1"/>
          </p:nvPr>
        </p:nvSpPr>
        <p:spPr>
          <a:xfrm>
            <a:off x="548640" y="4297680"/>
            <a:ext cx="6035040" cy="10972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5" name="Text 0"/>
          <p:cNvSpPr/>
          <p:nvPr/>
        </p:nvSpPr>
        <p:spPr>
          <a:xfrm>
            <a:off x="548640" y="6263640"/>
            <a:ext cx="7315200" cy="274320"/>
          </a:xfrm>
          <a:prstGeom prst="rect">
            <a:avLst/>
          </a:prstGeom>
          <a:noFill/>
          <a:ln/>
        </p:spPr>
        <p:txBody>
          <a:bodyPr wrap="square" lIns="0" tIns="0" rIns="0" bIns="0" rtlCol="0" anchor="ctr"/>
          <a:lstStyle/>
          <a:p>
            <a:pPr indent="0" marL="0">
              <a:buNone/>
            </a:pPr>
            <a:r>
              <a:rPr lang="en-US" sz="1000" dirty="0">
                <a:solidFill>
                  <a:srgbClr val="70819B"/>
                </a:solidFill>
              </a:rPr>
              <a:t>Fictional organisation. All financial figures are illustrative assumptions.</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1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chemeClr val="bg2"/>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0819B"/>
                </a:solidFill>
              </a:rPr>
              <a:t>PMO Portal · Investment proposal · illustrative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7315200" cy="365760"/>
          </a:xfrm>
          <a:prstGeom prst="rect">
            <a:avLst/>
          </a:prstGeom>
          <a:noFill/>
          <a:ln/>
        </p:spPr>
        <p:txBody>
          <a:bodyPr wrap="square" lIns="0" tIns="0" rIns="0" bIns="0" rtlCol="0"/>
          <a:lstStyle/>
          <a:p>
            <a:pPr indent="0" marL="0">
              <a:buNone/>
            </a:pPr>
            <a:r>
              <a:rPr lang="en-US" sz="1200" b="1" spc="200" kern="0" dirty="0">
                <a:solidFill>
                  <a:schemeClr val="accent1"/>
                </a:solidFill>
              </a:rPr>
              <a:t>SAHEL HOLDING GROUP · INVESTMENT COMMITTEE · OCTOBER 2026</a:t>
            </a:r>
            <a:endParaRPr lang="en-US" sz="1200" dirty="0"/>
          </a:p>
        </p:txBody>
      </p:sp>
      <p:sp>
        <p:nvSpPr>
          <p:cNvPr id="3" name="Text 0"/>
          <p:cNvSpPr/>
          <p:nvPr>
            <p:ph idx="101" type="title" hasCustomPrompt="1"/>
          </p:nvPr>
        </p:nvSpPr>
        <p:spPr>
          <a:xfrm>
            <a:off x="548640" y="1737360"/>
            <a:ext cx="6766560" cy="2377440"/>
          </a:xfrm>
          <a:prstGeom prst="rect">
            <a:avLst/>
          </a:prstGeom>
          <a:noFill/>
          <a:ln/>
        </p:spPr>
        <p:txBody>
          <a:bodyPr wrap="square" lIns="0" tIns="0" rIns="0" bIns="0" rtlCol="0" anchor="t"/>
          <a:lstStyle/>
          <a:p>
            <a:pPr algn="l" indent="0" marL="0">
              <a:buNone/>
            </a:pPr>
            <a:r>
              <a:rPr lang="en-US" sz="4800" b="1" dirty="0">
                <a:solidFill>
                  <a:schemeClr val="bg2"/>
                </a:solidFill>
              </a:rPr>
              <a:t>Every dirham. Every milestone. </a:t>
            </a:r>
            <a:pPr algn="l" indent="0" marL="0">
              <a:buNone/>
            </a:pPr>
            <a:r>
              <a:rPr lang="en-US" sz="4800" b="1" dirty="0">
                <a:solidFill>
                  <a:schemeClr val="accent1"/>
                </a:solidFill>
              </a:rPr>
              <a:t>One source of truth</a:t>
            </a:r>
            <a:endParaRPr lang="en-US" sz="4800" dirty="0"/>
          </a:p>
        </p:txBody>
      </p:sp>
      <p:sp>
        <p:nvSpPr>
          <p:cNvPr id="4" name="Text 0"/>
          <p:cNvSpPr/>
          <p:nvPr>
            <p:ph idx="102" type="body" hasCustomPrompt="1"/>
          </p:nvPr>
        </p:nvSpPr>
        <p:spPr>
          <a:xfrm>
            <a:off x="548640" y="4297680"/>
            <a:ext cx="6035040" cy="1097280"/>
          </a:xfrm>
          <a:prstGeom prst="rect">
            <a:avLst/>
          </a:prstGeom>
          <a:noFill/>
          <a:ln/>
        </p:spPr>
        <p:txBody>
          <a:bodyPr wrap="square" lIns="0" tIns="0" rIns="0" bIns="0" rtlCol="0" anchor="t"/>
          <a:lstStyle/>
          <a:p>
            <a:pPr indent="0" marL="0">
              <a:buNone/>
            </a:pPr>
            <a:r>
              <a:rPr lang="en-US" sz="1600" dirty="0">
                <a:solidFill>
                  <a:schemeClr val="bg2"/>
                </a:solidFill>
              </a:rPr>
              <a:t>A proposal to run the group's transformation portfolio — delivery, risk, change and money — from one live platform with automation and AI built in.</a:t>
            </a:r>
            <a:endParaRPr lang="en-US" sz="1600" dirty="0"/>
          </a:p>
        </p:txBody>
      </p:sp>
      <p:sp>
        <p:nvSpPr>
          <p:cNvPr id="5" name="link-CBM"/>
          <p:cNvSpPr/>
          <p:nvPr/>
        </p:nvSpPr>
        <p:spPr>
          <a:xfrm flipH="1">
            <a:off x="9464040" y="1554480"/>
            <a:ext cx="0" cy="1828800"/>
          </a:xfrm>
          <a:prstGeom prst="line">
            <a:avLst/>
          </a:prstGeom>
          <a:noFill/>
          <a:ln w="12700">
            <a:solidFill>
              <a:srgbClr val="2A3A55"/>
            </a:solidFill>
            <a:prstDash val="solid"/>
          </a:ln>
        </p:spPr>
      </p:sp>
      <p:sp>
        <p:nvSpPr>
          <p:cNvPr id="6" name="node-CBM"/>
          <p:cNvSpPr/>
          <p:nvPr/>
        </p:nvSpPr>
        <p:spPr>
          <a:xfrm>
            <a:off x="9194292" y="1284732"/>
            <a:ext cx="539496" cy="539496"/>
          </a:xfrm>
          <a:prstGeom prst="ellipse">
            <a:avLst/>
          </a:prstGeom>
          <a:solidFill>
            <a:srgbClr val="FF6B5E"/>
          </a:solidFill>
          <a:ln w="12700">
            <a:solidFill>
              <a:srgbClr val="FF6B5E"/>
            </a:solidFill>
            <a:prstDash val="solid"/>
          </a:ln>
        </p:spPr>
      </p:sp>
      <p:sp>
        <p:nvSpPr>
          <p:cNvPr id="7" name="Text 5"/>
          <p:cNvSpPr txBox="1"/>
          <p:nvPr/>
        </p:nvSpPr>
        <p:spPr>
          <a:xfrm>
            <a:off x="9779508" y="1261872"/>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CBM</a:t>
            </a:r>
            <a:endParaRPr lang="en-US" sz="1100" dirty="0"/>
          </a:p>
        </p:txBody>
      </p:sp>
      <p:sp>
        <p:nvSpPr>
          <p:cNvPr id="8" name="link-NBU"/>
          <p:cNvSpPr/>
          <p:nvPr/>
        </p:nvSpPr>
        <p:spPr>
          <a:xfrm flipH="1">
            <a:off x="9464040" y="2090123"/>
            <a:ext cx="1293157" cy="1293157"/>
          </a:xfrm>
          <a:prstGeom prst="line">
            <a:avLst/>
          </a:prstGeom>
          <a:noFill/>
          <a:ln w="12700">
            <a:solidFill>
              <a:srgbClr val="2A3A55"/>
            </a:solidFill>
            <a:prstDash val="solid"/>
          </a:ln>
        </p:spPr>
      </p:sp>
      <p:sp>
        <p:nvSpPr>
          <p:cNvPr id="9" name="node-NBU"/>
          <p:cNvSpPr/>
          <p:nvPr/>
        </p:nvSpPr>
        <p:spPr>
          <a:xfrm>
            <a:off x="10577060" y="1909986"/>
            <a:ext cx="360274" cy="360274"/>
          </a:xfrm>
          <a:prstGeom prst="ellipse">
            <a:avLst/>
          </a:prstGeom>
          <a:solidFill>
            <a:srgbClr val="F5B342"/>
          </a:solidFill>
          <a:ln w="12700">
            <a:solidFill>
              <a:srgbClr val="F5B342"/>
            </a:solidFill>
            <a:prstDash val="solid"/>
          </a:ln>
        </p:spPr>
      </p:sp>
      <p:sp>
        <p:nvSpPr>
          <p:cNvPr id="10" name="Text 8"/>
          <p:cNvSpPr txBox="1"/>
          <p:nvPr/>
        </p:nvSpPr>
        <p:spPr>
          <a:xfrm>
            <a:off x="10983054" y="1797515"/>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NBU</a:t>
            </a:r>
            <a:endParaRPr lang="en-US" sz="1100" dirty="0"/>
          </a:p>
        </p:txBody>
      </p:sp>
      <p:sp>
        <p:nvSpPr>
          <p:cNvPr id="11" name="link-AIC"/>
          <p:cNvSpPr/>
          <p:nvPr/>
        </p:nvSpPr>
        <p:spPr>
          <a:xfrm>
            <a:off x="9464040" y="3383280"/>
            <a:ext cx="1828800" cy="0"/>
          </a:xfrm>
          <a:prstGeom prst="line">
            <a:avLst/>
          </a:prstGeom>
          <a:noFill/>
          <a:ln w="12700">
            <a:solidFill>
              <a:srgbClr val="2A3A55"/>
            </a:solidFill>
            <a:prstDash val="solid"/>
          </a:ln>
        </p:spPr>
      </p:sp>
      <p:sp>
        <p:nvSpPr>
          <p:cNvPr id="12" name="node-AIC"/>
          <p:cNvSpPr/>
          <p:nvPr/>
        </p:nvSpPr>
        <p:spPr>
          <a:xfrm>
            <a:off x="11131906" y="3222346"/>
            <a:ext cx="321869" cy="321869"/>
          </a:xfrm>
          <a:prstGeom prst="ellipse">
            <a:avLst/>
          </a:prstGeom>
          <a:solidFill>
            <a:srgbClr val="FF6B5E"/>
          </a:solidFill>
          <a:ln w="12700">
            <a:solidFill>
              <a:srgbClr val="FF6B5E"/>
            </a:solidFill>
            <a:prstDash val="solid"/>
          </a:ln>
        </p:spPr>
      </p:sp>
      <p:sp>
        <p:nvSpPr>
          <p:cNvPr id="13" name="Text 11"/>
          <p:cNvSpPr txBox="1"/>
          <p:nvPr/>
        </p:nvSpPr>
        <p:spPr>
          <a:xfrm>
            <a:off x="11499494" y="3090672"/>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AIC</a:t>
            </a:r>
            <a:endParaRPr lang="en-US" sz="1100" dirty="0"/>
          </a:p>
        </p:txBody>
      </p:sp>
      <p:sp>
        <p:nvSpPr>
          <p:cNvPr id="14" name="link-DLP"/>
          <p:cNvSpPr/>
          <p:nvPr/>
        </p:nvSpPr>
        <p:spPr>
          <a:xfrm>
            <a:off x="9464040" y="3383280"/>
            <a:ext cx="1293157" cy="1293157"/>
          </a:xfrm>
          <a:prstGeom prst="line">
            <a:avLst/>
          </a:prstGeom>
          <a:noFill/>
          <a:ln w="12700">
            <a:solidFill>
              <a:srgbClr val="2A3A55"/>
            </a:solidFill>
            <a:prstDash val="solid"/>
          </a:ln>
        </p:spPr>
      </p:sp>
      <p:sp>
        <p:nvSpPr>
          <p:cNvPr id="15" name="node-DLP"/>
          <p:cNvSpPr/>
          <p:nvPr/>
        </p:nvSpPr>
        <p:spPr>
          <a:xfrm>
            <a:off x="10557858" y="4477098"/>
            <a:ext cx="398678" cy="398678"/>
          </a:xfrm>
          <a:prstGeom prst="ellipse">
            <a:avLst/>
          </a:prstGeom>
          <a:solidFill>
            <a:srgbClr val="2DD4BF"/>
          </a:solidFill>
          <a:ln w="12700">
            <a:solidFill>
              <a:srgbClr val="2DD4BF"/>
            </a:solidFill>
            <a:prstDash val="solid"/>
          </a:ln>
        </p:spPr>
      </p:sp>
      <p:sp>
        <p:nvSpPr>
          <p:cNvPr id="16" name="Text 14"/>
          <p:cNvSpPr txBox="1"/>
          <p:nvPr/>
        </p:nvSpPr>
        <p:spPr>
          <a:xfrm>
            <a:off x="11002256" y="4383829"/>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DLP</a:t>
            </a:r>
            <a:endParaRPr lang="en-US" sz="1100" dirty="0"/>
          </a:p>
        </p:txBody>
      </p:sp>
      <p:sp>
        <p:nvSpPr>
          <p:cNvPr id="17" name="link-CYB"/>
          <p:cNvSpPr/>
          <p:nvPr/>
        </p:nvSpPr>
        <p:spPr>
          <a:xfrm>
            <a:off x="9464040" y="3383280"/>
            <a:ext cx="0" cy="1828800"/>
          </a:xfrm>
          <a:prstGeom prst="line">
            <a:avLst/>
          </a:prstGeom>
          <a:noFill/>
          <a:ln w="12700">
            <a:solidFill>
              <a:srgbClr val="2A3A55"/>
            </a:solidFill>
            <a:prstDash val="solid"/>
          </a:ln>
        </p:spPr>
      </p:sp>
      <p:sp>
        <p:nvSpPr>
          <p:cNvPr id="18" name="node-CYB"/>
          <p:cNvSpPr/>
          <p:nvPr/>
        </p:nvSpPr>
        <p:spPr>
          <a:xfrm>
            <a:off x="9309506" y="5057546"/>
            <a:ext cx="309067" cy="309067"/>
          </a:xfrm>
          <a:prstGeom prst="ellipse">
            <a:avLst/>
          </a:prstGeom>
          <a:solidFill>
            <a:srgbClr val="2DD4BF"/>
          </a:solidFill>
          <a:ln w="12700">
            <a:solidFill>
              <a:srgbClr val="2DD4BF"/>
            </a:solidFill>
            <a:prstDash val="solid"/>
          </a:ln>
        </p:spPr>
      </p:sp>
      <p:sp>
        <p:nvSpPr>
          <p:cNvPr id="19" name="Text 17"/>
          <p:cNvSpPr txBox="1"/>
          <p:nvPr/>
        </p:nvSpPr>
        <p:spPr>
          <a:xfrm>
            <a:off x="9664294" y="4919472"/>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CYB</a:t>
            </a:r>
            <a:endParaRPr lang="en-US" sz="1100" dirty="0"/>
          </a:p>
        </p:txBody>
      </p:sp>
      <p:sp>
        <p:nvSpPr>
          <p:cNvPr id="20" name="link-HRP"/>
          <p:cNvSpPr/>
          <p:nvPr/>
        </p:nvSpPr>
        <p:spPr>
          <a:xfrm flipH="1">
            <a:off x="8170883" y="3383280"/>
            <a:ext cx="1293157" cy="1293157"/>
          </a:xfrm>
          <a:prstGeom prst="line">
            <a:avLst/>
          </a:prstGeom>
          <a:noFill/>
          <a:ln w="12700">
            <a:solidFill>
              <a:srgbClr val="2A3A55"/>
            </a:solidFill>
            <a:prstDash val="solid"/>
          </a:ln>
        </p:spPr>
      </p:sp>
      <p:sp>
        <p:nvSpPr>
          <p:cNvPr id="21" name="node-HRP"/>
          <p:cNvSpPr/>
          <p:nvPr/>
        </p:nvSpPr>
        <p:spPr>
          <a:xfrm>
            <a:off x="8035552" y="4541106"/>
            <a:ext cx="270662" cy="270662"/>
          </a:xfrm>
          <a:prstGeom prst="ellipse">
            <a:avLst/>
          </a:prstGeom>
          <a:solidFill>
            <a:srgbClr val="FF6B5E"/>
          </a:solidFill>
          <a:ln w="12700">
            <a:solidFill>
              <a:srgbClr val="FF6B5E"/>
            </a:solidFill>
            <a:prstDash val="solid"/>
          </a:ln>
        </p:spPr>
      </p:sp>
      <p:sp>
        <p:nvSpPr>
          <p:cNvPr id="22" name="Text 20"/>
          <p:cNvSpPr txBox="1"/>
          <p:nvPr/>
        </p:nvSpPr>
        <p:spPr>
          <a:xfrm>
            <a:off x="8351934" y="4383829"/>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HRP</a:t>
            </a:r>
            <a:endParaRPr lang="en-US" sz="1100" dirty="0"/>
          </a:p>
        </p:txBody>
      </p:sp>
      <p:sp>
        <p:nvSpPr>
          <p:cNvPr id="23" name="link-MOB"/>
          <p:cNvSpPr/>
          <p:nvPr/>
        </p:nvSpPr>
        <p:spPr>
          <a:xfrm flipH="1">
            <a:off x="7635240" y="3383280"/>
            <a:ext cx="1828800" cy="0"/>
          </a:xfrm>
          <a:prstGeom prst="line">
            <a:avLst/>
          </a:prstGeom>
          <a:noFill/>
          <a:ln w="12700">
            <a:solidFill>
              <a:srgbClr val="2A3A55"/>
            </a:solidFill>
            <a:prstDash val="solid"/>
          </a:ln>
        </p:spPr>
      </p:sp>
      <p:sp>
        <p:nvSpPr>
          <p:cNvPr id="24" name="node-MOB"/>
          <p:cNvSpPr/>
          <p:nvPr/>
        </p:nvSpPr>
        <p:spPr>
          <a:xfrm>
            <a:off x="7506310" y="3254350"/>
            <a:ext cx="257861" cy="257861"/>
          </a:xfrm>
          <a:prstGeom prst="ellipse">
            <a:avLst/>
          </a:prstGeom>
          <a:solidFill>
            <a:srgbClr val="2DD4BF"/>
          </a:solidFill>
          <a:ln w="12700">
            <a:solidFill>
              <a:srgbClr val="2DD4BF"/>
            </a:solidFill>
            <a:prstDash val="solid"/>
          </a:ln>
        </p:spPr>
      </p:sp>
      <p:sp>
        <p:nvSpPr>
          <p:cNvPr id="25" name="Text 23"/>
          <p:cNvSpPr txBox="1"/>
          <p:nvPr/>
        </p:nvSpPr>
        <p:spPr>
          <a:xfrm>
            <a:off x="7809890" y="3090672"/>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MOB</a:t>
            </a:r>
            <a:endParaRPr lang="en-US" sz="1100" dirty="0"/>
          </a:p>
        </p:txBody>
      </p:sp>
      <p:sp>
        <p:nvSpPr>
          <p:cNvPr id="26" name="link-LEG"/>
          <p:cNvSpPr/>
          <p:nvPr/>
        </p:nvSpPr>
        <p:spPr>
          <a:xfrm>
            <a:off x="8170883" y="2090123"/>
            <a:ext cx="1293157" cy="1293157"/>
          </a:xfrm>
          <a:prstGeom prst="line">
            <a:avLst/>
          </a:prstGeom>
          <a:noFill/>
          <a:ln w="12700">
            <a:solidFill>
              <a:srgbClr val="2A3A55"/>
            </a:solidFill>
            <a:prstDash val="solid"/>
          </a:ln>
        </p:spPr>
      </p:sp>
      <p:sp>
        <p:nvSpPr>
          <p:cNvPr id="27" name="node-LEG"/>
          <p:cNvSpPr/>
          <p:nvPr/>
        </p:nvSpPr>
        <p:spPr>
          <a:xfrm>
            <a:off x="8032352" y="1951592"/>
            <a:ext cx="277063" cy="277063"/>
          </a:xfrm>
          <a:prstGeom prst="ellipse">
            <a:avLst/>
          </a:prstGeom>
          <a:solidFill>
            <a:srgbClr val="F5B342"/>
          </a:solidFill>
          <a:ln w="12700">
            <a:solidFill>
              <a:srgbClr val="F5B342"/>
            </a:solidFill>
            <a:prstDash val="solid"/>
          </a:ln>
        </p:spPr>
      </p:sp>
      <p:sp>
        <p:nvSpPr>
          <p:cNvPr id="28" name="Text 26"/>
          <p:cNvSpPr txBox="1"/>
          <p:nvPr/>
        </p:nvSpPr>
        <p:spPr>
          <a:xfrm>
            <a:off x="8355135" y="1797515"/>
            <a:ext cx="640080" cy="228600"/>
          </a:xfrm>
          <a:prstGeom prst="rect">
            <a:avLst/>
          </a:prstGeom>
          <a:noFill/>
          <a:ln/>
        </p:spPr>
        <p:txBody>
          <a:bodyPr wrap="square" lIns="0" tIns="0" rIns="0" bIns="0" rtlCol="0" anchor="t"/>
          <a:lstStyle/>
          <a:p>
            <a:pPr indent="0" marL="0">
              <a:buNone/>
            </a:pPr>
            <a:r>
              <a:rPr lang="en-US" sz="1100" dirty="0">
                <a:solidFill>
                  <a:srgbClr val="A7B6CC"/>
                </a:solidFill>
                <a:latin typeface="Courier New" pitchFamily="34" charset="0"/>
                <a:ea typeface="Courier New" pitchFamily="34" charset="-122"/>
                <a:cs typeface="Courier New" pitchFamily="34" charset="-120"/>
              </a:rPr>
              <a:t>LEG</a:t>
            </a:r>
            <a:endParaRPr lang="en-US" sz="1100" dirty="0"/>
          </a:p>
        </p:txBody>
      </p:sp>
      <p:sp>
        <p:nvSpPr>
          <p:cNvPr id="29" name="hub"/>
          <p:cNvSpPr/>
          <p:nvPr/>
        </p:nvSpPr>
        <p:spPr>
          <a:xfrm>
            <a:off x="8778240" y="2697480"/>
            <a:ext cx="1371600" cy="1371600"/>
          </a:xfrm>
          <a:prstGeom prst="ellipse">
            <a:avLst/>
          </a:prstGeom>
          <a:solidFill>
            <a:srgbClr val="16233A"/>
          </a:solidFill>
          <a:ln w="25400">
            <a:solidFill>
              <a:srgbClr val="2DD4BF"/>
            </a:solidFill>
            <a:prstDash val="solid"/>
          </a:ln>
        </p:spPr>
      </p:sp>
      <p:sp>
        <p:nvSpPr>
          <p:cNvPr id="30" name="Text 28"/>
          <p:cNvSpPr txBox="1"/>
          <p:nvPr/>
        </p:nvSpPr>
        <p:spPr>
          <a:xfrm>
            <a:off x="8778240" y="2999232"/>
            <a:ext cx="1371600" cy="768096"/>
          </a:xfrm>
          <a:prstGeom prst="rect">
            <a:avLst/>
          </a:prstGeom>
          <a:noFill/>
          <a:ln/>
        </p:spPr>
        <p:txBody>
          <a:bodyPr wrap="square" lIns="0" tIns="0" rIns="0" bIns="0" rtlCol="0" anchor="ctr"/>
          <a:lstStyle/>
          <a:p>
            <a:pPr algn="ctr" indent="0" marL="0">
              <a:buNone/>
            </a:pPr>
            <a:r>
              <a:rPr lang="en-US" sz="2000" b="1" dirty="0">
                <a:solidFill>
                  <a:srgbClr val="E8EEF8"/>
                </a:solidFill>
              </a:rPr>
              <a:t>PMO</a:t>
            </a:r>
            <a:endParaRPr lang="en-US" sz="1400" dirty="0"/>
          </a:p>
          <a:p>
            <a:pPr algn="ctr" indent="0" marL="0">
              <a:buNone/>
            </a:pPr>
            <a:r>
              <a:rPr lang="en-US" sz="1400" dirty="0">
                <a:solidFill>
                  <a:srgbClr val="2DD4BF"/>
                </a:solidFill>
              </a:rPr>
              <a:t>Portal</a:t>
            </a:r>
            <a:endParaRPr lang="en-US" sz="1400" dirty="0"/>
          </a:p>
        </p:txBody>
      </p:sp>
      <p:sp>
        <p:nvSpPr>
          <p:cNvPr id="31" name="Text 29"/>
          <p:cNvSpPr txBox="1"/>
          <p:nvPr/>
        </p:nvSpPr>
        <p:spPr>
          <a:xfrm>
            <a:off x="7863840" y="5669280"/>
            <a:ext cx="3291840" cy="274320"/>
          </a:xfrm>
          <a:prstGeom prst="rect">
            <a:avLst/>
          </a:prstGeom>
          <a:noFill/>
          <a:ln/>
        </p:spPr>
        <p:txBody>
          <a:bodyPr wrap="square" lIns="0" tIns="0" rIns="0" bIns="0" rtlCol="0" anchor="t"/>
          <a:lstStyle/>
          <a:p>
            <a:pPr algn="ctr" indent="0" marL="0">
              <a:buNone/>
            </a:pPr>
            <a:r>
              <a:rPr lang="en-US" sz="1000" dirty="0">
                <a:solidFill>
                  <a:srgbClr val="70819B"/>
                </a:solidFill>
              </a:rPr>
              <a:t>Node size = budget · colour = forecast vs budget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02 · THE PROBLEM</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The portfolio is run on spreadsheets, status emails and memory</a:t>
            </a:r>
            <a:endParaRPr lang="en-US" sz="3000" dirty="0"/>
          </a:p>
        </p:txBody>
      </p:sp>
      <p:sp>
        <p:nvSpPr>
          <p:cNvPr id="4" name="stat-0"/>
          <p:cNvSpPr/>
          <p:nvPr/>
        </p:nvSpPr>
        <p:spPr>
          <a:xfrm>
            <a:off x="548640" y="1691640"/>
            <a:ext cx="3063240" cy="2011680"/>
          </a:xfrm>
          <a:prstGeom prst="roundRect">
            <a:avLst>
              <a:gd name="adj" fmla="val 5455"/>
            </a:avLst>
          </a:prstGeom>
          <a:solidFill>
            <a:srgbClr val="16233A"/>
          </a:solidFill>
          <a:ln w="9525">
            <a:solidFill>
              <a:srgbClr val="2A3A55"/>
            </a:solidFill>
            <a:prstDash val="solid"/>
          </a:ln>
        </p:spPr>
      </p:sp>
      <p:sp>
        <p:nvSpPr>
          <p:cNvPr id="5" name="Text 3"/>
          <p:cNvSpPr txBox="1"/>
          <p:nvPr/>
        </p:nvSpPr>
        <p:spPr>
          <a:xfrm>
            <a:off x="822960" y="1920240"/>
            <a:ext cx="2651760" cy="868680"/>
          </a:xfrm>
          <a:prstGeom prst="rect">
            <a:avLst/>
          </a:prstGeom>
          <a:noFill/>
          <a:ln/>
        </p:spPr>
        <p:txBody>
          <a:bodyPr wrap="square" lIns="0" tIns="0" rIns="0" bIns="0" rtlCol="0" anchor="t"/>
          <a:lstStyle/>
          <a:p>
            <a:pPr indent="0" marL="0">
              <a:buNone/>
            </a:pPr>
            <a:r>
              <a:rPr lang="en-US" sz="4800" b="1" dirty="0">
                <a:solidFill>
                  <a:srgbClr val="FF6B5E"/>
                </a:solidFill>
              </a:rPr>
              <a:t>50%</a:t>
            </a:r>
            <a:endParaRPr lang="en-US" sz="4800" dirty="0"/>
          </a:p>
        </p:txBody>
      </p:sp>
      <p:sp>
        <p:nvSpPr>
          <p:cNvPr id="6" name="Text 4"/>
          <p:cNvSpPr txBox="1"/>
          <p:nvPr/>
        </p:nvSpPr>
        <p:spPr>
          <a:xfrm>
            <a:off x="822960" y="2788920"/>
            <a:ext cx="2651760" cy="457200"/>
          </a:xfrm>
          <a:prstGeom prst="rect">
            <a:avLst/>
          </a:prstGeom>
          <a:noFill/>
          <a:ln/>
        </p:spPr>
        <p:txBody>
          <a:bodyPr wrap="square" lIns="0" tIns="0" rIns="0" bIns="0" rtlCol="0" anchor="t"/>
          <a:lstStyle/>
          <a:p>
            <a:pPr indent="0" marL="0">
              <a:buNone/>
            </a:pPr>
            <a:r>
              <a:rPr lang="en-US" sz="1500" dirty="0">
                <a:solidFill>
                  <a:srgbClr val="E8EEF8"/>
                </a:solidFill>
              </a:rPr>
              <a:t>of decided milestones were missed</a:t>
            </a:r>
            <a:endParaRPr lang="en-US" sz="1500" dirty="0"/>
          </a:p>
        </p:txBody>
      </p:sp>
      <p:sp>
        <p:nvSpPr>
          <p:cNvPr id="7" name="Text 5"/>
          <p:cNvSpPr txBox="1"/>
          <p:nvPr/>
        </p:nvSpPr>
        <p:spPr>
          <a:xfrm>
            <a:off x="822960" y="3246120"/>
            <a:ext cx="2651760" cy="274320"/>
          </a:xfrm>
          <a:prstGeom prst="rect">
            <a:avLst/>
          </a:prstGeom>
          <a:noFill/>
          <a:ln/>
        </p:spPr>
        <p:txBody>
          <a:bodyPr wrap="square" lIns="0" tIns="0" rIns="0" bIns="0" rtlCol="0" anchor="t"/>
          <a:lstStyle/>
          <a:p>
            <a:pPr indent="0" marL="0">
              <a:buNone/>
            </a:pPr>
            <a:r>
              <a:rPr lang="en-US" sz="1100" dirty="0">
                <a:solidFill>
                  <a:srgbClr val="70819B"/>
                </a:solidFill>
              </a:rPr>
              <a:t>11 of 22 · pilot data</a:t>
            </a:r>
            <a:endParaRPr lang="en-US" sz="1100" dirty="0"/>
          </a:p>
        </p:txBody>
      </p:sp>
      <p:sp>
        <p:nvSpPr>
          <p:cNvPr id="8" name="stat-1"/>
          <p:cNvSpPr/>
          <p:nvPr/>
        </p:nvSpPr>
        <p:spPr>
          <a:xfrm>
            <a:off x="3794760" y="1691640"/>
            <a:ext cx="3063240" cy="2011680"/>
          </a:xfrm>
          <a:prstGeom prst="roundRect">
            <a:avLst>
              <a:gd name="adj" fmla="val 5455"/>
            </a:avLst>
          </a:prstGeom>
          <a:solidFill>
            <a:srgbClr val="16233A"/>
          </a:solidFill>
          <a:ln w="9525">
            <a:solidFill>
              <a:srgbClr val="2A3A55"/>
            </a:solidFill>
            <a:prstDash val="solid"/>
          </a:ln>
        </p:spPr>
      </p:sp>
      <p:sp>
        <p:nvSpPr>
          <p:cNvPr id="9" name="Text 7"/>
          <p:cNvSpPr txBox="1"/>
          <p:nvPr/>
        </p:nvSpPr>
        <p:spPr>
          <a:xfrm>
            <a:off x="4069080" y="1920240"/>
            <a:ext cx="2651760" cy="868680"/>
          </a:xfrm>
          <a:prstGeom prst="rect">
            <a:avLst/>
          </a:prstGeom>
          <a:noFill/>
          <a:ln/>
        </p:spPr>
        <p:txBody>
          <a:bodyPr wrap="square" lIns="0" tIns="0" rIns="0" bIns="0" rtlCol="0" anchor="t"/>
          <a:lstStyle/>
          <a:p>
            <a:pPr indent="0" marL="0">
              <a:buNone/>
            </a:pPr>
            <a:r>
              <a:rPr lang="en-US" sz="4800" b="1" dirty="0">
                <a:solidFill>
                  <a:srgbClr val="F5B342"/>
                </a:solidFill>
              </a:rPr>
              <a:t>14</a:t>
            </a:r>
            <a:endParaRPr lang="en-US" sz="4800" dirty="0"/>
          </a:p>
        </p:txBody>
      </p:sp>
      <p:sp>
        <p:nvSpPr>
          <p:cNvPr id="10" name="Text 8"/>
          <p:cNvSpPr txBox="1"/>
          <p:nvPr/>
        </p:nvSpPr>
        <p:spPr>
          <a:xfrm>
            <a:off x="4069080" y="2788920"/>
            <a:ext cx="2651760" cy="457200"/>
          </a:xfrm>
          <a:prstGeom prst="rect">
            <a:avLst/>
          </a:prstGeom>
          <a:noFill/>
          <a:ln/>
        </p:spPr>
        <p:txBody>
          <a:bodyPr wrap="square" lIns="0" tIns="0" rIns="0" bIns="0" rtlCol="0" anchor="t"/>
          <a:lstStyle/>
          <a:p>
            <a:pPr indent="0" marL="0">
              <a:buNone/>
            </a:pPr>
            <a:r>
              <a:rPr lang="en-US" sz="1500" dirty="0">
                <a:solidFill>
                  <a:srgbClr val="E8EEF8"/>
                </a:solidFill>
              </a:rPr>
              <a:t>open tasks already overdue</a:t>
            </a:r>
            <a:endParaRPr lang="en-US" sz="1500" dirty="0"/>
          </a:p>
        </p:txBody>
      </p:sp>
      <p:sp>
        <p:nvSpPr>
          <p:cNvPr id="11" name="Text 9"/>
          <p:cNvSpPr txBox="1"/>
          <p:nvPr/>
        </p:nvSpPr>
        <p:spPr>
          <a:xfrm>
            <a:off x="4069080" y="3246120"/>
            <a:ext cx="2651760" cy="274320"/>
          </a:xfrm>
          <a:prstGeom prst="rect">
            <a:avLst/>
          </a:prstGeom>
          <a:noFill/>
          <a:ln/>
        </p:spPr>
        <p:txBody>
          <a:bodyPr wrap="square" lIns="0" tIns="0" rIns="0" bIns="0" rtlCol="0" anchor="t"/>
          <a:lstStyle/>
          <a:p>
            <a:pPr indent="0" marL="0">
              <a:buNone/>
            </a:pPr>
            <a:r>
              <a:rPr lang="en-US" sz="1100" dirty="0">
                <a:solidFill>
                  <a:srgbClr val="70819B"/>
                </a:solidFill>
              </a:rPr>
              <a:t>9 more are blocked</a:t>
            </a:r>
            <a:endParaRPr lang="en-US" sz="1100" dirty="0"/>
          </a:p>
        </p:txBody>
      </p:sp>
      <p:sp>
        <p:nvSpPr>
          <p:cNvPr id="12" name="stat-2"/>
          <p:cNvSpPr/>
          <p:nvPr/>
        </p:nvSpPr>
        <p:spPr>
          <a:xfrm>
            <a:off x="548640" y="3931920"/>
            <a:ext cx="3063240" cy="2011680"/>
          </a:xfrm>
          <a:prstGeom prst="roundRect">
            <a:avLst>
              <a:gd name="adj" fmla="val 5455"/>
            </a:avLst>
          </a:prstGeom>
          <a:solidFill>
            <a:srgbClr val="16233A"/>
          </a:solidFill>
          <a:ln w="9525">
            <a:solidFill>
              <a:srgbClr val="2A3A55"/>
            </a:solidFill>
            <a:prstDash val="solid"/>
          </a:ln>
        </p:spPr>
      </p:sp>
      <p:sp>
        <p:nvSpPr>
          <p:cNvPr id="13" name="Text 11"/>
          <p:cNvSpPr txBox="1"/>
          <p:nvPr/>
        </p:nvSpPr>
        <p:spPr>
          <a:xfrm>
            <a:off x="822960" y="4160520"/>
            <a:ext cx="2651760" cy="868680"/>
          </a:xfrm>
          <a:prstGeom prst="rect">
            <a:avLst/>
          </a:prstGeom>
          <a:noFill/>
          <a:ln/>
        </p:spPr>
        <p:txBody>
          <a:bodyPr wrap="square" lIns="0" tIns="0" rIns="0" bIns="0" rtlCol="0" anchor="t"/>
          <a:lstStyle/>
          <a:p>
            <a:pPr indent="0" marL="0">
              <a:buNone/>
            </a:pPr>
            <a:r>
              <a:rPr lang="en-US" sz="4800" b="1" dirty="0">
                <a:solidFill>
                  <a:srgbClr val="FF6B5E"/>
                </a:solidFill>
              </a:rPr>
              <a:t>4</a:t>
            </a:r>
            <a:endParaRPr lang="en-US" sz="4800" dirty="0"/>
          </a:p>
        </p:txBody>
      </p:sp>
      <p:sp>
        <p:nvSpPr>
          <p:cNvPr id="14" name="Text 12"/>
          <p:cNvSpPr txBox="1"/>
          <p:nvPr/>
        </p:nvSpPr>
        <p:spPr>
          <a:xfrm>
            <a:off x="822960" y="5029200"/>
            <a:ext cx="2651760" cy="457200"/>
          </a:xfrm>
          <a:prstGeom prst="rect">
            <a:avLst/>
          </a:prstGeom>
          <a:noFill/>
          <a:ln/>
        </p:spPr>
        <p:txBody>
          <a:bodyPr wrap="square" lIns="0" tIns="0" rIns="0" bIns="0" rtlCol="0" anchor="t"/>
          <a:lstStyle/>
          <a:p>
            <a:pPr indent="0" marL="0">
              <a:buNone/>
            </a:pPr>
            <a:r>
              <a:rPr lang="en-US" sz="1500" dirty="0">
                <a:solidFill>
                  <a:srgbClr val="E8EEF8"/>
                </a:solidFill>
              </a:rPr>
              <a:t>of 8 projects heading over budget</a:t>
            </a:r>
            <a:endParaRPr lang="en-US" sz="1500" dirty="0"/>
          </a:p>
        </p:txBody>
      </p:sp>
      <p:sp>
        <p:nvSpPr>
          <p:cNvPr id="15" name="Text 13"/>
          <p:cNvSpPr txBox="1"/>
          <p:nvPr/>
        </p:nvSpPr>
        <p:spPr>
          <a:xfrm>
            <a:off x="822960" y="5486400"/>
            <a:ext cx="2651760" cy="274320"/>
          </a:xfrm>
          <a:prstGeom prst="rect">
            <a:avLst/>
          </a:prstGeom>
          <a:noFill/>
          <a:ln/>
        </p:spPr>
        <p:txBody>
          <a:bodyPr wrap="square" lIns="0" tIns="0" rIns="0" bIns="0" rtlCol="0" anchor="t"/>
          <a:lstStyle/>
          <a:p>
            <a:pPr indent="0" marL="0">
              <a:buNone/>
            </a:pPr>
            <a:r>
              <a:rPr lang="en-US" sz="1100" dirty="0">
                <a:solidFill>
                  <a:srgbClr val="70819B"/>
                </a:solidFill>
              </a:rPr>
              <a:t>seen only at quarter-end today</a:t>
            </a:r>
            <a:endParaRPr lang="en-US" sz="1100" dirty="0"/>
          </a:p>
        </p:txBody>
      </p:sp>
      <p:sp>
        <p:nvSpPr>
          <p:cNvPr id="16" name="stat-3"/>
          <p:cNvSpPr/>
          <p:nvPr/>
        </p:nvSpPr>
        <p:spPr>
          <a:xfrm>
            <a:off x="3794760" y="3931920"/>
            <a:ext cx="3063240" cy="2011680"/>
          </a:xfrm>
          <a:prstGeom prst="roundRect">
            <a:avLst>
              <a:gd name="adj" fmla="val 5455"/>
            </a:avLst>
          </a:prstGeom>
          <a:solidFill>
            <a:srgbClr val="16233A"/>
          </a:solidFill>
          <a:ln w="9525">
            <a:solidFill>
              <a:srgbClr val="2A3A55"/>
            </a:solidFill>
            <a:prstDash val="solid"/>
          </a:ln>
        </p:spPr>
      </p:sp>
      <p:sp>
        <p:nvSpPr>
          <p:cNvPr id="17" name="Text 15"/>
          <p:cNvSpPr txBox="1"/>
          <p:nvPr/>
        </p:nvSpPr>
        <p:spPr>
          <a:xfrm>
            <a:off x="4069080" y="4160520"/>
            <a:ext cx="2651760" cy="868680"/>
          </a:xfrm>
          <a:prstGeom prst="rect">
            <a:avLst/>
          </a:prstGeom>
          <a:noFill/>
          <a:ln/>
        </p:spPr>
        <p:txBody>
          <a:bodyPr wrap="square" lIns="0" tIns="0" rIns="0" bIns="0" rtlCol="0" anchor="t"/>
          <a:lstStyle/>
          <a:p>
            <a:pPr indent="0" marL="0">
              <a:buNone/>
            </a:pPr>
            <a:r>
              <a:rPr lang="en-US" sz="4800" b="1" dirty="0">
                <a:solidFill>
                  <a:srgbClr val="F5B342"/>
                </a:solidFill>
              </a:rPr>
              <a:t>34 days</a:t>
            </a:r>
            <a:endParaRPr lang="en-US" sz="4800" dirty="0"/>
          </a:p>
        </p:txBody>
      </p:sp>
      <p:sp>
        <p:nvSpPr>
          <p:cNvPr id="18" name="Text 16"/>
          <p:cNvSpPr txBox="1"/>
          <p:nvPr/>
        </p:nvSpPr>
        <p:spPr>
          <a:xfrm>
            <a:off x="4069080" y="5029200"/>
            <a:ext cx="2651760" cy="457200"/>
          </a:xfrm>
          <a:prstGeom prst="rect">
            <a:avLst/>
          </a:prstGeom>
          <a:noFill/>
          <a:ln/>
        </p:spPr>
        <p:txBody>
          <a:bodyPr wrap="square" lIns="0" tIns="0" rIns="0" bIns="0" rtlCol="0" anchor="t"/>
          <a:lstStyle/>
          <a:p>
            <a:pPr indent="0" marL="0">
              <a:buNone/>
            </a:pPr>
            <a:r>
              <a:rPr lang="en-US" sz="1500" dirty="0">
                <a:solidFill>
                  <a:srgbClr val="E8EEF8"/>
                </a:solidFill>
              </a:rPr>
              <a:t>from overrun to executive visibility</a:t>
            </a:r>
            <a:endParaRPr lang="en-US" sz="1500" dirty="0"/>
          </a:p>
        </p:txBody>
      </p:sp>
      <p:sp>
        <p:nvSpPr>
          <p:cNvPr id="19" name="Text 17"/>
          <p:cNvSpPr txBox="1"/>
          <p:nvPr/>
        </p:nvSpPr>
        <p:spPr>
          <a:xfrm>
            <a:off x="4069080" y="5486400"/>
            <a:ext cx="2651760" cy="274320"/>
          </a:xfrm>
          <a:prstGeom prst="rect">
            <a:avLst/>
          </a:prstGeom>
          <a:noFill/>
          <a:ln/>
        </p:spPr>
        <p:txBody>
          <a:bodyPr wrap="square" lIns="0" tIns="0" rIns="0" bIns="0" rtlCol="0" anchor="t"/>
          <a:lstStyle/>
          <a:p>
            <a:pPr indent="0" marL="0">
              <a:buNone/>
            </a:pPr>
            <a:r>
              <a:rPr lang="en-US" sz="1100" dirty="0">
                <a:solidFill>
                  <a:srgbClr val="70819B"/>
                </a:solidFill>
              </a:rPr>
              <a:t>illustrative · manual monthly cycle</a:t>
            </a:r>
            <a:endParaRPr lang="en-US" sz="1100" dirty="0"/>
          </a:p>
        </p:txBody>
      </p:sp>
      <p:sp>
        <p:nvSpPr>
          <p:cNvPr id="20" name="artefact-0"/>
          <p:cNvSpPr/>
          <p:nvPr/>
        </p:nvSpPr>
        <p:spPr>
          <a:xfrm rot="-240000">
            <a:off x="7589520" y="1783080"/>
            <a:ext cx="3657600" cy="566928"/>
          </a:xfrm>
          <a:prstGeom prst="roundRect">
            <a:avLst>
              <a:gd name="adj" fmla="val 12903"/>
            </a:avLst>
          </a:prstGeom>
          <a:solidFill>
            <a:srgbClr val="2A1A22"/>
          </a:solidFill>
          <a:ln w="9525">
            <a:solidFill>
              <a:srgbClr val="FF6B5E">
                <a:alpha val="60000"/>
              </a:srgbClr>
            </a:solidFill>
            <a:prstDash val="solid"/>
          </a:ln>
        </p:spPr>
      </p:sp>
      <p:sp>
        <p:nvSpPr>
          <p:cNvPr id="21" name="Text 19"/>
          <p:cNvSpPr txBox="1"/>
          <p:nvPr/>
        </p:nvSpPr>
        <p:spPr>
          <a:xfrm rot="-240000">
            <a:off x="7772400" y="1929384"/>
            <a:ext cx="3291840" cy="292608"/>
          </a:xfrm>
          <a:prstGeom prst="rect">
            <a:avLst/>
          </a:prstGeom>
          <a:noFill/>
          <a:ln/>
        </p:spPr>
        <p:txBody>
          <a:bodyPr wrap="square" lIns="0" tIns="0" rIns="0" bIns="0" rtlCol="0" anchor="t"/>
          <a:lstStyle/>
          <a:p>
            <a:pPr indent="0" marL="0">
              <a:buNone/>
            </a:pPr>
            <a:r>
              <a:rPr lang="en-US" sz="1300" dirty="0">
                <a:solidFill>
                  <a:srgbClr val="F3C9C4"/>
                </a:solidFill>
                <a:latin typeface="Courier New" pitchFamily="34" charset="0"/>
                <a:ea typeface="Courier New" pitchFamily="34" charset="-122"/>
                <a:cs typeface="Courier New" pitchFamily="34" charset="-120"/>
              </a:rPr>
              <a:t>Status_Report_v7_FINAL(2).xlsx</a:t>
            </a:r>
            <a:endParaRPr lang="en-US" sz="1300" dirty="0"/>
          </a:p>
        </p:txBody>
      </p:sp>
      <p:sp>
        <p:nvSpPr>
          <p:cNvPr id="22" name="artefact-1"/>
          <p:cNvSpPr/>
          <p:nvPr/>
        </p:nvSpPr>
        <p:spPr>
          <a:xfrm rot="180000">
            <a:off x="8092440" y="2624328"/>
            <a:ext cx="3657600" cy="566928"/>
          </a:xfrm>
          <a:prstGeom prst="roundRect">
            <a:avLst>
              <a:gd name="adj" fmla="val 12903"/>
            </a:avLst>
          </a:prstGeom>
          <a:solidFill>
            <a:srgbClr val="2A1A22"/>
          </a:solidFill>
          <a:ln w="9525">
            <a:solidFill>
              <a:srgbClr val="FF6B5E">
                <a:alpha val="60000"/>
              </a:srgbClr>
            </a:solidFill>
            <a:prstDash val="solid"/>
          </a:ln>
        </p:spPr>
      </p:sp>
      <p:sp>
        <p:nvSpPr>
          <p:cNvPr id="23" name="Text 21"/>
          <p:cNvSpPr txBox="1"/>
          <p:nvPr/>
        </p:nvSpPr>
        <p:spPr>
          <a:xfrm rot="180000">
            <a:off x="8275320" y="2770632"/>
            <a:ext cx="3291840" cy="292608"/>
          </a:xfrm>
          <a:prstGeom prst="rect">
            <a:avLst/>
          </a:prstGeom>
          <a:noFill/>
          <a:ln/>
        </p:spPr>
        <p:txBody>
          <a:bodyPr wrap="square" lIns="0" tIns="0" rIns="0" bIns="0" rtlCol="0" anchor="t"/>
          <a:lstStyle/>
          <a:p>
            <a:pPr indent="0" marL="0">
              <a:buNone/>
            </a:pPr>
            <a:r>
              <a:rPr lang="en-US" sz="1300" dirty="0">
                <a:solidFill>
                  <a:srgbClr val="F3C9C4"/>
                </a:solidFill>
                <a:latin typeface="Courier New" pitchFamily="34" charset="0"/>
                <a:ea typeface="Courier New" pitchFamily="34" charset="-122"/>
                <a:cs typeface="Courier New" pitchFamily="34" charset="-120"/>
              </a:rPr>
              <a:t>RE: RE: FW: budget for Q3??</a:t>
            </a:r>
            <a:endParaRPr lang="en-US" sz="1300" dirty="0"/>
          </a:p>
        </p:txBody>
      </p:sp>
      <p:sp>
        <p:nvSpPr>
          <p:cNvPr id="24" name="artefact-2"/>
          <p:cNvSpPr/>
          <p:nvPr/>
        </p:nvSpPr>
        <p:spPr>
          <a:xfrm rot="-120000">
            <a:off x="7589520" y="3465576"/>
            <a:ext cx="3657600" cy="566928"/>
          </a:xfrm>
          <a:prstGeom prst="roundRect">
            <a:avLst>
              <a:gd name="adj" fmla="val 12903"/>
            </a:avLst>
          </a:prstGeom>
          <a:solidFill>
            <a:srgbClr val="2A1A22"/>
          </a:solidFill>
          <a:ln w="9525">
            <a:solidFill>
              <a:srgbClr val="FF6B5E">
                <a:alpha val="60000"/>
              </a:srgbClr>
            </a:solidFill>
            <a:prstDash val="solid"/>
          </a:ln>
        </p:spPr>
      </p:sp>
      <p:sp>
        <p:nvSpPr>
          <p:cNvPr id="25" name="Text 23"/>
          <p:cNvSpPr txBox="1"/>
          <p:nvPr/>
        </p:nvSpPr>
        <p:spPr>
          <a:xfrm rot="-120000">
            <a:off x="7772400" y="3611880"/>
            <a:ext cx="3291840" cy="292608"/>
          </a:xfrm>
          <a:prstGeom prst="rect">
            <a:avLst/>
          </a:prstGeom>
          <a:noFill/>
          <a:ln/>
        </p:spPr>
        <p:txBody>
          <a:bodyPr wrap="square" lIns="0" tIns="0" rIns="0" bIns="0" rtlCol="0" anchor="t"/>
          <a:lstStyle/>
          <a:p>
            <a:pPr indent="0" marL="0">
              <a:buNone/>
            </a:pPr>
            <a:r>
              <a:rPr lang="en-US" sz="1300" dirty="0">
                <a:solidFill>
                  <a:srgbClr val="F3C9C4"/>
                </a:solidFill>
                <a:latin typeface="Courier New" pitchFamily="34" charset="0"/>
                <a:ea typeface="Courier New" pitchFamily="34" charset="-122"/>
                <a:cs typeface="Courier New" pitchFamily="34" charset="-120"/>
              </a:rPr>
              <a:t>"Was the vendor switch approved?"</a:t>
            </a:r>
            <a:endParaRPr lang="en-US" sz="1300" dirty="0"/>
          </a:p>
        </p:txBody>
      </p:sp>
      <p:sp>
        <p:nvSpPr>
          <p:cNvPr id="26" name="artefact-3"/>
          <p:cNvSpPr/>
          <p:nvPr/>
        </p:nvSpPr>
        <p:spPr>
          <a:xfrm rot="300000">
            <a:off x="8092440" y="4306824"/>
            <a:ext cx="3657600" cy="566928"/>
          </a:xfrm>
          <a:prstGeom prst="roundRect">
            <a:avLst>
              <a:gd name="adj" fmla="val 12903"/>
            </a:avLst>
          </a:prstGeom>
          <a:solidFill>
            <a:srgbClr val="2A1A22"/>
          </a:solidFill>
          <a:ln w="9525">
            <a:solidFill>
              <a:srgbClr val="FF6B5E">
                <a:alpha val="60000"/>
              </a:srgbClr>
            </a:solidFill>
            <a:prstDash val="solid"/>
          </a:ln>
        </p:spPr>
      </p:sp>
      <p:sp>
        <p:nvSpPr>
          <p:cNvPr id="27" name="Text 25"/>
          <p:cNvSpPr txBox="1"/>
          <p:nvPr/>
        </p:nvSpPr>
        <p:spPr>
          <a:xfrm rot="300000">
            <a:off x="8275320" y="4453128"/>
            <a:ext cx="3291840" cy="292608"/>
          </a:xfrm>
          <a:prstGeom prst="rect">
            <a:avLst/>
          </a:prstGeom>
          <a:noFill/>
          <a:ln/>
        </p:spPr>
        <p:txBody>
          <a:bodyPr wrap="square" lIns="0" tIns="0" rIns="0" bIns="0" rtlCol="0" anchor="t"/>
          <a:lstStyle/>
          <a:p>
            <a:pPr indent="0" marL="0">
              <a:buNone/>
            </a:pPr>
            <a:r>
              <a:rPr lang="en-US" sz="1300" dirty="0">
                <a:solidFill>
                  <a:srgbClr val="F3C9C4"/>
                </a:solidFill>
                <a:latin typeface="Courier New" pitchFamily="34" charset="0"/>
                <a:ea typeface="Courier New" pitchFamily="34" charset="-122"/>
                <a:cs typeface="Courier New" pitchFamily="34" charset="-120"/>
              </a:rPr>
              <a:t>Exec_pack_Oct — 3 days to build</a:t>
            </a:r>
            <a:endParaRPr lang="en-US" sz="1300" dirty="0"/>
          </a:p>
        </p:txBody>
      </p:sp>
      <p:sp>
        <p:nvSpPr>
          <p:cNvPr id="28" name="artefact-4"/>
          <p:cNvSpPr/>
          <p:nvPr/>
        </p:nvSpPr>
        <p:spPr>
          <a:xfrm rot="-180000">
            <a:off x="7589520" y="5148072"/>
            <a:ext cx="3657600" cy="566928"/>
          </a:xfrm>
          <a:prstGeom prst="roundRect">
            <a:avLst>
              <a:gd name="adj" fmla="val 12903"/>
            </a:avLst>
          </a:prstGeom>
          <a:solidFill>
            <a:srgbClr val="2A1A22"/>
          </a:solidFill>
          <a:ln w="9525">
            <a:solidFill>
              <a:srgbClr val="FF6B5E">
                <a:alpha val="60000"/>
              </a:srgbClr>
            </a:solidFill>
            <a:prstDash val="solid"/>
          </a:ln>
        </p:spPr>
      </p:sp>
      <p:sp>
        <p:nvSpPr>
          <p:cNvPr id="29" name="Text 27"/>
          <p:cNvSpPr txBox="1"/>
          <p:nvPr/>
        </p:nvSpPr>
        <p:spPr>
          <a:xfrm rot="-180000">
            <a:off x="7772400" y="5294376"/>
            <a:ext cx="3291840" cy="292608"/>
          </a:xfrm>
          <a:prstGeom prst="rect">
            <a:avLst/>
          </a:prstGeom>
          <a:noFill/>
          <a:ln/>
        </p:spPr>
        <p:txBody>
          <a:bodyPr wrap="square" lIns="0" tIns="0" rIns="0" bIns="0" rtlCol="0" anchor="t"/>
          <a:lstStyle/>
          <a:p>
            <a:pPr indent="0" marL="0">
              <a:buNone/>
            </a:pPr>
            <a:r>
              <a:rPr lang="en-US" sz="1300" dirty="0">
                <a:solidFill>
                  <a:srgbClr val="F3C9C4"/>
                </a:solidFill>
                <a:latin typeface="Courier New" pitchFamily="34" charset="0"/>
                <a:ea typeface="Courier New" pitchFamily="34" charset="-122"/>
                <a:cs typeface="Courier New" pitchFamily="34" charset="-120"/>
              </a:rPr>
              <a:t>Risk_log_old_DO_NOT_USE.xlsx</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03 · THE OPPORTUNITY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One live portfolio, five audiences, one version of the truth</a:t>
            </a:r>
            <a:endParaRPr lang="en-US" sz="3000" dirty="0"/>
          </a:p>
        </p:txBody>
      </p:sp>
      <p:sp>
        <p:nvSpPr>
          <p:cNvPr id="4" name="spoke-0"/>
          <p:cNvSpPr/>
          <p:nvPr/>
        </p:nvSpPr>
        <p:spPr>
          <a:xfrm flipH="1">
            <a:off x="3108960" y="2148840"/>
            <a:ext cx="0" cy="1783080"/>
          </a:xfrm>
          <a:prstGeom prst="line">
            <a:avLst/>
          </a:prstGeom>
          <a:noFill/>
          <a:ln w="15875">
            <a:solidFill>
              <a:srgbClr val="2DD4BF"/>
            </a:solidFill>
            <a:prstDash val="dash"/>
          </a:ln>
        </p:spPr>
      </p:sp>
      <p:sp>
        <p:nvSpPr>
          <p:cNvPr id="5" name="spoke-1"/>
          <p:cNvSpPr/>
          <p:nvPr/>
        </p:nvSpPr>
        <p:spPr>
          <a:xfrm flipH="1">
            <a:off x="3108960" y="3291840"/>
            <a:ext cx="1737360" cy="640080"/>
          </a:xfrm>
          <a:prstGeom prst="line">
            <a:avLst/>
          </a:prstGeom>
          <a:noFill/>
          <a:ln w="15875">
            <a:solidFill>
              <a:srgbClr val="2DD4BF"/>
            </a:solidFill>
            <a:prstDash val="dash"/>
          </a:ln>
        </p:spPr>
      </p:sp>
      <p:sp>
        <p:nvSpPr>
          <p:cNvPr id="6" name="spoke-2"/>
          <p:cNvSpPr/>
          <p:nvPr/>
        </p:nvSpPr>
        <p:spPr>
          <a:xfrm>
            <a:off x="3108960" y="3931920"/>
            <a:ext cx="1097280" cy="1463040"/>
          </a:xfrm>
          <a:prstGeom prst="line">
            <a:avLst/>
          </a:prstGeom>
          <a:noFill/>
          <a:ln w="15875">
            <a:solidFill>
              <a:srgbClr val="2DD4BF"/>
            </a:solidFill>
            <a:prstDash val="dash"/>
          </a:ln>
        </p:spPr>
      </p:sp>
      <p:sp>
        <p:nvSpPr>
          <p:cNvPr id="7" name="spoke-3"/>
          <p:cNvSpPr/>
          <p:nvPr/>
        </p:nvSpPr>
        <p:spPr>
          <a:xfrm flipH="1">
            <a:off x="2011680" y="3931920"/>
            <a:ext cx="1097280" cy="1463040"/>
          </a:xfrm>
          <a:prstGeom prst="line">
            <a:avLst/>
          </a:prstGeom>
          <a:noFill/>
          <a:ln w="15875">
            <a:solidFill>
              <a:srgbClr val="2DD4BF"/>
            </a:solidFill>
            <a:prstDash val="dash"/>
          </a:ln>
        </p:spPr>
      </p:sp>
      <p:sp>
        <p:nvSpPr>
          <p:cNvPr id="8" name="spoke-4"/>
          <p:cNvSpPr/>
          <p:nvPr/>
        </p:nvSpPr>
        <p:spPr>
          <a:xfrm>
            <a:off x="1371600" y="3291840"/>
            <a:ext cx="1737360" cy="640080"/>
          </a:xfrm>
          <a:prstGeom prst="line">
            <a:avLst/>
          </a:prstGeom>
          <a:noFill/>
          <a:ln w="15875">
            <a:solidFill>
              <a:srgbClr val="2DD4BF"/>
            </a:solidFill>
            <a:prstDash val="dash"/>
          </a:ln>
        </p:spPr>
      </p:sp>
      <p:sp>
        <p:nvSpPr>
          <p:cNvPr id="9" name="hub"/>
          <p:cNvSpPr/>
          <p:nvPr/>
        </p:nvSpPr>
        <p:spPr>
          <a:xfrm>
            <a:off x="2514600" y="3337560"/>
            <a:ext cx="1188720" cy="1188720"/>
          </a:xfrm>
          <a:prstGeom prst="ellipse">
            <a:avLst/>
          </a:prstGeom>
          <a:solidFill>
            <a:srgbClr val="16233A"/>
          </a:solidFill>
          <a:ln w="25400">
            <a:solidFill>
              <a:srgbClr val="2DD4BF"/>
            </a:solidFill>
            <a:prstDash val="solid"/>
          </a:ln>
        </p:spPr>
      </p:sp>
      <p:sp>
        <p:nvSpPr>
          <p:cNvPr id="10" name="Text 8"/>
          <p:cNvSpPr txBox="1"/>
          <p:nvPr/>
        </p:nvSpPr>
        <p:spPr>
          <a:xfrm>
            <a:off x="2514600" y="3584448"/>
            <a:ext cx="1188720" cy="694944"/>
          </a:xfrm>
          <a:prstGeom prst="rect">
            <a:avLst/>
          </a:prstGeom>
          <a:noFill/>
          <a:ln/>
        </p:spPr>
        <p:txBody>
          <a:bodyPr wrap="square" lIns="0" tIns="0" rIns="0" bIns="0" rtlCol="0" anchor="ctr"/>
          <a:lstStyle/>
          <a:p>
            <a:pPr algn="ctr" indent="0" marL="0">
              <a:buNone/>
            </a:pPr>
            <a:r>
              <a:rPr lang="en-US" sz="1800" b="1" dirty="0">
                <a:solidFill>
                  <a:srgbClr val="E8EEF8"/>
                </a:solidFill>
              </a:rPr>
              <a:t>PMO</a:t>
            </a:r>
            <a:endParaRPr lang="en-US" sz="1400" dirty="0"/>
          </a:p>
          <a:p>
            <a:pPr algn="ctr" indent="0" marL="0">
              <a:buNone/>
            </a:pPr>
            <a:r>
              <a:rPr lang="en-US" sz="1300" dirty="0">
                <a:solidFill>
                  <a:srgbClr val="2DD4BF"/>
                </a:solidFill>
              </a:rPr>
              <a:t>Portal</a:t>
            </a:r>
            <a:endParaRPr lang="en-US" sz="1400" dirty="0"/>
          </a:p>
        </p:txBody>
      </p:sp>
      <p:sp>
        <p:nvSpPr>
          <p:cNvPr id="11" name="persona-0"/>
          <p:cNvSpPr/>
          <p:nvPr/>
        </p:nvSpPr>
        <p:spPr>
          <a:xfrm>
            <a:off x="2816352" y="1856232"/>
            <a:ext cx="585216" cy="585216"/>
          </a:xfrm>
          <a:prstGeom prst="ellipse">
            <a:avLst/>
          </a:prstGeom>
          <a:solidFill>
            <a:srgbClr val="1D2D49"/>
          </a:solidFill>
          <a:ln w="12700">
            <a:solidFill>
              <a:srgbClr val="2A3A55"/>
            </a:solidFill>
            <a:prstDash val="solid"/>
          </a:ln>
        </p:spPr>
      </p:sp>
      <p:sp>
        <p:nvSpPr>
          <p:cNvPr id="12" name="Text 10"/>
          <p:cNvSpPr txBox="1"/>
          <p:nvPr/>
        </p:nvSpPr>
        <p:spPr>
          <a:xfrm>
            <a:off x="2816352" y="2002536"/>
            <a:ext cx="585216" cy="292608"/>
          </a:xfrm>
          <a:prstGeom prst="rect">
            <a:avLst/>
          </a:prstGeom>
          <a:noFill/>
          <a:ln/>
        </p:spPr>
        <p:txBody>
          <a:bodyPr wrap="square" lIns="0" tIns="0" rIns="0" bIns="0" rtlCol="0" anchor="t"/>
          <a:lstStyle/>
          <a:p>
            <a:pPr algn="ctr" indent="0" marL="0">
              <a:buNone/>
            </a:pPr>
            <a:r>
              <a:rPr lang="en-US" sz="1400" b="1" dirty="0">
                <a:solidFill>
                  <a:srgbClr val="2DD4BF"/>
                </a:solidFill>
              </a:rPr>
              <a:t>1</a:t>
            </a:r>
            <a:endParaRPr lang="en-US" sz="1400" dirty="0"/>
          </a:p>
        </p:txBody>
      </p:sp>
      <p:sp>
        <p:nvSpPr>
          <p:cNvPr id="13" name="Text 11"/>
          <p:cNvSpPr txBox="1"/>
          <p:nvPr/>
        </p:nvSpPr>
        <p:spPr>
          <a:xfrm>
            <a:off x="3474720" y="2020824"/>
            <a:ext cx="1828800" cy="256032"/>
          </a:xfrm>
          <a:prstGeom prst="rect">
            <a:avLst/>
          </a:prstGeom>
          <a:noFill/>
          <a:ln/>
        </p:spPr>
        <p:txBody>
          <a:bodyPr wrap="square" lIns="0" tIns="0" rIns="0" bIns="0" rtlCol="0" anchor="t"/>
          <a:lstStyle/>
          <a:p>
            <a:pPr algn="l" indent="0" marL="0">
              <a:buNone/>
            </a:pPr>
            <a:r>
              <a:rPr lang="en-US" sz="1200" b="1" dirty="0">
                <a:solidFill>
                  <a:srgbClr val="E8EEF8"/>
                </a:solidFill>
              </a:rPr>
              <a:t>Executive committee</a:t>
            </a:r>
            <a:endParaRPr lang="en-US" sz="1200" dirty="0"/>
          </a:p>
        </p:txBody>
      </p:sp>
      <p:sp>
        <p:nvSpPr>
          <p:cNvPr id="14" name="persona-1"/>
          <p:cNvSpPr/>
          <p:nvPr/>
        </p:nvSpPr>
        <p:spPr>
          <a:xfrm>
            <a:off x="4553712" y="2999232"/>
            <a:ext cx="585216" cy="585216"/>
          </a:xfrm>
          <a:prstGeom prst="ellipse">
            <a:avLst/>
          </a:prstGeom>
          <a:solidFill>
            <a:srgbClr val="1D2D49"/>
          </a:solidFill>
          <a:ln w="12700">
            <a:solidFill>
              <a:srgbClr val="2A3A55"/>
            </a:solidFill>
            <a:prstDash val="solid"/>
          </a:ln>
        </p:spPr>
      </p:sp>
      <p:sp>
        <p:nvSpPr>
          <p:cNvPr id="15" name="Text 13"/>
          <p:cNvSpPr txBox="1"/>
          <p:nvPr/>
        </p:nvSpPr>
        <p:spPr>
          <a:xfrm>
            <a:off x="4553712" y="3145536"/>
            <a:ext cx="585216" cy="292608"/>
          </a:xfrm>
          <a:prstGeom prst="rect">
            <a:avLst/>
          </a:prstGeom>
          <a:noFill/>
          <a:ln/>
        </p:spPr>
        <p:txBody>
          <a:bodyPr wrap="square" lIns="0" tIns="0" rIns="0" bIns="0" rtlCol="0" anchor="t"/>
          <a:lstStyle/>
          <a:p>
            <a:pPr algn="ctr" indent="0" marL="0">
              <a:buNone/>
            </a:pPr>
            <a:r>
              <a:rPr lang="en-US" sz="1400" b="1" dirty="0">
                <a:solidFill>
                  <a:srgbClr val="2DD4BF"/>
                </a:solidFill>
              </a:rPr>
              <a:t>2</a:t>
            </a:r>
            <a:endParaRPr lang="en-US" sz="1400" dirty="0"/>
          </a:p>
        </p:txBody>
      </p:sp>
      <p:sp>
        <p:nvSpPr>
          <p:cNvPr id="16" name="Text 14"/>
          <p:cNvSpPr txBox="1"/>
          <p:nvPr/>
        </p:nvSpPr>
        <p:spPr>
          <a:xfrm>
            <a:off x="3931920" y="3621024"/>
            <a:ext cx="1828800" cy="256032"/>
          </a:xfrm>
          <a:prstGeom prst="rect">
            <a:avLst/>
          </a:prstGeom>
          <a:noFill/>
          <a:ln/>
        </p:spPr>
        <p:txBody>
          <a:bodyPr wrap="square" lIns="0" tIns="0" rIns="0" bIns="0" rtlCol="0" anchor="t"/>
          <a:lstStyle/>
          <a:p>
            <a:pPr algn="ctr" indent="0" marL="0">
              <a:buNone/>
            </a:pPr>
            <a:r>
              <a:rPr lang="en-US" sz="1200" b="1" dirty="0">
                <a:solidFill>
                  <a:srgbClr val="E8EEF8"/>
                </a:solidFill>
              </a:rPr>
              <a:t>Finance</a:t>
            </a:r>
            <a:endParaRPr lang="en-US" sz="1200" dirty="0"/>
          </a:p>
        </p:txBody>
      </p:sp>
      <p:sp>
        <p:nvSpPr>
          <p:cNvPr id="17" name="persona-2"/>
          <p:cNvSpPr/>
          <p:nvPr/>
        </p:nvSpPr>
        <p:spPr>
          <a:xfrm>
            <a:off x="3913632" y="5102352"/>
            <a:ext cx="585216" cy="585216"/>
          </a:xfrm>
          <a:prstGeom prst="ellipse">
            <a:avLst/>
          </a:prstGeom>
          <a:solidFill>
            <a:srgbClr val="1D2D49"/>
          </a:solidFill>
          <a:ln w="12700">
            <a:solidFill>
              <a:srgbClr val="2A3A55"/>
            </a:solidFill>
            <a:prstDash val="solid"/>
          </a:ln>
        </p:spPr>
      </p:sp>
      <p:sp>
        <p:nvSpPr>
          <p:cNvPr id="18" name="Text 16"/>
          <p:cNvSpPr txBox="1"/>
          <p:nvPr/>
        </p:nvSpPr>
        <p:spPr>
          <a:xfrm>
            <a:off x="3913632" y="5248656"/>
            <a:ext cx="585216" cy="292608"/>
          </a:xfrm>
          <a:prstGeom prst="rect">
            <a:avLst/>
          </a:prstGeom>
          <a:noFill/>
          <a:ln/>
        </p:spPr>
        <p:txBody>
          <a:bodyPr wrap="square" lIns="0" tIns="0" rIns="0" bIns="0" rtlCol="0" anchor="t"/>
          <a:lstStyle/>
          <a:p>
            <a:pPr algn="ctr" indent="0" marL="0">
              <a:buNone/>
            </a:pPr>
            <a:r>
              <a:rPr lang="en-US" sz="1400" b="1" dirty="0">
                <a:solidFill>
                  <a:srgbClr val="2DD4BF"/>
                </a:solidFill>
              </a:rPr>
              <a:t>3</a:t>
            </a:r>
            <a:endParaRPr lang="en-US" sz="1400" dirty="0"/>
          </a:p>
        </p:txBody>
      </p:sp>
      <p:sp>
        <p:nvSpPr>
          <p:cNvPr id="19" name="Text 17"/>
          <p:cNvSpPr txBox="1"/>
          <p:nvPr/>
        </p:nvSpPr>
        <p:spPr>
          <a:xfrm>
            <a:off x="3291840" y="5724144"/>
            <a:ext cx="1828800" cy="256032"/>
          </a:xfrm>
          <a:prstGeom prst="rect">
            <a:avLst/>
          </a:prstGeom>
          <a:noFill/>
          <a:ln/>
        </p:spPr>
        <p:txBody>
          <a:bodyPr wrap="square" lIns="0" tIns="0" rIns="0" bIns="0" rtlCol="0" anchor="t"/>
          <a:lstStyle/>
          <a:p>
            <a:pPr algn="ctr" indent="0" marL="0">
              <a:buNone/>
            </a:pPr>
            <a:r>
              <a:rPr lang="en-US" sz="1200" b="1" dirty="0">
                <a:solidFill>
                  <a:srgbClr val="E8EEF8"/>
                </a:solidFill>
              </a:rPr>
              <a:t>PMO office</a:t>
            </a:r>
            <a:endParaRPr lang="en-US" sz="1200" dirty="0"/>
          </a:p>
        </p:txBody>
      </p:sp>
      <p:sp>
        <p:nvSpPr>
          <p:cNvPr id="20" name="persona-3"/>
          <p:cNvSpPr/>
          <p:nvPr/>
        </p:nvSpPr>
        <p:spPr>
          <a:xfrm>
            <a:off x="1719072" y="5102352"/>
            <a:ext cx="585216" cy="585216"/>
          </a:xfrm>
          <a:prstGeom prst="ellipse">
            <a:avLst/>
          </a:prstGeom>
          <a:solidFill>
            <a:srgbClr val="1D2D49"/>
          </a:solidFill>
          <a:ln w="12700">
            <a:solidFill>
              <a:srgbClr val="2A3A55"/>
            </a:solidFill>
            <a:prstDash val="solid"/>
          </a:ln>
        </p:spPr>
      </p:sp>
      <p:sp>
        <p:nvSpPr>
          <p:cNvPr id="21" name="Text 19"/>
          <p:cNvSpPr txBox="1"/>
          <p:nvPr/>
        </p:nvSpPr>
        <p:spPr>
          <a:xfrm>
            <a:off x="1719072" y="5248656"/>
            <a:ext cx="585216" cy="292608"/>
          </a:xfrm>
          <a:prstGeom prst="rect">
            <a:avLst/>
          </a:prstGeom>
          <a:noFill/>
          <a:ln/>
        </p:spPr>
        <p:txBody>
          <a:bodyPr wrap="square" lIns="0" tIns="0" rIns="0" bIns="0" rtlCol="0" anchor="t"/>
          <a:lstStyle/>
          <a:p>
            <a:pPr algn="ctr" indent="0" marL="0">
              <a:buNone/>
            </a:pPr>
            <a:r>
              <a:rPr lang="en-US" sz="1400" b="1" dirty="0">
                <a:solidFill>
                  <a:srgbClr val="2DD4BF"/>
                </a:solidFill>
              </a:rPr>
              <a:t>4</a:t>
            </a:r>
            <a:endParaRPr lang="en-US" sz="1400" dirty="0"/>
          </a:p>
        </p:txBody>
      </p:sp>
      <p:sp>
        <p:nvSpPr>
          <p:cNvPr id="22" name="Text 20"/>
          <p:cNvSpPr txBox="1"/>
          <p:nvPr/>
        </p:nvSpPr>
        <p:spPr>
          <a:xfrm>
            <a:off x="1097280" y="5724144"/>
            <a:ext cx="1828800" cy="256032"/>
          </a:xfrm>
          <a:prstGeom prst="rect">
            <a:avLst/>
          </a:prstGeom>
          <a:noFill/>
          <a:ln/>
        </p:spPr>
        <p:txBody>
          <a:bodyPr wrap="square" lIns="0" tIns="0" rIns="0" bIns="0" rtlCol="0" anchor="t"/>
          <a:lstStyle/>
          <a:p>
            <a:pPr algn="ctr" indent="0" marL="0">
              <a:buNone/>
            </a:pPr>
            <a:r>
              <a:rPr lang="en-US" sz="1200" b="1" dirty="0">
                <a:solidFill>
                  <a:srgbClr val="E8EEF8"/>
                </a:solidFill>
              </a:rPr>
              <a:t>Project managers</a:t>
            </a:r>
            <a:endParaRPr lang="en-US" sz="1200" dirty="0"/>
          </a:p>
        </p:txBody>
      </p:sp>
      <p:sp>
        <p:nvSpPr>
          <p:cNvPr id="23" name="persona-4"/>
          <p:cNvSpPr/>
          <p:nvPr/>
        </p:nvSpPr>
        <p:spPr>
          <a:xfrm>
            <a:off x="1078992" y="2999232"/>
            <a:ext cx="585216" cy="585216"/>
          </a:xfrm>
          <a:prstGeom prst="ellipse">
            <a:avLst/>
          </a:prstGeom>
          <a:solidFill>
            <a:srgbClr val="1D2D49"/>
          </a:solidFill>
          <a:ln w="12700">
            <a:solidFill>
              <a:srgbClr val="2A3A55"/>
            </a:solidFill>
            <a:prstDash val="solid"/>
          </a:ln>
        </p:spPr>
      </p:sp>
      <p:sp>
        <p:nvSpPr>
          <p:cNvPr id="24" name="Text 22"/>
          <p:cNvSpPr txBox="1"/>
          <p:nvPr/>
        </p:nvSpPr>
        <p:spPr>
          <a:xfrm>
            <a:off x="1078992" y="3145536"/>
            <a:ext cx="585216" cy="292608"/>
          </a:xfrm>
          <a:prstGeom prst="rect">
            <a:avLst/>
          </a:prstGeom>
          <a:noFill/>
          <a:ln/>
        </p:spPr>
        <p:txBody>
          <a:bodyPr wrap="square" lIns="0" tIns="0" rIns="0" bIns="0" rtlCol="0" anchor="t"/>
          <a:lstStyle/>
          <a:p>
            <a:pPr algn="ctr" indent="0" marL="0">
              <a:buNone/>
            </a:pPr>
            <a:r>
              <a:rPr lang="en-US" sz="1400" b="1" dirty="0">
                <a:solidFill>
                  <a:srgbClr val="2DD4BF"/>
                </a:solidFill>
              </a:rPr>
              <a:t>5</a:t>
            </a:r>
            <a:endParaRPr lang="en-US" sz="1400" dirty="0"/>
          </a:p>
        </p:txBody>
      </p:sp>
      <p:sp>
        <p:nvSpPr>
          <p:cNvPr id="25" name="Text 23"/>
          <p:cNvSpPr txBox="1"/>
          <p:nvPr/>
        </p:nvSpPr>
        <p:spPr>
          <a:xfrm>
            <a:off x="457200" y="3621024"/>
            <a:ext cx="1828800" cy="256032"/>
          </a:xfrm>
          <a:prstGeom prst="rect">
            <a:avLst/>
          </a:prstGeom>
          <a:noFill/>
          <a:ln/>
        </p:spPr>
        <p:txBody>
          <a:bodyPr wrap="square" lIns="0" tIns="0" rIns="0" bIns="0" rtlCol="0" anchor="t"/>
          <a:lstStyle/>
          <a:p>
            <a:pPr algn="ctr" indent="0" marL="0">
              <a:buNone/>
            </a:pPr>
            <a:r>
              <a:rPr lang="en-US" sz="1200" b="1" dirty="0">
                <a:solidFill>
                  <a:srgbClr val="E8EEF8"/>
                </a:solidFill>
              </a:rPr>
              <a:t>Delivery teams</a:t>
            </a:r>
            <a:endParaRPr lang="en-US" sz="1200" dirty="0"/>
          </a:p>
        </p:txBody>
      </p:sp>
      <p:sp>
        <p:nvSpPr>
          <p:cNvPr id="26" name="outcome-0"/>
          <p:cNvSpPr/>
          <p:nvPr/>
        </p:nvSpPr>
        <p:spPr>
          <a:xfrm>
            <a:off x="6035040" y="1645920"/>
            <a:ext cx="5577840" cy="777240"/>
          </a:xfrm>
          <a:prstGeom prst="roundRect">
            <a:avLst>
              <a:gd name="adj" fmla="val 14118"/>
            </a:avLst>
          </a:prstGeom>
          <a:solidFill>
            <a:srgbClr val="16233A"/>
          </a:solidFill>
          <a:ln w="9525">
            <a:solidFill>
              <a:srgbClr val="2A3A55"/>
            </a:solidFill>
            <a:prstDash val="solid"/>
          </a:ln>
        </p:spPr>
      </p:sp>
      <p:sp>
        <p:nvSpPr>
          <p:cNvPr id="27" name="Text 25"/>
          <p:cNvSpPr txBox="1"/>
          <p:nvPr/>
        </p:nvSpPr>
        <p:spPr>
          <a:xfrm>
            <a:off x="6263640" y="1810512"/>
            <a:ext cx="1280160" cy="457200"/>
          </a:xfrm>
          <a:prstGeom prst="rect">
            <a:avLst/>
          </a:prstGeom>
          <a:noFill/>
          <a:ln/>
        </p:spPr>
        <p:txBody>
          <a:bodyPr wrap="square" lIns="0" tIns="0" rIns="0" bIns="0" rtlCol="0" anchor="ctr"/>
          <a:lstStyle/>
          <a:p>
            <a:pPr indent="0" marL="0">
              <a:buNone/>
            </a:pPr>
            <a:r>
              <a:rPr lang="en-US" sz="2200" b="1" dirty="0">
                <a:solidFill>
                  <a:srgbClr val="2DD4BF"/>
                </a:solidFill>
              </a:rPr>
              <a:t>1 view</a:t>
            </a:r>
            <a:endParaRPr lang="en-US" sz="2200" dirty="0"/>
          </a:p>
        </p:txBody>
      </p:sp>
      <p:sp>
        <p:nvSpPr>
          <p:cNvPr id="28" name="Text 26"/>
          <p:cNvSpPr txBox="1"/>
          <p:nvPr/>
        </p:nvSpPr>
        <p:spPr>
          <a:xfrm>
            <a:off x="7635240" y="1737360"/>
            <a:ext cx="3840480" cy="621792"/>
          </a:xfrm>
          <a:prstGeom prst="rect">
            <a:avLst/>
          </a:prstGeom>
          <a:noFill/>
          <a:ln/>
        </p:spPr>
        <p:txBody>
          <a:bodyPr wrap="square" lIns="0" tIns="0" rIns="0" bIns="0" rtlCol="0" anchor="ctr"/>
          <a:lstStyle/>
          <a:p>
            <a:pPr indent="0" marL="0">
              <a:buNone/>
            </a:pPr>
            <a:r>
              <a:rPr lang="en-US" sz="1300" b="1" dirty="0">
                <a:solidFill>
                  <a:srgbClr val="E8EEF8"/>
                </a:solidFill>
              </a:rPr>
              <a:t>Executive committee</a:t>
            </a:r>
            <a:endParaRPr lang="en-US" sz="1300" dirty="0"/>
          </a:p>
          <a:p>
            <a:pPr indent="0" marL="0">
              <a:buNone/>
            </a:pPr>
            <a:r>
              <a:rPr lang="en-US" sz="1200" dirty="0">
                <a:solidFill>
                  <a:srgbClr val="A7B6CC"/>
                </a:solidFill>
              </a:rPr>
              <a:t>Portfolio health, money and risk on one screen — no pack to assemble</a:t>
            </a:r>
            <a:endParaRPr lang="en-US" sz="1300" dirty="0"/>
          </a:p>
        </p:txBody>
      </p:sp>
      <p:sp>
        <p:nvSpPr>
          <p:cNvPr id="29" name="outcome-1"/>
          <p:cNvSpPr/>
          <p:nvPr/>
        </p:nvSpPr>
        <p:spPr>
          <a:xfrm>
            <a:off x="6035040" y="2560320"/>
            <a:ext cx="5577840" cy="777240"/>
          </a:xfrm>
          <a:prstGeom prst="roundRect">
            <a:avLst>
              <a:gd name="adj" fmla="val 14118"/>
            </a:avLst>
          </a:prstGeom>
          <a:solidFill>
            <a:srgbClr val="16233A"/>
          </a:solidFill>
          <a:ln w="9525">
            <a:solidFill>
              <a:srgbClr val="2A3A55"/>
            </a:solidFill>
            <a:prstDash val="solid"/>
          </a:ln>
        </p:spPr>
      </p:sp>
      <p:sp>
        <p:nvSpPr>
          <p:cNvPr id="30" name="Text 28"/>
          <p:cNvSpPr txBox="1"/>
          <p:nvPr/>
        </p:nvSpPr>
        <p:spPr>
          <a:xfrm>
            <a:off x="6263640" y="2724912"/>
            <a:ext cx="1280160" cy="457200"/>
          </a:xfrm>
          <a:prstGeom prst="rect">
            <a:avLst/>
          </a:prstGeom>
          <a:noFill/>
          <a:ln/>
        </p:spPr>
        <p:txBody>
          <a:bodyPr wrap="square" lIns="0" tIns="0" rIns="0" bIns="0" rtlCol="0" anchor="ctr"/>
          <a:lstStyle/>
          <a:p>
            <a:pPr indent="0" marL="0">
              <a:buNone/>
            </a:pPr>
            <a:r>
              <a:rPr lang="en-US" sz="2200" b="1" dirty="0">
                <a:solidFill>
                  <a:srgbClr val="2DD4BF"/>
                </a:solidFill>
              </a:rPr>
              <a:t>−3 pts</a:t>
            </a:r>
            <a:endParaRPr lang="en-US" sz="2200" dirty="0"/>
          </a:p>
        </p:txBody>
      </p:sp>
      <p:sp>
        <p:nvSpPr>
          <p:cNvPr id="31" name="Text 29"/>
          <p:cNvSpPr txBox="1"/>
          <p:nvPr/>
        </p:nvSpPr>
        <p:spPr>
          <a:xfrm>
            <a:off x="7635240" y="2651760"/>
            <a:ext cx="3840480" cy="621792"/>
          </a:xfrm>
          <a:prstGeom prst="rect">
            <a:avLst/>
          </a:prstGeom>
          <a:noFill/>
          <a:ln/>
        </p:spPr>
        <p:txBody>
          <a:bodyPr wrap="square" lIns="0" tIns="0" rIns="0" bIns="0" rtlCol="0" anchor="ctr"/>
          <a:lstStyle/>
          <a:p>
            <a:pPr indent="0" marL="0">
              <a:buNone/>
            </a:pPr>
            <a:r>
              <a:rPr lang="en-US" sz="1300" b="1" dirty="0">
                <a:solidFill>
                  <a:srgbClr val="E8EEF8"/>
                </a:solidFill>
              </a:rPr>
              <a:t>Finance</a:t>
            </a:r>
            <a:endParaRPr lang="en-US" sz="1300" dirty="0"/>
          </a:p>
          <a:p>
            <a:pPr indent="0" marL="0">
              <a:buNone/>
            </a:pPr>
            <a:r>
              <a:rPr lang="en-US" sz="1200" dirty="0">
                <a:solidFill>
                  <a:srgbClr val="A7B6CC"/>
                </a:solidFill>
              </a:rPr>
              <a:t>EAC per project vs approved budget; overrun target 11% → 8% (illustrative)</a:t>
            </a:r>
            <a:endParaRPr lang="en-US" sz="1300" dirty="0"/>
          </a:p>
        </p:txBody>
      </p:sp>
      <p:sp>
        <p:nvSpPr>
          <p:cNvPr id="32" name="outcome-2"/>
          <p:cNvSpPr/>
          <p:nvPr/>
        </p:nvSpPr>
        <p:spPr>
          <a:xfrm>
            <a:off x="6035040" y="3474720"/>
            <a:ext cx="5577840" cy="777240"/>
          </a:xfrm>
          <a:prstGeom prst="roundRect">
            <a:avLst>
              <a:gd name="adj" fmla="val 14118"/>
            </a:avLst>
          </a:prstGeom>
          <a:solidFill>
            <a:srgbClr val="16233A"/>
          </a:solidFill>
          <a:ln w="9525">
            <a:solidFill>
              <a:srgbClr val="2A3A55"/>
            </a:solidFill>
            <a:prstDash val="solid"/>
          </a:ln>
        </p:spPr>
      </p:sp>
      <p:sp>
        <p:nvSpPr>
          <p:cNvPr id="33" name="Text 31"/>
          <p:cNvSpPr txBox="1"/>
          <p:nvPr/>
        </p:nvSpPr>
        <p:spPr>
          <a:xfrm>
            <a:off x="6263640" y="3639312"/>
            <a:ext cx="1280160" cy="457200"/>
          </a:xfrm>
          <a:prstGeom prst="rect">
            <a:avLst/>
          </a:prstGeom>
          <a:noFill/>
          <a:ln/>
        </p:spPr>
        <p:txBody>
          <a:bodyPr wrap="square" lIns="0" tIns="0" rIns="0" bIns="0" rtlCol="0" anchor="ctr"/>
          <a:lstStyle/>
          <a:p>
            <a:pPr indent="0" marL="0">
              <a:buNone/>
            </a:pPr>
            <a:r>
              <a:rPr lang="en-US" sz="2200" b="1" dirty="0">
                <a:solidFill>
                  <a:srgbClr val="2DD4BF"/>
                </a:solidFill>
              </a:rPr>
              <a:t>−80%</a:t>
            </a:r>
            <a:endParaRPr lang="en-US" sz="2200" dirty="0"/>
          </a:p>
        </p:txBody>
      </p:sp>
      <p:sp>
        <p:nvSpPr>
          <p:cNvPr id="34" name="Text 32"/>
          <p:cNvSpPr txBox="1"/>
          <p:nvPr/>
        </p:nvSpPr>
        <p:spPr>
          <a:xfrm>
            <a:off x="7635240" y="3566160"/>
            <a:ext cx="3840480" cy="621792"/>
          </a:xfrm>
          <a:prstGeom prst="rect">
            <a:avLst/>
          </a:prstGeom>
          <a:noFill/>
          <a:ln/>
        </p:spPr>
        <p:txBody>
          <a:bodyPr wrap="square" lIns="0" tIns="0" rIns="0" bIns="0" rtlCol="0" anchor="ctr"/>
          <a:lstStyle/>
          <a:p>
            <a:pPr indent="0" marL="0">
              <a:buNone/>
            </a:pPr>
            <a:r>
              <a:rPr lang="en-US" sz="1300" b="1" dirty="0">
                <a:solidFill>
                  <a:srgbClr val="E8EEF8"/>
                </a:solidFill>
              </a:rPr>
              <a:t>PMO office</a:t>
            </a:r>
            <a:endParaRPr lang="en-US" sz="1300" dirty="0"/>
          </a:p>
          <a:p>
            <a:pPr indent="0" marL="0">
              <a:buNone/>
            </a:pPr>
            <a:r>
              <a:rPr lang="en-US" sz="1200" dirty="0">
                <a:solidFill>
                  <a:srgbClr val="A7B6CC"/>
                </a:solidFill>
              </a:rPr>
              <a:t>Weekly reporting hours, via snapshots, rules and AI insights</a:t>
            </a:r>
            <a:endParaRPr lang="en-US" sz="1300" dirty="0"/>
          </a:p>
        </p:txBody>
      </p:sp>
      <p:sp>
        <p:nvSpPr>
          <p:cNvPr id="35" name="outcome-3"/>
          <p:cNvSpPr/>
          <p:nvPr/>
        </p:nvSpPr>
        <p:spPr>
          <a:xfrm>
            <a:off x="6035040" y="4389120"/>
            <a:ext cx="5577840" cy="777240"/>
          </a:xfrm>
          <a:prstGeom prst="roundRect">
            <a:avLst>
              <a:gd name="adj" fmla="val 14118"/>
            </a:avLst>
          </a:prstGeom>
          <a:solidFill>
            <a:srgbClr val="16233A"/>
          </a:solidFill>
          <a:ln w="9525">
            <a:solidFill>
              <a:srgbClr val="2A3A55"/>
            </a:solidFill>
            <a:prstDash val="solid"/>
          </a:ln>
        </p:spPr>
      </p:sp>
      <p:sp>
        <p:nvSpPr>
          <p:cNvPr id="36" name="Text 34"/>
          <p:cNvSpPr txBox="1"/>
          <p:nvPr/>
        </p:nvSpPr>
        <p:spPr>
          <a:xfrm>
            <a:off x="6263640" y="4553712"/>
            <a:ext cx="1280160" cy="457200"/>
          </a:xfrm>
          <a:prstGeom prst="rect">
            <a:avLst/>
          </a:prstGeom>
          <a:noFill/>
          <a:ln/>
        </p:spPr>
        <p:txBody>
          <a:bodyPr wrap="square" lIns="0" tIns="0" rIns="0" bIns="0" rtlCol="0" anchor="ctr"/>
          <a:lstStyle/>
          <a:p>
            <a:pPr indent="0" marL="0">
              <a:buNone/>
            </a:pPr>
            <a:r>
              <a:rPr lang="en-US" sz="2200" b="1" dirty="0">
                <a:solidFill>
                  <a:srgbClr val="2DD4BF"/>
                </a:solidFill>
              </a:rPr>
              <a:t>1 line</a:t>
            </a:r>
            <a:endParaRPr lang="en-US" sz="2200" dirty="0"/>
          </a:p>
        </p:txBody>
      </p:sp>
      <p:sp>
        <p:nvSpPr>
          <p:cNvPr id="37" name="Text 35"/>
          <p:cNvSpPr txBox="1"/>
          <p:nvPr/>
        </p:nvSpPr>
        <p:spPr>
          <a:xfrm>
            <a:off x="7635240" y="4480560"/>
            <a:ext cx="3840480" cy="621792"/>
          </a:xfrm>
          <a:prstGeom prst="rect">
            <a:avLst/>
          </a:prstGeom>
          <a:noFill/>
          <a:ln/>
        </p:spPr>
        <p:txBody>
          <a:bodyPr wrap="square" lIns="0" tIns="0" rIns="0" bIns="0" rtlCol="0" anchor="ctr"/>
          <a:lstStyle/>
          <a:p>
            <a:pPr indent="0" marL="0">
              <a:buNone/>
            </a:pPr>
            <a:r>
              <a:rPr lang="en-US" sz="1300" b="1" dirty="0">
                <a:solidFill>
                  <a:srgbClr val="E8EEF8"/>
                </a:solidFill>
              </a:rPr>
              <a:t>Project managers</a:t>
            </a:r>
            <a:endParaRPr lang="en-US" sz="1300" dirty="0"/>
          </a:p>
          <a:p>
            <a:pPr indent="0" marL="0">
              <a:buNone/>
            </a:pPr>
            <a:r>
              <a:rPr lang="en-US" sz="1200" dirty="0">
                <a:solidFill>
                  <a:srgbClr val="A7B6CC"/>
                </a:solidFill>
              </a:rPr>
              <a:t>of text and AI fills the risk or change-request form</a:t>
            </a:r>
            <a:endParaRPr lang="en-US" sz="1300" dirty="0"/>
          </a:p>
        </p:txBody>
      </p:sp>
      <p:sp>
        <p:nvSpPr>
          <p:cNvPr id="38" name="outcome-4"/>
          <p:cNvSpPr/>
          <p:nvPr/>
        </p:nvSpPr>
        <p:spPr>
          <a:xfrm>
            <a:off x="6035040" y="5303520"/>
            <a:ext cx="5577840" cy="777240"/>
          </a:xfrm>
          <a:prstGeom prst="roundRect">
            <a:avLst>
              <a:gd name="adj" fmla="val 14118"/>
            </a:avLst>
          </a:prstGeom>
          <a:solidFill>
            <a:srgbClr val="16233A"/>
          </a:solidFill>
          <a:ln w="9525">
            <a:solidFill>
              <a:srgbClr val="2A3A55"/>
            </a:solidFill>
            <a:prstDash val="solid"/>
          </a:ln>
        </p:spPr>
      </p:sp>
      <p:sp>
        <p:nvSpPr>
          <p:cNvPr id="39" name="Text 37"/>
          <p:cNvSpPr txBox="1"/>
          <p:nvPr/>
        </p:nvSpPr>
        <p:spPr>
          <a:xfrm>
            <a:off x="6263640" y="5468112"/>
            <a:ext cx="1280160" cy="457200"/>
          </a:xfrm>
          <a:prstGeom prst="rect">
            <a:avLst/>
          </a:prstGeom>
          <a:noFill/>
          <a:ln/>
        </p:spPr>
        <p:txBody>
          <a:bodyPr wrap="square" lIns="0" tIns="0" rIns="0" bIns="0" rtlCol="0" anchor="ctr"/>
          <a:lstStyle/>
          <a:p>
            <a:pPr indent="0" marL="0">
              <a:buNone/>
            </a:pPr>
            <a:r>
              <a:rPr lang="en-US" sz="2200" b="1" dirty="0">
                <a:solidFill>
                  <a:srgbClr val="2DD4BF"/>
                </a:solidFill>
              </a:rPr>
              <a:t>2 langs</a:t>
            </a:r>
            <a:endParaRPr lang="en-US" sz="2200" dirty="0"/>
          </a:p>
        </p:txBody>
      </p:sp>
      <p:sp>
        <p:nvSpPr>
          <p:cNvPr id="40" name="Text 38"/>
          <p:cNvSpPr txBox="1"/>
          <p:nvPr/>
        </p:nvSpPr>
        <p:spPr>
          <a:xfrm>
            <a:off x="7635240" y="5394960"/>
            <a:ext cx="3840480" cy="621792"/>
          </a:xfrm>
          <a:prstGeom prst="rect">
            <a:avLst/>
          </a:prstGeom>
          <a:noFill/>
          <a:ln/>
        </p:spPr>
        <p:txBody>
          <a:bodyPr wrap="square" lIns="0" tIns="0" rIns="0" bIns="0" rtlCol="0" anchor="ctr"/>
          <a:lstStyle/>
          <a:p>
            <a:pPr indent="0" marL="0">
              <a:buNone/>
            </a:pPr>
            <a:r>
              <a:rPr lang="en-US" sz="1300" b="1" dirty="0">
                <a:solidFill>
                  <a:srgbClr val="E8EEF8"/>
                </a:solidFill>
              </a:rPr>
              <a:t>Delivery teams</a:t>
            </a:r>
            <a:endParaRPr lang="en-US" sz="1300" dirty="0"/>
          </a:p>
          <a:p>
            <a:pPr indent="0" marL="0">
              <a:buNone/>
            </a:pPr>
            <a:r>
              <a:rPr lang="en-US" sz="1200" dirty="0">
                <a:solidFill>
                  <a:srgbClr val="A7B6CC"/>
                </a:solidFill>
              </a:rPr>
              <a:t>English and Arabic with full right-to-left layout</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04 · SOLUTION OVERVIEW</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Nine modules, one data model — built and running today</a:t>
            </a:r>
            <a:endParaRPr lang="en-US" sz="3000" dirty="0"/>
          </a:p>
        </p:txBody>
      </p:sp>
      <p:sp>
        <p:nvSpPr>
          <p:cNvPr id="4" name="module-0"/>
          <p:cNvSpPr/>
          <p:nvPr/>
        </p:nvSpPr>
        <p:spPr>
          <a:xfrm>
            <a:off x="548640" y="1645920"/>
            <a:ext cx="2514600" cy="1280160"/>
          </a:xfrm>
          <a:prstGeom prst="roundRect">
            <a:avLst>
              <a:gd name="adj" fmla="val 8571"/>
            </a:avLst>
          </a:prstGeom>
          <a:solidFill>
            <a:srgbClr val="16233A"/>
          </a:solidFill>
          <a:ln w="9525">
            <a:solidFill>
              <a:srgbClr val="2A3A55"/>
            </a:solidFill>
            <a:prstDash val="solid"/>
          </a:ln>
        </p:spPr>
      </p:sp>
      <p:sp>
        <p:nvSpPr>
          <p:cNvPr id="5" name="module-icon-0"/>
          <p:cNvSpPr/>
          <p:nvPr/>
        </p:nvSpPr>
        <p:spPr>
          <a:xfrm>
            <a:off x="777240" y="1874520"/>
            <a:ext cx="384048" cy="384048"/>
          </a:xfrm>
          <a:prstGeom prst="ellipse">
            <a:avLst/>
          </a:prstGeom>
          <a:solidFill>
            <a:srgbClr val="1D2D49"/>
          </a:solidFill>
          <a:ln w="12700">
            <a:solidFill>
              <a:srgbClr val="2DD4BF"/>
            </a:solidFill>
            <a:prstDash val="solid"/>
          </a:ln>
        </p:spPr>
      </p:sp>
      <p:sp>
        <p:nvSpPr>
          <p:cNvPr id="6" name="Text 4"/>
          <p:cNvSpPr txBox="1"/>
          <p:nvPr/>
        </p:nvSpPr>
        <p:spPr>
          <a:xfrm>
            <a:off x="777240" y="193852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1</a:t>
            </a:r>
            <a:endParaRPr lang="en-US" sz="1200" dirty="0"/>
          </a:p>
        </p:txBody>
      </p:sp>
      <p:sp>
        <p:nvSpPr>
          <p:cNvPr id="7" name="Text 5"/>
          <p:cNvSpPr txBox="1"/>
          <p:nvPr/>
        </p:nvSpPr>
        <p:spPr>
          <a:xfrm>
            <a:off x="1280160" y="189280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Projects</a:t>
            </a:r>
            <a:endParaRPr lang="en-US" sz="1500" dirty="0"/>
          </a:p>
        </p:txBody>
      </p:sp>
      <p:sp>
        <p:nvSpPr>
          <p:cNvPr id="8" name="Text 6"/>
          <p:cNvSpPr txBox="1"/>
          <p:nvPr/>
        </p:nvSpPr>
        <p:spPr>
          <a:xfrm>
            <a:off x="777240" y="2395728"/>
            <a:ext cx="2148840" cy="457200"/>
          </a:xfrm>
          <a:prstGeom prst="rect">
            <a:avLst/>
          </a:prstGeom>
          <a:noFill/>
          <a:ln/>
        </p:spPr>
        <p:txBody>
          <a:bodyPr wrap="square" lIns="0" tIns="0" rIns="0" bIns="0" rtlCol="0" anchor="t"/>
          <a:lstStyle/>
          <a:p>
            <a:pPr indent="0" marL="0">
              <a:buNone/>
            </a:pPr>
            <a:r>
              <a:rPr lang="en-US" sz="1200" dirty="0">
                <a:solidFill>
                  <a:srgbClr val="A7B6CC"/>
                </a:solidFill>
              </a:rPr>
              <a:t>Register, members, snapshots, forecasts</a:t>
            </a:r>
            <a:endParaRPr lang="en-US" sz="1200" dirty="0"/>
          </a:p>
        </p:txBody>
      </p:sp>
      <p:sp>
        <p:nvSpPr>
          <p:cNvPr id="9" name="module-1"/>
          <p:cNvSpPr/>
          <p:nvPr/>
        </p:nvSpPr>
        <p:spPr>
          <a:xfrm>
            <a:off x="3246120" y="1645920"/>
            <a:ext cx="2514600" cy="1280160"/>
          </a:xfrm>
          <a:prstGeom prst="roundRect">
            <a:avLst>
              <a:gd name="adj" fmla="val 8571"/>
            </a:avLst>
          </a:prstGeom>
          <a:solidFill>
            <a:srgbClr val="16233A"/>
          </a:solidFill>
          <a:ln w="9525">
            <a:solidFill>
              <a:srgbClr val="2A3A55"/>
            </a:solidFill>
            <a:prstDash val="solid"/>
          </a:ln>
        </p:spPr>
      </p:sp>
      <p:sp>
        <p:nvSpPr>
          <p:cNvPr id="10" name="module-icon-1"/>
          <p:cNvSpPr/>
          <p:nvPr/>
        </p:nvSpPr>
        <p:spPr>
          <a:xfrm>
            <a:off x="3474720" y="1874520"/>
            <a:ext cx="384048" cy="384048"/>
          </a:xfrm>
          <a:prstGeom prst="ellipse">
            <a:avLst/>
          </a:prstGeom>
          <a:solidFill>
            <a:srgbClr val="1D2D49"/>
          </a:solidFill>
          <a:ln w="12700">
            <a:solidFill>
              <a:srgbClr val="2DD4BF"/>
            </a:solidFill>
            <a:prstDash val="solid"/>
          </a:ln>
        </p:spPr>
      </p:sp>
      <p:sp>
        <p:nvSpPr>
          <p:cNvPr id="11" name="Text 9"/>
          <p:cNvSpPr txBox="1"/>
          <p:nvPr/>
        </p:nvSpPr>
        <p:spPr>
          <a:xfrm>
            <a:off x="3474720" y="193852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2</a:t>
            </a:r>
            <a:endParaRPr lang="en-US" sz="1200" dirty="0"/>
          </a:p>
        </p:txBody>
      </p:sp>
      <p:sp>
        <p:nvSpPr>
          <p:cNvPr id="12" name="Text 10"/>
          <p:cNvSpPr txBox="1"/>
          <p:nvPr/>
        </p:nvSpPr>
        <p:spPr>
          <a:xfrm>
            <a:off x="3977640" y="189280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Tasks</a:t>
            </a:r>
            <a:endParaRPr lang="en-US" sz="1500" dirty="0"/>
          </a:p>
        </p:txBody>
      </p:sp>
      <p:sp>
        <p:nvSpPr>
          <p:cNvPr id="13" name="Text 11"/>
          <p:cNvSpPr txBox="1"/>
          <p:nvPr/>
        </p:nvSpPr>
        <p:spPr>
          <a:xfrm>
            <a:off x="3474720" y="2395728"/>
            <a:ext cx="2148840" cy="457200"/>
          </a:xfrm>
          <a:prstGeom prst="rect">
            <a:avLst/>
          </a:prstGeom>
          <a:noFill/>
          <a:ln/>
        </p:spPr>
        <p:txBody>
          <a:bodyPr wrap="square" lIns="0" tIns="0" rIns="0" bIns="0" rtlCol="0" anchor="t"/>
          <a:lstStyle/>
          <a:p>
            <a:pPr indent="0" marL="0">
              <a:buNone/>
            </a:pPr>
            <a:r>
              <a:rPr lang="en-US" sz="1200" dirty="0">
                <a:solidFill>
                  <a:srgbClr val="A7B6CC"/>
                </a:solidFill>
              </a:rPr>
              <a:t>Weighted progress, overdue flags</a:t>
            </a:r>
            <a:endParaRPr lang="en-US" sz="1200" dirty="0"/>
          </a:p>
        </p:txBody>
      </p:sp>
      <p:sp>
        <p:nvSpPr>
          <p:cNvPr id="14" name="module-2"/>
          <p:cNvSpPr/>
          <p:nvPr/>
        </p:nvSpPr>
        <p:spPr>
          <a:xfrm>
            <a:off x="5943600" y="1645920"/>
            <a:ext cx="2514600" cy="1280160"/>
          </a:xfrm>
          <a:prstGeom prst="roundRect">
            <a:avLst>
              <a:gd name="adj" fmla="val 8571"/>
            </a:avLst>
          </a:prstGeom>
          <a:solidFill>
            <a:srgbClr val="16233A"/>
          </a:solidFill>
          <a:ln w="9525">
            <a:solidFill>
              <a:srgbClr val="2A3A55"/>
            </a:solidFill>
            <a:prstDash val="solid"/>
          </a:ln>
        </p:spPr>
      </p:sp>
      <p:sp>
        <p:nvSpPr>
          <p:cNvPr id="15" name="module-icon-2"/>
          <p:cNvSpPr/>
          <p:nvPr/>
        </p:nvSpPr>
        <p:spPr>
          <a:xfrm>
            <a:off x="6172200" y="1874520"/>
            <a:ext cx="384048" cy="384048"/>
          </a:xfrm>
          <a:prstGeom prst="ellipse">
            <a:avLst/>
          </a:prstGeom>
          <a:solidFill>
            <a:srgbClr val="1D2D49"/>
          </a:solidFill>
          <a:ln w="12700">
            <a:solidFill>
              <a:srgbClr val="2DD4BF"/>
            </a:solidFill>
            <a:prstDash val="solid"/>
          </a:ln>
        </p:spPr>
      </p:sp>
      <p:sp>
        <p:nvSpPr>
          <p:cNvPr id="16" name="Text 14"/>
          <p:cNvSpPr txBox="1"/>
          <p:nvPr/>
        </p:nvSpPr>
        <p:spPr>
          <a:xfrm>
            <a:off x="6172200" y="193852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3</a:t>
            </a:r>
            <a:endParaRPr lang="en-US" sz="1200" dirty="0"/>
          </a:p>
        </p:txBody>
      </p:sp>
      <p:sp>
        <p:nvSpPr>
          <p:cNvPr id="17" name="Text 15"/>
          <p:cNvSpPr txBox="1"/>
          <p:nvPr/>
        </p:nvSpPr>
        <p:spPr>
          <a:xfrm>
            <a:off x="6675120" y="189280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Milestones</a:t>
            </a:r>
            <a:endParaRPr lang="en-US" sz="1500" dirty="0"/>
          </a:p>
        </p:txBody>
      </p:sp>
      <p:sp>
        <p:nvSpPr>
          <p:cNvPr id="18" name="Text 16"/>
          <p:cNvSpPr txBox="1"/>
          <p:nvPr/>
        </p:nvSpPr>
        <p:spPr>
          <a:xfrm>
            <a:off x="6172200" y="2395728"/>
            <a:ext cx="2148840" cy="457200"/>
          </a:xfrm>
          <a:prstGeom prst="rect">
            <a:avLst/>
          </a:prstGeom>
          <a:noFill/>
          <a:ln/>
        </p:spPr>
        <p:txBody>
          <a:bodyPr wrap="square" lIns="0" tIns="0" rIns="0" bIns="0" rtlCol="0" anchor="t"/>
          <a:lstStyle/>
          <a:p>
            <a:pPr indent="0" marL="0">
              <a:buNone/>
            </a:pPr>
            <a:r>
              <a:rPr lang="en-US" sz="1200" dirty="0">
                <a:solidFill>
                  <a:srgbClr val="A7B6CC"/>
                </a:solidFill>
              </a:rPr>
              <a:t>Kickoff → design → build → UAT</a:t>
            </a:r>
            <a:endParaRPr lang="en-US" sz="1200" dirty="0"/>
          </a:p>
        </p:txBody>
      </p:sp>
      <p:sp>
        <p:nvSpPr>
          <p:cNvPr id="19" name="module-3"/>
          <p:cNvSpPr/>
          <p:nvPr/>
        </p:nvSpPr>
        <p:spPr>
          <a:xfrm>
            <a:off x="548640" y="3108960"/>
            <a:ext cx="2514600" cy="1280160"/>
          </a:xfrm>
          <a:prstGeom prst="roundRect">
            <a:avLst>
              <a:gd name="adj" fmla="val 8571"/>
            </a:avLst>
          </a:prstGeom>
          <a:solidFill>
            <a:srgbClr val="16233A"/>
          </a:solidFill>
          <a:ln w="9525">
            <a:solidFill>
              <a:srgbClr val="2A3A55"/>
            </a:solidFill>
            <a:prstDash val="solid"/>
          </a:ln>
        </p:spPr>
      </p:sp>
      <p:sp>
        <p:nvSpPr>
          <p:cNvPr id="20" name="module-icon-3"/>
          <p:cNvSpPr/>
          <p:nvPr/>
        </p:nvSpPr>
        <p:spPr>
          <a:xfrm>
            <a:off x="777240" y="3337560"/>
            <a:ext cx="384048" cy="384048"/>
          </a:xfrm>
          <a:prstGeom prst="ellipse">
            <a:avLst/>
          </a:prstGeom>
          <a:solidFill>
            <a:srgbClr val="1D2D49"/>
          </a:solidFill>
          <a:ln w="12700">
            <a:solidFill>
              <a:srgbClr val="2DD4BF"/>
            </a:solidFill>
            <a:prstDash val="solid"/>
          </a:ln>
        </p:spPr>
      </p:sp>
      <p:sp>
        <p:nvSpPr>
          <p:cNvPr id="21" name="Text 19"/>
          <p:cNvSpPr txBox="1"/>
          <p:nvPr/>
        </p:nvSpPr>
        <p:spPr>
          <a:xfrm>
            <a:off x="777240" y="340156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4</a:t>
            </a:r>
            <a:endParaRPr lang="en-US" sz="1200" dirty="0"/>
          </a:p>
        </p:txBody>
      </p:sp>
      <p:sp>
        <p:nvSpPr>
          <p:cNvPr id="22" name="Text 20"/>
          <p:cNvSpPr txBox="1"/>
          <p:nvPr/>
        </p:nvSpPr>
        <p:spPr>
          <a:xfrm>
            <a:off x="1280160" y="335584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Risks &amp; Issues</a:t>
            </a:r>
            <a:endParaRPr lang="en-US" sz="1500" dirty="0"/>
          </a:p>
        </p:txBody>
      </p:sp>
      <p:sp>
        <p:nvSpPr>
          <p:cNvPr id="23" name="Text 21"/>
          <p:cNvSpPr txBox="1"/>
          <p:nvPr/>
        </p:nvSpPr>
        <p:spPr>
          <a:xfrm>
            <a:off x="777240" y="3858768"/>
            <a:ext cx="2148840" cy="457200"/>
          </a:xfrm>
          <a:prstGeom prst="rect">
            <a:avLst/>
          </a:prstGeom>
          <a:noFill/>
          <a:ln/>
        </p:spPr>
        <p:txBody>
          <a:bodyPr wrap="square" lIns="0" tIns="0" rIns="0" bIns="0" rtlCol="0" anchor="t"/>
          <a:lstStyle/>
          <a:p>
            <a:pPr indent="0" marL="0">
              <a:buNone/>
            </a:pPr>
            <a:r>
              <a:rPr lang="en-US" sz="1200" dirty="0">
                <a:solidFill>
                  <a:srgbClr val="A7B6CC"/>
                </a:solidFill>
              </a:rPr>
              <a:t>5×5 scoring, mitigation, owners</a:t>
            </a:r>
            <a:endParaRPr lang="en-US" sz="1200" dirty="0"/>
          </a:p>
        </p:txBody>
      </p:sp>
      <p:sp>
        <p:nvSpPr>
          <p:cNvPr id="24" name="module-4"/>
          <p:cNvSpPr/>
          <p:nvPr/>
        </p:nvSpPr>
        <p:spPr>
          <a:xfrm>
            <a:off x="3246120" y="3108960"/>
            <a:ext cx="2514600" cy="1280160"/>
          </a:xfrm>
          <a:prstGeom prst="roundRect">
            <a:avLst>
              <a:gd name="adj" fmla="val 8571"/>
            </a:avLst>
          </a:prstGeom>
          <a:solidFill>
            <a:srgbClr val="16233A"/>
          </a:solidFill>
          <a:ln w="9525">
            <a:solidFill>
              <a:srgbClr val="2A3A55"/>
            </a:solidFill>
            <a:prstDash val="solid"/>
          </a:ln>
        </p:spPr>
      </p:sp>
      <p:sp>
        <p:nvSpPr>
          <p:cNvPr id="25" name="module-icon-4"/>
          <p:cNvSpPr/>
          <p:nvPr/>
        </p:nvSpPr>
        <p:spPr>
          <a:xfrm>
            <a:off x="3474720" y="3337560"/>
            <a:ext cx="384048" cy="384048"/>
          </a:xfrm>
          <a:prstGeom prst="ellipse">
            <a:avLst/>
          </a:prstGeom>
          <a:solidFill>
            <a:srgbClr val="1D2D49"/>
          </a:solidFill>
          <a:ln w="12700">
            <a:solidFill>
              <a:srgbClr val="2DD4BF"/>
            </a:solidFill>
            <a:prstDash val="solid"/>
          </a:ln>
        </p:spPr>
      </p:sp>
      <p:sp>
        <p:nvSpPr>
          <p:cNvPr id="26" name="Text 24"/>
          <p:cNvSpPr txBox="1"/>
          <p:nvPr/>
        </p:nvSpPr>
        <p:spPr>
          <a:xfrm>
            <a:off x="3474720" y="340156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5</a:t>
            </a:r>
            <a:endParaRPr lang="en-US" sz="1200" dirty="0"/>
          </a:p>
        </p:txBody>
      </p:sp>
      <p:sp>
        <p:nvSpPr>
          <p:cNvPr id="27" name="Text 25"/>
          <p:cNvSpPr txBox="1"/>
          <p:nvPr/>
        </p:nvSpPr>
        <p:spPr>
          <a:xfrm>
            <a:off x="3977640" y="335584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Change Requests</a:t>
            </a:r>
            <a:endParaRPr lang="en-US" sz="1500" dirty="0"/>
          </a:p>
        </p:txBody>
      </p:sp>
      <p:sp>
        <p:nvSpPr>
          <p:cNvPr id="28" name="Text 26"/>
          <p:cNvSpPr txBox="1"/>
          <p:nvPr/>
        </p:nvSpPr>
        <p:spPr>
          <a:xfrm>
            <a:off x="3474720" y="3858768"/>
            <a:ext cx="2148840" cy="457200"/>
          </a:xfrm>
          <a:prstGeom prst="rect">
            <a:avLst/>
          </a:prstGeom>
          <a:noFill/>
          <a:ln/>
        </p:spPr>
        <p:txBody>
          <a:bodyPr wrap="square" lIns="0" tIns="0" rIns="0" bIns="0" rtlCol="0" anchor="t"/>
          <a:lstStyle/>
          <a:p>
            <a:pPr indent="0" marL="0">
              <a:buNone/>
            </a:pPr>
            <a:r>
              <a:rPr lang="en-US" sz="1200" dirty="0">
                <a:solidFill>
                  <a:srgbClr val="A7B6CC"/>
                </a:solidFill>
              </a:rPr>
              <a:t>Approve / return / reject with history</a:t>
            </a:r>
            <a:endParaRPr lang="en-US" sz="1200" dirty="0"/>
          </a:p>
        </p:txBody>
      </p:sp>
      <p:sp>
        <p:nvSpPr>
          <p:cNvPr id="29" name="module-5"/>
          <p:cNvSpPr/>
          <p:nvPr/>
        </p:nvSpPr>
        <p:spPr>
          <a:xfrm>
            <a:off x="5943600" y="3108960"/>
            <a:ext cx="2514600" cy="1280160"/>
          </a:xfrm>
          <a:prstGeom prst="roundRect">
            <a:avLst>
              <a:gd name="adj" fmla="val 8571"/>
            </a:avLst>
          </a:prstGeom>
          <a:solidFill>
            <a:srgbClr val="16233A"/>
          </a:solidFill>
          <a:ln w="9525">
            <a:solidFill>
              <a:srgbClr val="2A3A55"/>
            </a:solidFill>
            <a:prstDash val="solid"/>
          </a:ln>
        </p:spPr>
      </p:sp>
      <p:sp>
        <p:nvSpPr>
          <p:cNvPr id="30" name="module-icon-5"/>
          <p:cNvSpPr/>
          <p:nvPr/>
        </p:nvSpPr>
        <p:spPr>
          <a:xfrm>
            <a:off x="6172200" y="3337560"/>
            <a:ext cx="384048" cy="384048"/>
          </a:xfrm>
          <a:prstGeom prst="ellipse">
            <a:avLst/>
          </a:prstGeom>
          <a:solidFill>
            <a:srgbClr val="1D2D49"/>
          </a:solidFill>
          <a:ln w="12700">
            <a:solidFill>
              <a:srgbClr val="2DD4BF"/>
            </a:solidFill>
            <a:prstDash val="solid"/>
          </a:ln>
        </p:spPr>
      </p:sp>
      <p:sp>
        <p:nvSpPr>
          <p:cNvPr id="31" name="Text 29"/>
          <p:cNvSpPr txBox="1"/>
          <p:nvPr/>
        </p:nvSpPr>
        <p:spPr>
          <a:xfrm>
            <a:off x="6172200" y="340156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6</a:t>
            </a:r>
            <a:endParaRPr lang="en-US" sz="1200" dirty="0"/>
          </a:p>
        </p:txBody>
      </p:sp>
      <p:sp>
        <p:nvSpPr>
          <p:cNvPr id="32" name="Text 30"/>
          <p:cNvSpPr txBox="1"/>
          <p:nvPr/>
        </p:nvSpPr>
        <p:spPr>
          <a:xfrm>
            <a:off x="6675120" y="335584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Finance</a:t>
            </a:r>
            <a:endParaRPr lang="en-US" sz="1500" dirty="0"/>
          </a:p>
        </p:txBody>
      </p:sp>
      <p:sp>
        <p:nvSpPr>
          <p:cNvPr id="33" name="Text 31"/>
          <p:cNvSpPr txBox="1"/>
          <p:nvPr/>
        </p:nvSpPr>
        <p:spPr>
          <a:xfrm>
            <a:off x="6172200" y="3858768"/>
            <a:ext cx="2148840" cy="457200"/>
          </a:xfrm>
          <a:prstGeom prst="rect">
            <a:avLst/>
          </a:prstGeom>
          <a:noFill/>
          <a:ln/>
        </p:spPr>
        <p:txBody>
          <a:bodyPr wrap="square" lIns="0" tIns="0" rIns="0" bIns="0" rtlCol="0" anchor="t"/>
          <a:lstStyle/>
          <a:p>
            <a:pPr indent="0" marL="0">
              <a:buNone/>
            </a:pPr>
            <a:r>
              <a:rPr lang="en-US" sz="1200" dirty="0">
                <a:solidFill>
                  <a:srgbClr val="A7B6CC"/>
                </a:solidFill>
              </a:rPr>
              <a:t>Costs, budget revisions, forecasts, EAC</a:t>
            </a:r>
            <a:endParaRPr lang="en-US" sz="1200" dirty="0"/>
          </a:p>
        </p:txBody>
      </p:sp>
      <p:sp>
        <p:nvSpPr>
          <p:cNvPr id="34" name="module-6"/>
          <p:cNvSpPr/>
          <p:nvPr/>
        </p:nvSpPr>
        <p:spPr>
          <a:xfrm>
            <a:off x="548640" y="4572000"/>
            <a:ext cx="2514600" cy="1280160"/>
          </a:xfrm>
          <a:prstGeom prst="roundRect">
            <a:avLst>
              <a:gd name="adj" fmla="val 8571"/>
            </a:avLst>
          </a:prstGeom>
          <a:solidFill>
            <a:srgbClr val="183C40"/>
          </a:solidFill>
          <a:ln w="9525">
            <a:solidFill>
              <a:srgbClr val="2A3A55"/>
            </a:solidFill>
            <a:prstDash val="solid"/>
          </a:ln>
        </p:spPr>
      </p:sp>
      <p:sp>
        <p:nvSpPr>
          <p:cNvPr id="35" name="module-icon-6"/>
          <p:cNvSpPr/>
          <p:nvPr/>
        </p:nvSpPr>
        <p:spPr>
          <a:xfrm>
            <a:off x="777240" y="4800600"/>
            <a:ext cx="384048" cy="384048"/>
          </a:xfrm>
          <a:prstGeom prst="ellipse">
            <a:avLst/>
          </a:prstGeom>
          <a:solidFill>
            <a:srgbClr val="2DD4BF"/>
          </a:solidFill>
          <a:ln w="12700">
            <a:solidFill>
              <a:srgbClr val="2DD4BF"/>
            </a:solidFill>
            <a:prstDash val="solid"/>
          </a:ln>
        </p:spPr>
      </p:sp>
      <p:sp>
        <p:nvSpPr>
          <p:cNvPr id="36" name="Text 34"/>
          <p:cNvSpPr txBox="1"/>
          <p:nvPr/>
        </p:nvSpPr>
        <p:spPr>
          <a:xfrm>
            <a:off x="777240" y="4864608"/>
            <a:ext cx="384048" cy="256032"/>
          </a:xfrm>
          <a:prstGeom prst="rect">
            <a:avLst/>
          </a:prstGeom>
          <a:noFill/>
          <a:ln/>
        </p:spPr>
        <p:txBody>
          <a:bodyPr wrap="square" lIns="0" tIns="0" rIns="0" bIns="0" rtlCol="0" anchor="t"/>
          <a:lstStyle/>
          <a:p>
            <a:pPr algn="ctr" indent="0" marL="0">
              <a:buNone/>
            </a:pPr>
            <a:r>
              <a:rPr lang="en-US" sz="1200" b="1" dirty="0">
                <a:solidFill>
                  <a:srgbClr val="0A111D"/>
                </a:solidFill>
              </a:rPr>
              <a:t>7</a:t>
            </a:r>
            <a:endParaRPr lang="en-US" sz="1200" dirty="0"/>
          </a:p>
        </p:txBody>
      </p:sp>
      <p:sp>
        <p:nvSpPr>
          <p:cNvPr id="37" name="Text 35"/>
          <p:cNvSpPr txBox="1"/>
          <p:nvPr/>
        </p:nvSpPr>
        <p:spPr>
          <a:xfrm>
            <a:off x="1280160" y="481888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Executive Dashboard</a:t>
            </a:r>
            <a:endParaRPr lang="en-US" sz="1500" dirty="0"/>
          </a:p>
        </p:txBody>
      </p:sp>
      <p:sp>
        <p:nvSpPr>
          <p:cNvPr id="38" name="Text 36"/>
          <p:cNvSpPr txBox="1"/>
          <p:nvPr/>
        </p:nvSpPr>
        <p:spPr>
          <a:xfrm>
            <a:off x="777240" y="5321808"/>
            <a:ext cx="2148840" cy="457200"/>
          </a:xfrm>
          <a:prstGeom prst="rect">
            <a:avLst/>
          </a:prstGeom>
          <a:noFill/>
          <a:ln/>
        </p:spPr>
        <p:txBody>
          <a:bodyPr wrap="square" lIns="0" tIns="0" rIns="0" bIns="0" rtlCol="0" anchor="t"/>
          <a:lstStyle/>
          <a:p>
            <a:pPr indent="0" marL="0">
              <a:buNone/>
            </a:pPr>
            <a:r>
              <a:rPr lang="en-US" sz="1200" dirty="0">
                <a:solidFill>
                  <a:srgbClr val="A7B6CC"/>
                </a:solidFill>
              </a:rPr>
              <a:t>Delivery · Risk · Financial tabs</a:t>
            </a:r>
            <a:endParaRPr lang="en-US" sz="1200" dirty="0"/>
          </a:p>
        </p:txBody>
      </p:sp>
      <p:sp>
        <p:nvSpPr>
          <p:cNvPr id="39" name="module-7"/>
          <p:cNvSpPr/>
          <p:nvPr/>
        </p:nvSpPr>
        <p:spPr>
          <a:xfrm>
            <a:off x="3246120" y="4572000"/>
            <a:ext cx="2514600" cy="1280160"/>
          </a:xfrm>
          <a:prstGeom prst="roundRect">
            <a:avLst>
              <a:gd name="adj" fmla="val 8571"/>
            </a:avLst>
          </a:prstGeom>
          <a:solidFill>
            <a:srgbClr val="16233A"/>
          </a:solidFill>
          <a:ln w="9525">
            <a:solidFill>
              <a:srgbClr val="2A3A55"/>
            </a:solidFill>
            <a:prstDash val="solid"/>
          </a:ln>
        </p:spPr>
      </p:sp>
      <p:sp>
        <p:nvSpPr>
          <p:cNvPr id="40" name="module-icon-7"/>
          <p:cNvSpPr/>
          <p:nvPr/>
        </p:nvSpPr>
        <p:spPr>
          <a:xfrm>
            <a:off x="3474720" y="4800600"/>
            <a:ext cx="384048" cy="384048"/>
          </a:xfrm>
          <a:prstGeom prst="ellipse">
            <a:avLst/>
          </a:prstGeom>
          <a:solidFill>
            <a:srgbClr val="1D2D49"/>
          </a:solidFill>
          <a:ln w="12700">
            <a:solidFill>
              <a:srgbClr val="2DD4BF"/>
            </a:solidFill>
            <a:prstDash val="solid"/>
          </a:ln>
        </p:spPr>
      </p:sp>
      <p:sp>
        <p:nvSpPr>
          <p:cNvPr id="41" name="Text 39"/>
          <p:cNvSpPr txBox="1"/>
          <p:nvPr/>
        </p:nvSpPr>
        <p:spPr>
          <a:xfrm>
            <a:off x="3474720" y="486460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8</a:t>
            </a:r>
            <a:endParaRPr lang="en-US" sz="1200" dirty="0"/>
          </a:p>
        </p:txBody>
      </p:sp>
      <p:sp>
        <p:nvSpPr>
          <p:cNvPr id="42" name="Text 40"/>
          <p:cNvSpPr txBox="1"/>
          <p:nvPr/>
        </p:nvSpPr>
        <p:spPr>
          <a:xfrm>
            <a:off x="3977640" y="481888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Automation &amp; Logs</a:t>
            </a:r>
            <a:endParaRPr lang="en-US" sz="1500" dirty="0"/>
          </a:p>
        </p:txBody>
      </p:sp>
      <p:sp>
        <p:nvSpPr>
          <p:cNvPr id="43" name="Text 41"/>
          <p:cNvSpPr txBox="1"/>
          <p:nvPr/>
        </p:nvSpPr>
        <p:spPr>
          <a:xfrm>
            <a:off x="3474720" y="5321808"/>
            <a:ext cx="2148840" cy="457200"/>
          </a:xfrm>
          <a:prstGeom prst="rect">
            <a:avLst/>
          </a:prstGeom>
          <a:noFill/>
          <a:ln/>
        </p:spPr>
        <p:txBody>
          <a:bodyPr wrap="square" lIns="0" tIns="0" rIns="0" bIns="0" rtlCol="0" anchor="t"/>
          <a:lstStyle/>
          <a:p>
            <a:pPr indent="0" marL="0">
              <a:buNone/>
            </a:pPr>
            <a:r>
              <a:rPr lang="en-US" sz="1200" dirty="0">
                <a:solidFill>
                  <a:srgbClr val="A7B6CC"/>
                </a:solidFill>
              </a:rPr>
              <a:t>Rules, outbox, SignalR, audit trail</a:t>
            </a:r>
            <a:endParaRPr lang="en-US" sz="1200" dirty="0"/>
          </a:p>
        </p:txBody>
      </p:sp>
      <p:sp>
        <p:nvSpPr>
          <p:cNvPr id="44" name="module-8"/>
          <p:cNvSpPr/>
          <p:nvPr/>
        </p:nvSpPr>
        <p:spPr>
          <a:xfrm>
            <a:off x="5943600" y="4572000"/>
            <a:ext cx="2514600" cy="1280160"/>
          </a:xfrm>
          <a:prstGeom prst="roundRect">
            <a:avLst>
              <a:gd name="adj" fmla="val 8571"/>
            </a:avLst>
          </a:prstGeom>
          <a:solidFill>
            <a:srgbClr val="16233A"/>
          </a:solidFill>
          <a:ln w="9525">
            <a:solidFill>
              <a:srgbClr val="2A3A55"/>
            </a:solidFill>
            <a:prstDash val="solid"/>
          </a:ln>
        </p:spPr>
      </p:sp>
      <p:sp>
        <p:nvSpPr>
          <p:cNvPr id="45" name="module-icon-8"/>
          <p:cNvSpPr/>
          <p:nvPr/>
        </p:nvSpPr>
        <p:spPr>
          <a:xfrm>
            <a:off x="6172200" y="4800600"/>
            <a:ext cx="384048" cy="384048"/>
          </a:xfrm>
          <a:prstGeom prst="ellipse">
            <a:avLst/>
          </a:prstGeom>
          <a:solidFill>
            <a:srgbClr val="1D2D49"/>
          </a:solidFill>
          <a:ln w="12700">
            <a:solidFill>
              <a:srgbClr val="2DD4BF"/>
            </a:solidFill>
            <a:prstDash val="solid"/>
          </a:ln>
        </p:spPr>
      </p:sp>
      <p:sp>
        <p:nvSpPr>
          <p:cNvPr id="46" name="Text 44"/>
          <p:cNvSpPr txBox="1"/>
          <p:nvPr/>
        </p:nvSpPr>
        <p:spPr>
          <a:xfrm>
            <a:off x="6172200" y="4864608"/>
            <a:ext cx="384048" cy="256032"/>
          </a:xfrm>
          <a:prstGeom prst="rect">
            <a:avLst/>
          </a:prstGeom>
          <a:noFill/>
          <a:ln/>
        </p:spPr>
        <p:txBody>
          <a:bodyPr wrap="square" lIns="0" tIns="0" rIns="0" bIns="0" rtlCol="0" anchor="t"/>
          <a:lstStyle/>
          <a:p>
            <a:pPr algn="ctr" indent="0" marL="0">
              <a:buNone/>
            </a:pPr>
            <a:r>
              <a:rPr lang="en-US" sz="1200" b="1" dirty="0">
                <a:solidFill>
                  <a:srgbClr val="2DD4BF"/>
                </a:solidFill>
              </a:rPr>
              <a:t>9</a:t>
            </a:r>
            <a:endParaRPr lang="en-US" sz="1200" dirty="0"/>
          </a:p>
        </p:txBody>
      </p:sp>
      <p:sp>
        <p:nvSpPr>
          <p:cNvPr id="47" name="Text 45"/>
          <p:cNvSpPr txBox="1"/>
          <p:nvPr/>
        </p:nvSpPr>
        <p:spPr>
          <a:xfrm>
            <a:off x="6675120" y="4818888"/>
            <a:ext cx="1691640" cy="365760"/>
          </a:xfrm>
          <a:prstGeom prst="rect">
            <a:avLst/>
          </a:prstGeom>
          <a:noFill/>
          <a:ln/>
        </p:spPr>
        <p:txBody>
          <a:bodyPr wrap="square" lIns="0" tIns="0" rIns="0" bIns="0" rtlCol="0" anchor="t"/>
          <a:lstStyle/>
          <a:p>
            <a:pPr indent="0" marL="0">
              <a:buNone/>
            </a:pPr>
            <a:r>
              <a:rPr lang="en-US" sz="1500" b="1" dirty="0">
                <a:solidFill>
                  <a:srgbClr val="E8EEF8"/>
                </a:solidFill>
              </a:rPr>
              <a:t>AI Assistant</a:t>
            </a:r>
            <a:endParaRPr lang="en-US" sz="1500" dirty="0"/>
          </a:p>
        </p:txBody>
      </p:sp>
      <p:sp>
        <p:nvSpPr>
          <p:cNvPr id="48" name="Text 46"/>
          <p:cNvSpPr txBox="1"/>
          <p:nvPr/>
        </p:nvSpPr>
        <p:spPr>
          <a:xfrm>
            <a:off x="6172200" y="5321808"/>
            <a:ext cx="2148840" cy="457200"/>
          </a:xfrm>
          <a:prstGeom prst="rect">
            <a:avLst/>
          </a:prstGeom>
          <a:noFill/>
          <a:ln/>
        </p:spPr>
        <p:txBody>
          <a:bodyPr wrap="square" lIns="0" tIns="0" rIns="0" bIns="0" rtlCol="0" anchor="t"/>
          <a:lstStyle/>
          <a:p>
            <a:pPr indent="0" marL="0">
              <a:buNone/>
            </a:pPr>
            <a:r>
              <a:rPr lang="en-US" sz="1200" dirty="0">
                <a:solidFill>
                  <a:srgbClr val="A7B6CC"/>
                </a:solidFill>
              </a:rPr>
              <a:t>Chat, summaries, risk analysis, AI fill</a:t>
            </a:r>
            <a:endParaRPr lang="en-US" sz="1200" dirty="0"/>
          </a:p>
        </p:txBody>
      </p:sp>
      <p:sp>
        <p:nvSpPr>
          <p:cNvPr id="49" name="stack"/>
          <p:cNvSpPr/>
          <p:nvPr/>
        </p:nvSpPr>
        <p:spPr>
          <a:xfrm>
            <a:off x="8823960" y="1645920"/>
            <a:ext cx="2788920" cy="4206240"/>
          </a:xfrm>
          <a:prstGeom prst="roundRect">
            <a:avLst>
              <a:gd name="adj" fmla="val 3934"/>
            </a:avLst>
          </a:prstGeom>
          <a:solidFill>
            <a:srgbClr val="16233A"/>
          </a:solidFill>
          <a:ln w="9525">
            <a:solidFill>
              <a:srgbClr val="2A3A55"/>
            </a:solidFill>
            <a:prstDash val="solid"/>
          </a:ln>
        </p:spPr>
      </p:sp>
      <p:sp>
        <p:nvSpPr>
          <p:cNvPr id="50" name="Text 48"/>
          <p:cNvSpPr txBox="1"/>
          <p:nvPr/>
        </p:nvSpPr>
        <p:spPr>
          <a:xfrm>
            <a:off x="9052560" y="1828800"/>
            <a:ext cx="2377440" cy="320040"/>
          </a:xfrm>
          <a:prstGeom prst="rect">
            <a:avLst/>
          </a:prstGeom>
          <a:noFill/>
          <a:ln/>
        </p:spPr>
        <p:txBody>
          <a:bodyPr wrap="square" lIns="0" tIns="0" rIns="0" bIns="0" rtlCol="0" anchor="t"/>
          <a:lstStyle/>
          <a:p>
            <a:pPr indent="0" marL="0">
              <a:buNone/>
            </a:pPr>
            <a:r>
              <a:rPr lang="en-US" sz="1500" b="1" dirty="0">
                <a:solidFill>
                  <a:srgbClr val="2DD4BF"/>
                </a:solidFill>
              </a:rPr>
              <a:t>Platform</a:t>
            </a:r>
            <a:endParaRPr lang="en-US" sz="1500" dirty="0"/>
          </a:p>
        </p:txBody>
      </p:sp>
      <p:sp>
        <p:nvSpPr>
          <p:cNvPr id="51" name="Text 49"/>
          <p:cNvSpPr txBox="1"/>
          <p:nvPr/>
        </p:nvSpPr>
        <p:spPr>
          <a:xfrm>
            <a:off x="9052560" y="2240280"/>
            <a:ext cx="242316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8EEF8"/>
                </a:solidFill>
              </a:rPr>
              <a:t>React + TypeScript + Vite</a:t>
            </a:r>
            <a:endParaRPr lang="en-US" sz="1300" dirty="0"/>
          </a:p>
          <a:p>
            <a:pPr marL="342900" indent="-342900">
              <a:spcAft>
                <a:spcPts val="600"/>
              </a:spcAft>
              <a:buSzPct val="100000"/>
              <a:buChar char="•"/>
            </a:pPr>
            <a:r>
              <a:rPr lang="en-US" sz="1300" dirty="0">
                <a:solidFill>
                  <a:srgbClr val="E8EEF8"/>
                </a:solidFill>
              </a:rPr>
              <a:t>ECharts dashboards</a:t>
            </a:r>
            <a:endParaRPr lang="en-US" sz="1300" dirty="0"/>
          </a:p>
          <a:p>
            <a:pPr marL="342900" indent="-342900">
              <a:spcAft>
                <a:spcPts val="600"/>
              </a:spcAft>
              <a:buSzPct val="100000"/>
              <a:buChar char="•"/>
            </a:pPr>
            <a:r>
              <a:rPr lang="en-US" sz="1300" dirty="0">
                <a:solidFill>
                  <a:srgbClr val="E8EEF8"/>
                </a:solidFill>
              </a:rPr>
              <a:t>ASP.NET Core REST API</a:t>
            </a:r>
            <a:endParaRPr lang="en-US" sz="1300" dirty="0"/>
          </a:p>
          <a:p>
            <a:pPr marL="342900" indent="-342900">
              <a:spcAft>
                <a:spcPts val="600"/>
              </a:spcAft>
              <a:buSzPct val="100000"/>
              <a:buChar char="•"/>
            </a:pPr>
            <a:r>
              <a:rPr lang="en-US" sz="1300" dirty="0">
                <a:solidFill>
                  <a:srgbClr val="E8EEF8"/>
                </a:solidFill>
              </a:rPr>
              <a:t>SQL Server</a:t>
            </a:r>
            <a:endParaRPr lang="en-US" sz="1300" dirty="0"/>
          </a:p>
          <a:p>
            <a:pPr marL="342900" indent="-342900">
              <a:spcAft>
                <a:spcPts val="600"/>
              </a:spcAft>
              <a:buSzPct val="100000"/>
              <a:buChar char="•"/>
            </a:pPr>
            <a:r>
              <a:rPr lang="en-US" sz="1300" dirty="0">
                <a:solidFill>
                  <a:srgbClr val="E8EEF8"/>
                </a:solidFill>
              </a:rPr>
              <a:t>SignalR real-time</a:t>
            </a:r>
            <a:endParaRPr lang="en-US" sz="1300" dirty="0"/>
          </a:p>
          <a:p>
            <a:pPr marL="342900" indent="-342900">
              <a:spcAft>
                <a:spcPts val="600"/>
              </a:spcAft>
              <a:buSzPct val="100000"/>
              <a:buChar char="•"/>
            </a:pPr>
            <a:r>
              <a:rPr lang="en-US" sz="1300" dirty="0">
                <a:solidFill>
                  <a:srgbClr val="E8EEF8"/>
                </a:solidFill>
              </a:rPr>
              <a:t>JWT + permission-key RBAC</a:t>
            </a:r>
            <a:endParaRPr lang="en-US" sz="1300" dirty="0"/>
          </a:p>
          <a:p>
            <a:pPr marL="342900" indent="-342900">
              <a:spcAft>
                <a:spcPts val="600"/>
              </a:spcAft>
              <a:buSzPct val="100000"/>
              <a:buChar char="•"/>
            </a:pPr>
            <a:r>
              <a:rPr lang="en-US" sz="1300" dirty="0">
                <a:solidFill>
                  <a:srgbClr val="E8EEF8"/>
                </a:solidFill>
              </a:rPr>
              <a:t>English / العربية (RTL)</a:t>
            </a:r>
            <a:endParaRPr lang="en-US" sz="1300" dirty="0"/>
          </a:p>
          <a:p>
            <a:pPr marL="342900" indent="-342900">
              <a:spcAft>
                <a:spcPts val="600"/>
              </a:spcAft>
              <a:buSzPct val="100000"/>
              <a:buChar char="•"/>
            </a:pPr>
            <a:r>
              <a:rPr lang="en-US" sz="1300" dirty="0">
                <a:solidFill>
                  <a:srgbClr val="E8EEF8"/>
                </a:solidFill>
              </a:rPr>
              <a:t>Light &amp; dark themes</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05 · ARCHITECTURE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A layered system you can trace end to end</a:t>
            </a:r>
            <a:endParaRPr lang="en-US" sz="3000" dirty="0"/>
          </a:p>
        </p:txBody>
      </p:sp>
      <p:sp>
        <p:nvSpPr>
          <p:cNvPr id="4" name="layer-0"/>
          <p:cNvSpPr/>
          <p:nvPr/>
        </p:nvSpPr>
        <p:spPr>
          <a:xfrm>
            <a:off x="548640" y="1600200"/>
            <a:ext cx="7680960" cy="1024128"/>
          </a:xfrm>
          <a:prstGeom prst="roundRect">
            <a:avLst>
              <a:gd name="adj" fmla="val 8929"/>
            </a:avLst>
          </a:prstGeom>
          <a:solidFill>
            <a:srgbClr val="0F1A2B"/>
          </a:solidFill>
          <a:ln w="9525">
            <a:solidFill>
              <a:srgbClr val="2A3A55"/>
            </a:solidFill>
            <a:prstDash val="solid"/>
          </a:ln>
        </p:spPr>
      </p:sp>
      <p:sp>
        <p:nvSpPr>
          <p:cNvPr id="5" name="Text 3"/>
          <p:cNvSpPr txBox="1"/>
          <p:nvPr/>
        </p:nvSpPr>
        <p:spPr>
          <a:xfrm>
            <a:off x="731520" y="1673352"/>
            <a:ext cx="5486400" cy="228600"/>
          </a:xfrm>
          <a:prstGeom prst="rect">
            <a:avLst/>
          </a:prstGeom>
          <a:noFill/>
          <a:ln/>
        </p:spPr>
        <p:txBody>
          <a:bodyPr wrap="square" lIns="0" tIns="0" rIns="0" bIns="0" rtlCol="0" anchor="t"/>
          <a:lstStyle/>
          <a:p>
            <a:pPr indent="0" marL="0">
              <a:buNone/>
            </a:pPr>
            <a:r>
              <a:rPr lang="en-US" sz="1000" b="1" spc="100" kern="0" dirty="0">
                <a:solidFill>
                  <a:srgbClr val="70819B"/>
                </a:solidFill>
              </a:rPr>
              <a:t>PRESENTATION · REACT + TYPESCRIPT</a:t>
            </a:r>
            <a:endParaRPr lang="en-US" sz="1000" dirty="0"/>
          </a:p>
        </p:txBody>
      </p:sp>
      <p:sp>
        <p:nvSpPr>
          <p:cNvPr id="6" name="comp-0-0"/>
          <p:cNvSpPr/>
          <p:nvPr/>
        </p:nvSpPr>
        <p:spPr>
          <a:xfrm>
            <a:off x="731520" y="1965960"/>
            <a:ext cx="1725930" cy="530352"/>
          </a:xfrm>
          <a:prstGeom prst="roundRect">
            <a:avLst>
              <a:gd name="adj" fmla="val 10345"/>
            </a:avLst>
          </a:prstGeom>
          <a:solidFill>
            <a:srgbClr val="1D2D49"/>
          </a:solidFill>
          <a:ln w="9525">
            <a:solidFill>
              <a:srgbClr val="2A3A55"/>
            </a:solidFill>
            <a:prstDash val="solid"/>
          </a:ln>
        </p:spPr>
      </p:sp>
      <p:sp>
        <p:nvSpPr>
          <p:cNvPr id="7" name="Text 5"/>
          <p:cNvSpPr txBox="1"/>
          <p:nvPr/>
        </p:nvSpPr>
        <p:spPr>
          <a:xfrm>
            <a:off x="731520" y="1965960"/>
            <a:ext cx="1725930" cy="530352"/>
          </a:xfrm>
          <a:prstGeom prst="rect">
            <a:avLst/>
          </a:prstGeom>
          <a:noFill/>
          <a:ln/>
        </p:spPr>
        <p:txBody>
          <a:bodyPr wrap="square" lIns="0" tIns="0" rIns="0" bIns="0" rtlCol="0" anchor="ctr"/>
          <a:lstStyle/>
          <a:p>
            <a:pPr algn="ctr" indent="0" marL="0">
              <a:buNone/>
            </a:pPr>
            <a:r>
              <a:rPr lang="en-US" sz="1200" b="1" dirty="0">
                <a:solidFill>
                  <a:srgbClr val="E8EEF8"/>
                </a:solidFill>
              </a:rPr>
              <a:t>React SPA</a:t>
            </a:r>
            <a:endParaRPr lang="en-US" sz="1200" dirty="0"/>
          </a:p>
        </p:txBody>
      </p:sp>
      <p:sp>
        <p:nvSpPr>
          <p:cNvPr id="8" name="comp-0-1"/>
          <p:cNvSpPr/>
          <p:nvPr/>
        </p:nvSpPr>
        <p:spPr>
          <a:xfrm>
            <a:off x="2594610" y="1965960"/>
            <a:ext cx="1725930" cy="530352"/>
          </a:xfrm>
          <a:prstGeom prst="roundRect">
            <a:avLst>
              <a:gd name="adj" fmla="val 10345"/>
            </a:avLst>
          </a:prstGeom>
          <a:solidFill>
            <a:srgbClr val="1D2D49"/>
          </a:solidFill>
          <a:ln w="9525">
            <a:solidFill>
              <a:srgbClr val="2A3A55"/>
            </a:solidFill>
            <a:prstDash val="solid"/>
          </a:ln>
        </p:spPr>
      </p:sp>
      <p:sp>
        <p:nvSpPr>
          <p:cNvPr id="9" name="Text 7"/>
          <p:cNvSpPr txBox="1"/>
          <p:nvPr/>
        </p:nvSpPr>
        <p:spPr>
          <a:xfrm>
            <a:off x="2594610" y="1965960"/>
            <a:ext cx="1725930" cy="530352"/>
          </a:xfrm>
          <a:prstGeom prst="rect">
            <a:avLst/>
          </a:prstGeom>
          <a:noFill/>
          <a:ln/>
        </p:spPr>
        <p:txBody>
          <a:bodyPr wrap="square" lIns="0" tIns="0" rIns="0" bIns="0" rtlCol="0" anchor="ctr"/>
          <a:lstStyle/>
          <a:p>
            <a:pPr algn="ctr" indent="0" marL="0">
              <a:buNone/>
            </a:pPr>
            <a:r>
              <a:rPr lang="en-US" sz="1200" b="1" dirty="0">
                <a:solidFill>
                  <a:srgbClr val="E8EEF8"/>
                </a:solidFill>
              </a:rPr>
              <a:t>ECharts dashboards</a:t>
            </a:r>
            <a:endParaRPr lang="en-US" sz="1200" dirty="0"/>
          </a:p>
        </p:txBody>
      </p:sp>
      <p:sp>
        <p:nvSpPr>
          <p:cNvPr id="10" name="comp-0-2"/>
          <p:cNvSpPr/>
          <p:nvPr/>
        </p:nvSpPr>
        <p:spPr>
          <a:xfrm>
            <a:off x="4457700" y="1965960"/>
            <a:ext cx="1725930" cy="530352"/>
          </a:xfrm>
          <a:prstGeom prst="roundRect">
            <a:avLst>
              <a:gd name="adj" fmla="val 10345"/>
            </a:avLst>
          </a:prstGeom>
          <a:solidFill>
            <a:srgbClr val="1D2D49"/>
          </a:solidFill>
          <a:ln w="9525">
            <a:solidFill>
              <a:srgbClr val="2A3A55"/>
            </a:solidFill>
            <a:prstDash val="solid"/>
          </a:ln>
        </p:spPr>
      </p:sp>
      <p:sp>
        <p:nvSpPr>
          <p:cNvPr id="11" name="Text 9"/>
          <p:cNvSpPr txBox="1"/>
          <p:nvPr/>
        </p:nvSpPr>
        <p:spPr>
          <a:xfrm>
            <a:off x="4457700" y="1965960"/>
            <a:ext cx="1725930" cy="530352"/>
          </a:xfrm>
          <a:prstGeom prst="rect">
            <a:avLst/>
          </a:prstGeom>
          <a:noFill/>
          <a:ln/>
        </p:spPr>
        <p:txBody>
          <a:bodyPr wrap="square" lIns="0" tIns="0" rIns="0" bIns="0" rtlCol="0" anchor="ctr"/>
          <a:lstStyle/>
          <a:p>
            <a:pPr algn="ctr" indent="0" marL="0">
              <a:buNone/>
            </a:pPr>
            <a:r>
              <a:rPr lang="en-US" sz="1200" b="1" dirty="0">
                <a:solidFill>
                  <a:srgbClr val="E8EEF8"/>
                </a:solidFill>
              </a:rPr>
              <a:t>AI assistant UI</a:t>
            </a:r>
            <a:endParaRPr lang="en-US" sz="1200" dirty="0"/>
          </a:p>
        </p:txBody>
      </p:sp>
      <p:sp>
        <p:nvSpPr>
          <p:cNvPr id="12" name="comp-0-3"/>
          <p:cNvSpPr/>
          <p:nvPr/>
        </p:nvSpPr>
        <p:spPr>
          <a:xfrm>
            <a:off x="6320790" y="1965960"/>
            <a:ext cx="1725930" cy="530352"/>
          </a:xfrm>
          <a:prstGeom prst="roundRect">
            <a:avLst>
              <a:gd name="adj" fmla="val 10345"/>
            </a:avLst>
          </a:prstGeom>
          <a:solidFill>
            <a:srgbClr val="1D2D49"/>
          </a:solidFill>
          <a:ln w="9525">
            <a:solidFill>
              <a:srgbClr val="2A3A55"/>
            </a:solidFill>
            <a:prstDash val="solid"/>
          </a:ln>
        </p:spPr>
      </p:sp>
      <p:sp>
        <p:nvSpPr>
          <p:cNvPr id="13" name="Text 11"/>
          <p:cNvSpPr txBox="1"/>
          <p:nvPr/>
        </p:nvSpPr>
        <p:spPr>
          <a:xfrm>
            <a:off x="6320790" y="1965960"/>
            <a:ext cx="1725930" cy="530352"/>
          </a:xfrm>
          <a:prstGeom prst="rect">
            <a:avLst/>
          </a:prstGeom>
          <a:noFill/>
          <a:ln/>
        </p:spPr>
        <p:txBody>
          <a:bodyPr wrap="square" lIns="0" tIns="0" rIns="0" bIns="0" rtlCol="0" anchor="ctr"/>
          <a:lstStyle/>
          <a:p>
            <a:pPr algn="ctr" indent="0" marL="0">
              <a:buNone/>
            </a:pPr>
            <a:r>
              <a:rPr lang="en-US" sz="1200" b="1" dirty="0">
                <a:solidFill>
                  <a:srgbClr val="E8EEF8"/>
                </a:solidFill>
              </a:rPr>
              <a:t>SignalR client</a:t>
            </a:r>
            <a:endParaRPr lang="en-US" sz="1200" dirty="0"/>
          </a:p>
        </p:txBody>
      </p:sp>
      <p:sp>
        <p:nvSpPr>
          <p:cNvPr id="14" name="layer-1"/>
          <p:cNvSpPr/>
          <p:nvPr/>
        </p:nvSpPr>
        <p:spPr>
          <a:xfrm>
            <a:off x="548640" y="2770632"/>
            <a:ext cx="7680960" cy="1024128"/>
          </a:xfrm>
          <a:prstGeom prst="roundRect">
            <a:avLst>
              <a:gd name="adj" fmla="val 8929"/>
            </a:avLst>
          </a:prstGeom>
          <a:solidFill>
            <a:srgbClr val="0F1A2B"/>
          </a:solidFill>
          <a:ln w="9525">
            <a:solidFill>
              <a:srgbClr val="2A3A55"/>
            </a:solidFill>
            <a:prstDash val="solid"/>
          </a:ln>
        </p:spPr>
      </p:sp>
      <p:sp>
        <p:nvSpPr>
          <p:cNvPr id="15" name="Text 13"/>
          <p:cNvSpPr txBox="1"/>
          <p:nvPr/>
        </p:nvSpPr>
        <p:spPr>
          <a:xfrm>
            <a:off x="731520" y="2843784"/>
            <a:ext cx="5486400" cy="228600"/>
          </a:xfrm>
          <a:prstGeom prst="rect">
            <a:avLst/>
          </a:prstGeom>
          <a:noFill/>
          <a:ln/>
        </p:spPr>
        <p:txBody>
          <a:bodyPr wrap="square" lIns="0" tIns="0" rIns="0" bIns="0" rtlCol="0" anchor="t"/>
          <a:lstStyle/>
          <a:p>
            <a:pPr indent="0" marL="0">
              <a:buNone/>
            </a:pPr>
            <a:r>
              <a:rPr lang="en-US" sz="1000" b="1" spc="100" kern="0" dirty="0">
                <a:solidFill>
                  <a:srgbClr val="70819B"/>
                </a:solidFill>
              </a:rPr>
              <a:t>API · ASP.NET CORE</a:t>
            </a:r>
            <a:endParaRPr lang="en-US" sz="1000" dirty="0"/>
          </a:p>
        </p:txBody>
      </p:sp>
      <p:sp>
        <p:nvSpPr>
          <p:cNvPr id="16" name="comp-1-0"/>
          <p:cNvSpPr/>
          <p:nvPr/>
        </p:nvSpPr>
        <p:spPr>
          <a:xfrm>
            <a:off x="731520" y="3136392"/>
            <a:ext cx="1353312" cy="530352"/>
          </a:xfrm>
          <a:prstGeom prst="roundRect">
            <a:avLst>
              <a:gd name="adj" fmla="val 10345"/>
            </a:avLst>
          </a:prstGeom>
          <a:solidFill>
            <a:srgbClr val="1D2D49"/>
          </a:solidFill>
          <a:ln w="9525">
            <a:solidFill>
              <a:srgbClr val="2A3A55"/>
            </a:solidFill>
            <a:prstDash val="solid"/>
          </a:ln>
        </p:spPr>
      </p:sp>
      <p:sp>
        <p:nvSpPr>
          <p:cNvPr id="17" name="Text 15"/>
          <p:cNvSpPr txBox="1"/>
          <p:nvPr/>
        </p:nvSpPr>
        <p:spPr>
          <a:xfrm>
            <a:off x="731520" y="3136392"/>
            <a:ext cx="1353312" cy="530352"/>
          </a:xfrm>
          <a:prstGeom prst="rect">
            <a:avLst/>
          </a:prstGeom>
          <a:noFill/>
          <a:ln/>
        </p:spPr>
        <p:txBody>
          <a:bodyPr wrap="square" lIns="0" tIns="0" rIns="0" bIns="0" rtlCol="0" anchor="ctr"/>
          <a:lstStyle/>
          <a:p>
            <a:pPr algn="ctr" indent="0" marL="0">
              <a:buNone/>
            </a:pPr>
            <a:r>
              <a:rPr lang="en-US" sz="1200" b="1" dirty="0">
                <a:solidFill>
                  <a:srgbClr val="E8EEF8"/>
                </a:solidFill>
              </a:rPr>
              <a:t>JWT + RBAC</a:t>
            </a:r>
            <a:endParaRPr lang="en-US" sz="1200" dirty="0"/>
          </a:p>
        </p:txBody>
      </p:sp>
      <p:sp>
        <p:nvSpPr>
          <p:cNvPr id="18" name="comp-1-1"/>
          <p:cNvSpPr/>
          <p:nvPr/>
        </p:nvSpPr>
        <p:spPr>
          <a:xfrm>
            <a:off x="2221992" y="3136392"/>
            <a:ext cx="1353312" cy="530352"/>
          </a:xfrm>
          <a:prstGeom prst="roundRect">
            <a:avLst>
              <a:gd name="adj" fmla="val 10345"/>
            </a:avLst>
          </a:prstGeom>
          <a:solidFill>
            <a:srgbClr val="1D2D49"/>
          </a:solidFill>
          <a:ln w="9525">
            <a:solidFill>
              <a:srgbClr val="2A3A55"/>
            </a:solidFill>
            <a:prstDash val="solid"/>
          </a:ln>
        </p:spPr>
      </p:sp>
      <p:sp>
        <p:nvSpPr>
          <p:cNvPr id="19" name="Text 17"/>
          <p:cNvSpPr txBox="1"/>
          <p:nvPr/>
        </p:nvSpPr>
        <p:spPr>
          <a:xfrm>
            <a:off x="2221992" y="3136392"/>
            <a:ext cx="1353312" cy="530352"/>
          </a:xfrm>
          <a:prstGeom prst="rect">
            <a:avLst/>
          </a:prstGeom>
          <a:noFill/>
          <a:ln/>
        </p:spPr>
        <p:txBody>
          <a:bodyPr wrap="square" lIns="0" tIns="0" rIns="0" bIns="0" rtlCol="0" anchor="ctr"/>
          <a:lstStyle/>
          <a:p>
            <a:pPr algn="ctr" indent="0" marL="0">
              <a:buNone/>
            </a:pPr>
            <a:r>
              <a:rPr lang="en-US" sz="1200" b="1" dirty="0">
                <a:solidFill>
                  <a:srgbClr val="E8EEF8"/>
                </a:solidFill>
              </a:rPr>
              <a:t>PMO controllers</a:t>
            </a:r>
            <a:endParaRPr lang="en-US" sz="1200" dirty="0"/>
          </a:p>
        </p:txBody>
      </p:sp>
      <p:sp>
        <p:nvSpPr>
          <p:cNvPr id="20" name="comp-1-2"/>
          <p:cNvSpPr/>
          <p:nvPr/>
        </p:nvSpPr>
        <p:spPr>
          <a:xfrm>
            <a:off x="3712464" y="3136392"/>
            <a:ext cx="1353312" cy="530352"/>
          </a:xfrm>
          <a:prstGeom prst="roundRect">
            <a:avLst>
              <a:gd name="adj" fmla="val 10345"/>
            </a:avLst>
          </a:prstGeom>
          <a:solidFill>
            <a:srgbClr val="1D2D49"/>
          </a:solidFill>
          <a:ln w="9525">
            <a:solidFill>
              <a:srgbClr val="2A3A55"/>
            </a:solidFill>
            <a:prstDash val="solid"/>
          </a:ln>
        </p:spPr>
      </p:sp>
      <p:sp>
        <p:nvSpPr>
          <p:cNvPr id="21" name="Text 19"/>
          <p:cNvSpPr txBox="1"/>
          <p:nvPr/>
        </p:nvSpPr>
        <p:spPr>
          <a:xfrm>
            <a:off x="3712464" y="3136392"/>
            <a:ext cx="1353312" cy="530352"/>
          </a:xfrm>
          <a:prstGeom prst="rect">
            <a:avLst/>
          </a:prstGeom>
          <a:noFill/>
          <a:ln/>
        </p:spPr>
        <p:txBody>
          <a:bodyPr wrap="square" lIns="0" tIns="0" rIns="0" bIns="0" rtlCol="0" anchor="ctr"/>
          <a:lstStyle/>
          <a:p>
            <a:pPr algn="ctr" indent="0" marL="0">
              <a:buNone/>
            </a:pPr>
            <a:r>
              <a:rPr lang="en-US" sz="1200" b="1" dirty="0">
                <a:solidFill>
                  <a:srgbClr val="E8EEF8"/>
                </a:solidFill>
              </a:rPr>
              <a:t>Automation jobs</a:t>
            </a:r>
            <a:endParaRPr lang="en-US" sz="1200" dirty="0"/>
          </a:p>
        </p:txBody>
      </p:sp>
      <p:sp>
        <p:nvSpPr>
          <p:cNvPr id="22" name="comp-1-3"/>
          <p:cNvSpPr/>
          <p:nvPr/>
        </p:nvSpPr>
        <p:spPr>
          <a:xfrm>
            <a:off x="5202936" y="3136392"/>
            <a:ext cx="1353312" cy="530352"/>
          </a:xfrm>
          <a:prstGeom prst="roundRect">
            <a:avLst>
              <a:gd name="adj" fmla="val 10345"/>
            </a:avLst>
          </a:prstGeom>
          <a:solidFill>
            <a:srgbClr val="1D2D49"/>
          </a:solidFill>
          <a:ln w="9525">
            <a:solidFill>
              <a:srgbClr val="2A3A55"/>
            </a:solidFill>
            <a:prstDash val="solid"/>
          </a:ln>
        </p:spPr>
      </p:sp>
      <p:sp>
        <p:nvSpPr>
          <p:cNvPr id="23" name="Text 21"/>
          <p:cNvSpPr txBox="1"/>
          <p:nvPr/>
        </p:nvSpPr>
        <p:spPr>
          <a:xfrm>
            <a:off x="5202936" y="3136392"/>
            <a:ext cx="1353312" cy="530352"/>
          </a:xfrm>
          <a:prstGeom prst="rect">
            <a:avLst/>
          </a:prstGeom>
          <a:noFill/>
          <a:ln/>
        </p:spPr>
        <p:txBody>
          <a:bodyPr wrap="square" lIns="0" tIns="0" rIns="0" bIns="0" rtlCol="0" anchor="ctr"/>
          <a:lstStyle/>
          <a:p>
            <a:pPr algn="ctr" indent="0" marL="0">
              <a:buNone/>
            </a:pPr>
            <a:r>
              <a:rPr lang="en-US" sz="1200" b="1" dirty="0">
                <a:solidFill>
                  <a:srgbClr val="E8EEF8"/>
                </a:solidFill>
              </a:rPr>
              <a:t>SignalR hub</a:t>
            </a:r>
            <a:endParaRPr lang="en-US" sz="1200" dirty="0"/>
          </a:p>
        </p:txBody>
      </p:sp>
      <p:sp>
        <p:nvSpPr>
          <p:cNvPr id="24" name="comp-1-4"/>
          <p:cNvSpPr/>
          <p:nvPr/>
        </p:nvSpPr>
        <p:spPr>
          <a:xfrm>
            <a:off x="6693408" y="3136392"/>
            <a:ext cx="1353312" cy="530352"/>
          </a:xfrm>
          <a:prstGeom prst="roundRect">
            <a:avLst>
              <a:gd name="adj" fmla="val 10345"/>
            </a:avLst>
          </a:prstGeom>
          <a:solidFill>
            <a:srgbClr val="2A2550"/>
          </a:solidFill>
          <a:ln w="9525">
            <a:solidFill>
              <a:srgbClr val="2A3A55"/>
            </a:solidFill>
            <a:prstDash val="solid"/>
          </a:ln>
        </p:spPr>
      </p:sp>
      <p:sp>
        <p:nvSpPr>
          <p:cNvPr id="25" name="Text 23"/>
          <p:cNvSpPr txBox="1"/>
          <p:nvPr/>
        </p:nvSpPr>
        <p:spPr>
          <a:xfrm>
            <a:off x="6693408" y="3136392"/>
            <a:ext cx="1353312" cy="530352"/>
          </a:xfrm>
          <a:prstGeom prst="rect">
            <a:avLst/>
          </a:prstGeom>
          <a:noFill/>
          <a:ln/>
        </p:spPr>
        <p:txBody>
          <a:bodyPr wrap="square" lIns="0" tIns="0" rIns="0" bIns="0" rtlCol="0" anchor="ctr"/>
          <a:lstStyle/>
          <a:p>
            <a:pPr algn="ctr" indent="0" marL="0">
              <a:buNone/>
            </a:pPr>
            <a:r>
              <a:rPr lang="en-US" sz="1200" b="1" dirty="0">
                <a:solidFill>
                  <a:srgbClr val="E8EEF8"/>
                </a:solidFill>
              </a:rPr>
              <a:t>AI gateway</a:t>
            </a:r>
            <a:endParaRPr lang="en-US" sz="1200" dirty="0"/>
          </a:p>
        </p:txBody>
      </p:sp>
      <p:sp>
        <p:nvSpPr>
          <p:cNvPr id="26" name="layer-2"/>
          <p:cNvSpPr/>
          <p:nvPr/>
        </p:nvSpPr>
        <p:spPr>
          <a:xfrm>
            <a:off x="548640" y="3941064"/>
            <a:ext cx="7680960" cy="1024128"/>
          </a:xfrm>
          <a:prstGeom prst="roundRect">
            <a:avLst>
              <a:gd name="adj" fmla="val 8929"/>
            </a:avLst>
          </a:prstGeom>
          <a:solidFill>
            <a:srgbClr val="0F1A2B"/>
          </a:solidFill>
          <a:ln w="9525">
            <a:solidFill>
              <a:srgbClr val="2A3A55"/>
            </a:solidFill>
            <a:prstDash val="solid"/>
          </a:ln>
        </p:spPr>
      </p:sp>
      <p:sp>
        <p:nvSpPr>
          <p:cNvPr id="27" name="Text 25"/>
          <p:cNvSpPr txBox="1"/>
          <p:nvPr/>
        </p:nvSpPr>
        <p:spPr>
          <a:xfrm>
            <a:off x="731520" y="4014216"/>
            <a:ext cx="5486400" cy="228600"/>
          </a:xfrm>
          <a:prstGeom prst="rect">
            <a:avLst/>
          </a:prstGeom>
          <a:noFill/>
          <a:ln/>
        </p:spPr>
        <p:txBody>
          <a:bodyPr wrap="square" lIns="0" tIns="0" rIns="0" bIns="0" rtlCol="0" anchor="t"/>
          <a:lstStyle/>
          <a:p>
            <a:pPr indent="0" marL="0">
              <a:buNone/>
            </a:pPr>
            <a:r>
              <a:rPr lang="en-US" sz="1000" b="1" spc="100" kern="0" dirty="0">
                <a:solidFill>
                  <a:srgbClr val="70819B"/>
                </a:solidFill>
              </a:rPr>
              <a:t>DATA · SQL SERVER</a:t>
            </a:r>
            <a:endParaRPr lang="en-US" sz="1000" dirty="0"/>
          </a:p>
        </p:txBody>
      </p:sp>
      <p:sp>
        <p:nvSpPr>
          <p:cNvPr id="28" name="comp-2-0"/>
          <p:cNvSpPr/>
          <p:nvPr/>
        </p:nvSpPr>
        <p:spPr>
          <a:xfrm>
            <a:off x="731520" y="4306824"/>
            <a:ext cx="2346960" cy="530352"/>
          </a:xfrm>
          <a:prstGeom prst="roundRect">
            <a:avLst>
              <a:gd name="adj" fmla="val 10345"/>
            </a:avLst>
          </a:prstGeom>
          <a:solidFill>
            <a:srgbClr val="1D2D49"/>
          </a:solidFill>
          <a:ln w="9525">
            <a:solidFill>
              <a:srgbClr val="2A3A55"/>
            </a:solidFill>
            <a:prstDash val="solid"/>
          </a:ln>
        </p:spPr>
      </p:sp>
      <p:sp>
        <p:nvSpPr>
          <p:cNvPr id="29" name="Text 27"/>
          <p:cNvSpPr txBox="1"/>
          <p:nvPr/>
        </p:nvSpPr>
        <p:spPr>
          <a:xfrm>
            <a:off x="731520" y="4306824"/>
            <a:ext cx="2346960" cy="530352"/>
          </a:xfrm>
          <a:prstGeom prst="rect">
            <a:avLst/>
          </a:prstGeom>
          <a:noFill/>
          <a:ln/>
        </p:spPr>
        <p:txBody>
          <a:bodyPr wrap="square" lIns="0" tIns="0" rIns="0" bIns="0" rtlCol="0" anchor="ctr"/>
          <a:lstStyle/>
          <a:p>
            <a:pPr algn="ctr" indent="0" marL="0">
              <a:buNone/>
            </a:pPr>
            <a:r>
              <a:rPr lang="en-US" sz="1200" b="1" dirty="0">
                <a:solidFill>
                  <a:srgbClr val="E8EEF8"/>
                </a:solidFill>
              </a:rPr>
              <a:t>PMO schema</a:t>
            </a:r>
            <a:endParaRPr lang="en-US" sz="1200" dirty="0"/>
          </a:p>
        </p:txBody>
      </p:sp>
      <p:sp>
        <p:nvSpPr>
          <p:cNvPr id="30" name="comp-2-1"/>
          <p:cNvSpPr/>
          <p:nvPr/>
        </p:nvSpPr>
        <p:spPr>
          <a:xfrm>
            <a:off x="3215640" y="4306824"/>
            <a:ext cx="2346960" cy="530352"/>
          </a:xfrm>
          <a:prstGeom prst="roundRect">
            <a:avLst>
              <a:gd name="adj" fmla="val 10345"/>
            </a:avLst>
          </a:prstGeom>
          <a:solidFill>
            <a:srgbClr val="1D2D49"/>
          </a:solidFill>
          <a:ln w="9525">
            <a:solidFill>
              <a:srgbClr val="2A3A55"/>
            </a:solidFill>
            <a:prstDash val="solid"/>
          </a:ln>
        </p:spPr>
      </p:sp>
      <p:sp>
        <p:nvSpPr>
          <p:cNvPr id="31" name="Text 29"/>
          <p:cNvSpPr txBox="1"/>
          <p:nvPr/>
        </p:nvSpPr>
        <p:spPr>
          <a:xfrm>
            <a:off x="3215640" y="4306824"/>
            <a:ext cx="2346960" cy="530352"/>
          </a:xfrm>
          <a:prstGeom prst="rect">
            <a:avLst/>
          </a:prstGeom>
          <a:noFill/>
          <a:ln/>
        </p:spPr>
        <p:txBody>
          <a:bodyPr wrap="square" lIns="0" tIns="0" rIns="0" bIns="0" rtlCol="0" anchor="ctr"/>
          <a:lstStyle/>
          <a:p>
            <a:pPr algn="ctr" indent="0" marL="0">
              <a:buNone/>
            </a:pPr>
            <a:r>
              <a:rPr lang="en-US" sz="1200" b="1" dirty="0">
                <a:solidFill>
                  <a:srgbClr val="E8EEF8"/>
                </a:solidFill>
              </a:rPr>
              <a:t>Audit &amp; outbox</a:t>
            </a:r>
            <a:endParaRPr lang="en-US" sz="1200" dirty="0"/>
          </a:p>
        </p:txBody>
      </p:sp>
      <p:sp>
        <p:nvSpPr>
          <p:cNvPr id="32" name="comp-2-2"/>
          <p:cNvSpPr/>
          <p:nvPr/>
        </p:nvSpPr>
        <p:spPr>
          <a:xfrm>
            <a:off x="5699760" y="4306824"/>
            <a:ext cx="2346960" cy="530352"/>
          </a:xfrm>
          <a:prstGeom prst="roundRect">
            <a:avLst>
              <a:gd name="adj" fmla="val 10345"/>
            </a:avLst>
          </a:prstGeom>
          <a:solidFill>
            <a:srgbClr val="1D2D49"/>
          </a:solidFill>
          <a:ln w="9525">
            <a:solidFill>
              <a:srgbClr val="2A3A55"/>
            </a:solidFill>
            <a:prstDash val="solid"/>
          </a:ln>
        </p:spPr>
      </p:sp>
      <p:sp>
        <p:nvSpPr>
          <p:cNvPr id="33" name="Text 31"/>
          <p:cNvSpPr txBox="1"/>
          <p:nvPr/>
        </p:nvSpPr>
        <p:spPr>
          <a:xfrm>
            <a:off x="5699760" y="4306824"/>
            <a:ext cx="2346960" cy="530352"/>
          </a:xfrm>
          <a:prstGeom prst="rect">
            <a:avLst/>
          </a:prstGeom>
          <a:noFill/>
          <a:ln/>
        </p:spPr>
        <p:txBody>
          <a:bodyPr wrap="square" lIns="0" tIns="0" rIns="0" bIns="0" rtlCol="0" anchor="ctr"/>
          <a:lstStyle/>
          <a:p>
            <a:pPr algn="ctr" indent="0" marL="0">
              <a:buNone/>
            </a:pPr>
            <a:r>
              <a:rPr lang="en-US" sz="1200" b="1" dirty="0">
                <a:solidFill>
                  <a:srgbClr val="E8EEF8"/>
                </a:solidFill>
              </a:rPr>
              <a:t>Identity &amp; config</a:t>
            </a:r>
            <a:endParaRPr lang="en-US" sz="1200" dirty="0"/>
          </a:p>
        </p:txBody>
      </p:sp>
      <p:sp>
        <p:nvSpPr>
          <p:cNvPr id="34" name="layer-3"/>
          <p:cNvSpPr/>
          <p:nvPr/>
        </p:nvSpPr>
        <p:spPr>
          <a:xfrm>
            <a:off x="548640" y="5111496"/>
            <a:ext cx="7680960" cy="1024128"/>
          </a:xfrm>
          <a:prstGeom prst="roundRect">
            <a:avLst>
              <a:gd name="adj" fmla="val 8929"/>
            </a:avLst>
          </a:prstGeom>
          <a:solidFill>
            <a:srgbClr val="0F1A2B"/>
          </a:solidFill>
          <a:ln w="9525">
            <a:solidFill>
              <a:srgbClr val="2A3A55"/>
            </a:solidFill>
            <a:prstDash val="solid"/>
          </a:ln>
        </p:spPr>
      </p:sp>
      <p:sp>
        <p:nvSpPr>
          <p:cNvPr id="35" name="Text 33"/>
          <p:cNvSpPr txBox="1"/>
          <p:nvPr/>
        </p:nvSpPr>
        <p:spPr>
          <a:xfrm>
            <a:off x="731520" y="5184648"/>
            <a:ext cx="5486400" cy="228600"/>
          </a:xfrm>
          <a:prstGeom prst="rect">
            <a:avLst/>
          </a:prstGeom>
          <a:noFill/>
          <a:ln/>
        </p:spPr>
        <p:txBody>
          <a:bodyPr wrap="square" lIns="0" tIns="0" rIns="0" bIns="0" rtlCol="0" anchor="t"/>
          <a:lstStyle/>
          <a:p>
            <a:pPr indent="0" marL="0">
              <a:buNone/>
            </a:pPr>
            <a:r>
              <a:rPr lang="en-US" sz="1000" b="1" spc="100" kern="0" dirty="0">
                <a:solidFill>
                  <a:srgbClr val="70819B"/>
                </a:solidFill>
              </a:rPr>
              <a:t>EXTERNAL SERVICES</a:t>
            </a:r>
            <a:endParaRPr lang="en-US" sz="1000" dirty="0"/>
          </a:p>
        </p:txBody>
      </p:sp>
      <p:sp>
        <p:nvSpPr>
          <p:cNvPr id="36" name="comp-3-0"/>
          <p:cNvSpPr/>
          <p:nvPr/>
        </p:nvSpPr>
        <p:spPr>
          <a:xfrm>
            <a:off x="731520" y="5477256"/>
            <a:ext cx="3589020" cy="530352"/>
          </a:xfrm>
          <a:prstGeom prst="roundRect">
            <a:avLst>
              <a:gd name="adj" fmla="val 10345"/>
            </a:avLst>
          </a:prstGeom>
          <a:solidFill>
            <a:srgbClr val="2A2550"/>
          </a:solidFill>
          <a:ln w="9525">
            <a:solidFill>
              <a:srgbClr val="2A3A55"/>
            </a:solidFill>
            <a:prstDash val="solid"/>
          </a:ln>
        </p:spPr>
      </p:sp>
      <p:sp>
        <p:nvSpPr>
          <p:cNvPr id="37" name="Text 35"/>
          <p:cNvSpPr txBox="1"/>
          <p:nvPr/>
        </p:nvSpPr>
        <p:spPr>
          <a:xfrm>
            <a:off x="731520" y="5477256"/>
            <a:ext cx="3589020" cy="530352"/>
          </a:xfrm>
          <a:prstGeom prst="rect">
            <a:avLst/>
          </a:prstGeom>
          <a:noFill/>
          <a:ln/>
        </p:spPr>
        <p:txBody>
          <a:bodyPr wrap="square" lIns="0" tIns="0" rIns="0" bIns="0" rtlCol="0" anchor="ctr"/>
          <a:lstStyle/>
          <a:p>
            <a:pPr algn="ctr" indent="0" marL="0">
              <a:buNone/>
            </a:pPr>
            <a:r>
              <a:rPr lang="en-US" sz="1200" b="1" dirty="0">
                <a:solidFill>
                  <a:srgbClr val="E8EEF8"/>
                </a:solidFill>
              </a:rPr>
              <a:t>12 LLM providers (ordered failover)</a:t>
            </a:r>
            <a:endParaRPr lang="en-US" sz="1200" dirty="0"/>
          </a:p>
        </p:txBody>
      </p:sp>
      <p:sp>
        <p:nvSpPr>
          <p:cNvPr id="38" name="comp-3-1"/>
          <p:cNvSpPr/>
          <p:nvPr/>
        </p:nvSpPr>
        <p:spPr>
          <a:xfrm>
            <a:off x="4457700" y="5477256"/>
            <a:ext cx="3589020" cy="530352"/>
          </a:xfrm>
          <a:prstGeom prst="roundRect">
            <a:avLst>
              <a:gd name="adj" fmla="val 10345"/>
            </a:avLst>
          </a:prstGeom>
          <a:solidFill>
            <a:srgbClr val="1D2D49"/>
          </a:solidFill>
          <a:ln w="9525">
            <a:solidFill>
              <a:srgbClr val="2A3A55"/>
            </a:solidFill>
            <a:prstDash val="solid"/>
          </a:ln>
        </p:spPr>
      </p:sp>
      <p:sp>
        <p:nvSpPr>
          <p:cNvPr id="39" name="Text 37"/>
          <p:cNvSpPr txBox="1"/>
          <p:nvPr/>
        </p:nvSpPr>
        <p:spPr>
          <a:xfrm>
            <a:off x="4457700" y="5477256"/>
            <a:ext cx="3589020" cy="530352"/>
          </a:xfrm>
          <a:prstGeom prst="rect">
            <a:avLst/>
          </a:prstGeom>
          <a:noFill/>
          <a:ln/>
        </p:spPr>
        <p:txBody>
          <a:bodyPr wrap="square" lIns="0" tIns="0" rIns="0" bIns="0" rtlCol="0" anchor="ctr"/>
          <a:lstStyle/>
          <a:p>
            <a:pPr algn="ctr" indent="0" marL="0">
              <a:buNone/>
            </a:pPr>
            <a:r>
              <a:rPr lang="en-US" sz="1200" b="1" dirty="0">
                <a:solidFill>
                  <a:srgbClr val="E8EEF8"/>
                </a:solidFill>
              </a:rPr>
              <a:t>SSO · ERP cost feed (phase 1)</a:t>
            </a:r>
            <a:endParaRPr lang="en-US" sz="1200" dirty="0"/>
          </a:p>
        </p:txBody>
      </p:sp>
      <p:sp>
        <p:nvSpPr>
          <p:cNvPr id="40" name="trace"/>
          <p:cNvSpPr/>
          <p:nvPr/>
        </p:nvSpPr>
        <p:spPr>
          <a:xfrm>
            <a:off x="8503920" y="1600200"/>
            <a:ext cx="3108960" cy="4526280"/>
          </a:xfrm>
          <a:prstGeom prst="roundRect">
            <a:avLst>
              <a:gd name="adj" fmla="val 3529"/>
            </a:avLst>
          </a:prstGeom>
          <a:solidFill>
            <a:srgbClr val="16233A"/>
          </a:solidFill>
          <a:ln w="9525">
            <a:solidFill>
              <a:srgbClr val="2A3A55"/>
            </a:solidFill>
            <a:prstDash val="solid"/>
          </a:ln>
        </p:spPr>
      </p:sp>
      <p:sp>
        <p:nvSpPr>
          <p:cNvPr id="41" name="Text 39"/>
          <p:cNvSpPr txBox="1"/>
          <p:nvPr/>
        </p:nvSpPr>
        <p:spPr>
          <a:xfrm>
            <a:off x="8686800" y="1783080"/>
            <a:ext cx="2743200" cy="320040"/>
          </a:xfrm>
          <a:prstGeom prst="rect">
            <a:avLst/>
          </a:prstGeom>
          <a:noFill/>
          <a:ln/>
        </p:spPr>
        <p:txBody>
          <a:bodyPr wrap="square" lIns="0" tIns="0" rIns="0" bIns="0" rtlCol="0" anchor="t"/>
          <a:lstStyle/>
          <a:p>
            <a:pPr indent="0" marL="0">
              <a:buNone/>
            </a:pPr>
            <a:r>
              <a:rPr lang="en-US" sz="1400" b="1" dirty="0">
                <a:solidFill>
                  <a:srgbClr val="F5B342"/>
                </a:solidFill>
              </a:rPr>
              <a:t>Trace: approve a change request</a:t>
            </a:r>
            <a:endParaRPr lang="en-US" sz="1400" dirty="0"/>
          </a:p>
        </p:txBody>
      </p:sp>
      <p:sp>
        <p:nvSpPr>
          <p:cNvPr id="42" name="step-0"/>
          <p:cNvSpPr/>
          <p:nvPr/>
        </p:nvSpPr>
        <p:spPr>
          <a:xfrm>
            <a:off x="8686800" y="2286000"/>
            <a:ext cx="329184" cy="329184"/>
          </a:xfrm>
          <a:prstGeom prst="ellipse">
            <a:avLst/>
          </a:prstGeom>
          <a:solidFill>
            <a:srgbClr val="0A111D"/>
          </a:solidFill>
          <a:ln w="12700">
            <a:solidFill>
              <a:srgbClr val="F5B342"/>
            </a:solidFill>
            <a:prstDash val="solid"/>
          </a:ln>
        </p:spPr>
      </p:sp>
      <p:sp>
        <p:nvSpPr>
          <p:cNvPr id="43" name="Text 41"/>
          <p:cNvSpPr txBox="1"/>
          <p:nvPr/>
        </p:nvSpPr>
        <p:spPr>
          <a:xfrm>
            <a:off x="8686800" y="2340864"/>
            <a:ext cx="329184" cy="219456"/>
          </a:xfrm>
          <a:prstGeom prst="rect">
            <a:avLst/>
          </a:prstGeom>
          <a:noFill/>
          <a:ln/>
        </p:spPr>
        <p:txBody>
          <a:bodyPr wrap="square" lIns="0" tIns="0" rIns="0" bIns="0" rtlCol="0" anchor="t"/>
          <a:lstStyle/>
          <a:p>
            <a:pPr algn="ctr" indent="0" marL="0">
              <a:buNone/>
            </a:pPr>
            <a:r>
              <a:rPr lang="en-US" sz="1100" b="1" dirty="0">
                <a:solidFill>
                  <a:srgbClr val="F5B342"/>
                </a:solidFill>
              </a:rPr>
              <a:t>1</a:t>
            </a:r>
            <a:endParaRPr lang="en-US" sz="1100" dirty="0"/>
          </a:p>
        </p:txBody>
      </p:sp>
      <p:sp>
        <p:nvSpPr>
          <p:cNvPr id="44" name="Text 42"/>
          <p:cNvSpPr txBox="1"/>
          <p:nvPr/>
        </p:nvSpPr>
        <p:spPr>
          <a:xfrm>
            <a:off x="9144000" y="2267712"/>
            <a:ext cx="2331720" cy="640080"/>
          </a:xfrm>
          <a:prstGeom prst="rect">
            <a:avLst/>
          </a:prstGeom>
          <a:noFill/>
          <a:ln/>
        </p:spPr>
        <p:txBody>
          <a:bodyPr wrap="square" lIns="0" tIns="0" rIns="0" bIns="0" rtlCol="0" anchor="t"/>
          <a:lstStyle/>
          <a:p>
            <a:pPr indent="0" marL="0">
              <a:buNone/>
            </a:pPr>
            <a:r>
              <a:rPr lang="en-US" sz="1200" dirty="0">
                <a:solidFill>
                  <a:srgbClr val="A7B6CC"/>
                </a:solidFill>
              </a:rPr>
              <a:t>Sponsor clicks Approve with a reason</a:t>
            </a:r>
            <a:endParaRPr lang="en-US" sz="1200" dirty="0"/>
          </a:p>
        </p:txBody>
      </p:sp>
      <p:sp>
        <p:nvSpPr>
          <p:cNvPr id="45" name="step-1"/>
          <p:cNvSpPr/>
          <p:nvPr/>
        </p:nvSpPr>
        <p:spPr>
          <a:xfrm>
            <a:off x="8686800" y="3017520"/>
            <a:ext cx="329184" cy="329184"/>
          </a:xfrm>
          <a:prstGeom prst="ellipse">
            <a:avLst/>
          </a:prstGeom>
          <a:solidFill>
            <a:srgbClr val="0A111D"/>
          </a:solidFill>
          <a:ln w="12700">
            <a:solidFill>
              <a:srgbClr val="F5B342"/>
            </a:solidFill>
            <a:prstDash val="solid"/>
          </a:ln>
        </p:spPr>
      </p:sp>
      <p:sp>
        <p:nvSpPr>
          <p:cNvPr id="46" name="Text 44"/>
          <p:cNvSpPr txBox="1"/>
          <p:nvPr/>
        </p:nvSpPr>
        <p:spPr>
          <a:xfrm>
            <a:off x="8686800" y="3072384"/>
            <a:ext cx="329184" cy="219456"/>
          </a:xfrm>
          <a:prstGeom prst="rect">
            <a:avLst/>
          </a:prstGeom>
          <a:noFill/>
          <a:ln/>
        </p:spPr>
        <p:txBody>
          <a:bodyPr wrap="square" lIns="0" tIns="0" rIns="0" bIns="0" rtlCol="0" anchor="t"/>
          <a:lstStyle/>
          <a:p>
            <a:pPr algn="ctr" indent="0" marL="0">
              <a:buNone/>
            </a:pPr>
            <a:r>
              <a:rPr lang="en-US" sz="1100" b="1" dirty="0">
                <a:solidFill>
                  <a:srgbClr val="F5B342"/>
                </a:solidFill>
              </a:rPr>
              <a:t>2</a:t>
            </a:r>
            <a:endParaRPr lang="en-US" sz="1100" dirty="0"/>
          </a:p>
        </p:txBody>
      </p:sp>
      <p:sp>
        <p:nvSpPr>
          <p:cNvPr id="47" name="Text 45"/>
          <p:cNvSpPr txBox="1"/>
          <p:nvPr/>
        </p:nvSpPr>
        <p:spPr>
          <a:xfrm>
            <a:off x="9144000" y="2999232"/>
            <a:ext cx="2331720" cy="640080"/>
          </a:xfrm>
          <a:prstGeom prst="rect">
            <a:avLst/>
          </a:prstGeom>
          <a:noFill/>
          <a:ln/>
        </p:spPr>
        <p:txBody>
          <a:bodyPr wrap="square" lIns="0" tIns="0" rIns="0" bIns="0" rtlCol="0" anchor="t"/>
          <a:lstStyle/>
          <a:p>
            <a:pPr indent="0" marL="0">
              <a:buNone/>
            </a:pPr>
            <a:r>
              <a:rPr lang="en-US" sz="1200" dirty="0">
                <a:solidFill>
                  <a:srgbClr val="A7B6CC"/>
                </a:solidFill>
              </a:rPr>
              <a:t>JWT validated; decision permission checked</a:t>
            </a:r>
            <a:endParaRPr lang="en-US" sz="1200" dirty="0"/>
          </a:p>
        </p:txBody>
      </p:sp>
      <p:sp>
        <p:nvSpPr>
          <p:cNvPr id="48" name="step-2"/>
          <p:cNvSpPr/>
          <p:nvPr/>
        </p:nvSpPr>
        <p:spPr>
          <a:xfrm>
            <a:off x="8686800" y="3749040"/>
            <a:ext cx="329184" cy="329184"/>
          </a:xfrm>
          <a:prstGeom prst="ellipse">
            <a:avLst/>
          </a:prstGeom>
          <a:solidFill>
            <a:srgbClr val="0A111D"/>
          </a:solidFill>
          <a:ln w="12700">
            <a:solidFill>
              <a:srgbClr val="F5B342"/>
            </a:solidFill>
            <a:prstDash val="solid"/>
          </a:ln>
        </p:spPr>
      </p:sp>
      <p:sp>
        <p:nvSpPr>
          <p:cNvPr id="49" name="Text 47"/>
          <p:cNvSpPr txBox="1"/>
          <p:nvPr/>
        </p:nvSpPr>
        <p:spPr>
          <a:xfrm>
            <a:off x="8686800" y="3803904"/>
            <a:ext cx="329184" cy="219456"/>
          </a:xfrm>
          <a:prstGeom prst="rect">
            <a:avLst/>
          </a:prstGeom>
          <a:noFill/>
          <a:ln/>
        </p:spPr>
        <p:txBody>
          <a:bodyPr wrap="square" lIns="0" tIns="0" rIns="0" bIns="0" rtlCol="0" anchor="t"/>
          <a:lstStyle/>
          <a:p>
            <a:pPr algn="ctr" indent="0" marL="0">
              <a:buNone/>
            </a:pPr>
            <a:r>
              <a:rPr lang="en-US" sz="1100" b="1" dirty="0">
                <a:solidFill>
                  <a:srgbClr val="F5B342"/>
                </a:solidFill>
              </a:rPr>
              <a:t>3</a:t>
            </a:r>
            <a:endParaRPr lang="en-US" sz="1100" dirty="0"/>
          </a:p>
        </p:txBody>
      </p:sp>
      <p:sp>
        <p:nvSpPr>
          <p:cNvPr id="50" name="Text 48"/>
          <p:cNvSpPr txBox="1"/>
          <p:nvPr/>
        </p:nvSpPr>
        <p:spPr>
          <a:xfrm>
            <a:off x="9144000" y="3730752"/>
            <a:ext cx="2331720" cy="640080"/>
          </a:xfrm>
          <a:prstGeom prst="rect">
            <a:avLst/>
          </a:prstGeom>
          <a:noFill/>
          <a:ln/>
        </p:spPr>
        <p:txBody>
          <a:bodyPr wrap="square" lIns="0" tIns="0" rIns="0" bIns="0" rtlCol="0" anchor="t"/>
          <a:lstStyle/>
          <a:p>
            <a:pPr indent="0" marL="0">
              <a:buNone/>
            </a:pPr>
            <a:r>
              <a:rPr lang="en-US" sz="1200" dirty="0">
                <a:solidFill>
                  <a:srgbClr val="A7B6CC"/>
                </a:solidFill>
              </a:rPr>
              <a:t>Status + history written; budget revision raised</a:t>
            </a:r>
            <a:endParaRPr lang="en-US" sz="1200" dirty="0"/>
          </a:p>
        </p:txBody>
      </p:sp>
      <p:sp>
        <p:nvSpPr>
          <p:cNvPr id="51" name="step-3"/>
          <p:cNvSpPr/>
          <p:nvPr/>
        </p:nvSpPr>
        <p:spPr>
          <a:xfrm>
            <a:off x="8686800" y="4480560"/>
            <a:ext cx="329184" cy="329184"/>
          </a:xfrm>
          <a:prstGeom prst="ellipse">
            <a:avLst/>
          </a:prstGeom>
          <a:solidFill>
            <a:srgbClr val="0A111D"/>
          </a:solidFill>
          <a:ln w="12700">
            <a:solidFill>
              <a:srgbClr val="F5B342"/>
            </a:solidFill>
            <a:prstDash val="solid"/>
          </a:ln>
        </p:spPr>
      </p:sp>
      <p:sp>
        <p:nvSpPr>
          <p:cNvPr id="52" name="Text 50"/>
          <p:cNvSpPr txBox="1"/>
          <p:nvPr/>
        </p:nvSpPr>
        <p:spPr>
          <a:xfrm>
            <a:off x="8686800" y="4535424"/>
            <a:ext cx="329184" cy="219456"/>
          </a:xfrm>
          <a:prstGeom prst="rect">
            <a:avLst/>
          </a:prstGeom>
          <a:noFill/>
          <a:ln/>
        </p:spPr>
        <p:txBody>
          <a:bodyPr wrap="square" lIns="0" tIns="0" rIns="0" bIns="0" rtlCol="0" anchor="t"/>
          <a:lstStyle/>
          <a:p>
            <a:pPr algn="ctr" indent="0" marL="0">
              <a:buNone/>
            </a:pPr>
            <a:r>
              <a:rPr lang="en-US" sz="1100" b="1" dirty="0">
                <a:solidFill>
                  <a:srgbClr val="F5B342"/>
                </a:solidFill>
              </a:rPr>
              <a:t>4</a:t>
            </a:r>
            <a:endParaRPr lang="en-US" sz="1100" dirty="0"/>
          </a:p>
        </p:txBody>
      </p:sp>
      <p:sp>
        <p:nvSpPr>
          <p:cNvPr id="53" name="Text 51"/>
          <p:cNvSpPr txBox="1"/>
          <p:nvPr/>
        </p:nvSpPr>
        <p:spPr>
          <a:xfrm>
            <a:off x="9144000" y="4462272"/>
            <a:ext cx="2331720" cy="640080"/>
          </a:xfrm>
          <a:prstGeom prst="rect">
            <a:avLst/>
          </a:prstGeom>
          <a:noFill/>
          <a:ln/>
        </p:spPr>
        <p:txBody>
          <a:bodyPr wrap="square" lIns="0" tIns="0" rIns="0" bIns="0" rtlCol="0" anchor="t"/>
          <a:lstStyle/>
          <a:p>
            <a:pPr indent="0" marL="0">
              <a:buNone/>
            </a:pPr>
            <a:r>
              <a:rPr lang="en-US" sz="1200" dirty="0">
                <a:solidFill>
                  <a:srgbClr val="A7B6CC"/>
                </a:solidFill>
              </a:rPr>
              <a:t>Outbox event created for the requester</a:t>
            </a:r>
            <a:endParaRPr lang="en-US" sz="1200" dirty="0"/>
          </a:p>
        </p:txBody>
      </p:sp>
      <p:sp>
        <p:nvSpPr>
          <p:cNvPr id="54" name="step-4"/>
          <p:cNvSpPr/>
          <p:nvPr/>
        </p:nvSpPr>
        <p:spPr>
          <a:xfrm>
            <a:off x="8686800" y="5212080"/>
            <a:ext cx="329184" cy="329184"/>
          </a:xfrm>
          <a:prstGeom prst="ellipse">
            <a:avLst/>
          </a:prstGeom>
          <a:solidFill>
            <a:srgbClr val="0A111D"/>
          </a:solidFill>
          <a:ln w="12700">
            <a:solidFill>
              <a:srgbClr val="F5B342"/>
            </a:solidFill>
            <a:prstDash val="solid"/>
          </a:ln>
        </p:spPr>
      </p:sp>
      <p:sp>
        <p:nvSpPr>
          <p:cNvPr id="55" name="Text 53"/>
          <p:cNvSpPr txBox="1"/>
          <p:nvPr/>
        </p:nvSpPr>
        <p:spPr>
          <a:xfrm>
            <a:off x="8686800" y="5266944"/>
            <a:ext cx="329184" cy="219456"/>
          </a:xfrm>
          <a:prstGeom prst="rect">
            <a:avLst/>
          </a:prstGeom>
          <a:noFill/>
          <a:ln/>
        </p:spPr>
        <p:txBody>
          <a:bodyPr wrap="square" lIns="0" tIns="0" rIns="0" bIns="0" rtlCol="0" anchor="t"/>
          <a:lstStyle/>
          <a:p>
            <a:pPr algn="ctr" indent="0" marL="0">
              <a:buNone/>
            </a:pPr>
            <a:r>
              <a:rPr lang="en-US" sz="1100" b="1" dirty="0">
                <a:solidFill>
                  <a:srgbClr val="F5B342"/>
                </a:solidFill>
              </a:rPr>
              <a:t>5</a:t>
            </a:r>
            <a:endParaRPr lang="en-US" sz="1100" dirty="0"/>
          </a:p>
        </p:txBody>
      </p:sp>
      <p:sp>
        <p:nvSpPr>
          <p:cNvPr id="56" name="Text 54"/>
          <p:cNvSpPr txBox="1"/>
          <p:nvPr/>
        </p:nvSpPr>
        <p:spPr>
          <a:xfrm>
            <a:off x="9144000" y="5193792"/>
            <a:ext cx="2331720" cy="640080"/>
          </a:xfrm>
          <a:prstGeom prst="rect">
            <a:avLst/>
          </a:prstGeom>
          <a:noFill/>
          <a:ln/>
        </p:spPr>
        <p:txBody>
          <a:bodyPr wrap="square" lIns="0" tIns="0" rIns="0" bIns="0" rtlCol="0" anchor="t"/>
          <a:lstStyle/>
          <a:p>
            <a:pPr indent="0" marL="0">
              <a:buNone/>
            </a:pPr>
            <a:r>
              <a:rPr lang="en-US" sz="1200" dirty="0">
                <a:solidFill>
                  <a:srgbClr val="A7B6CC"/>
                </a:solidFill>
              </a:rPr>
              <a:t>Requester notified instantly via SignalR</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06 · A REAL USE CASE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A vendor switch, from one line of text to a governed decision</a:t>
            </a:r>
            <a:endParaRPr lang="en-US" sz="3000" dirty="0"/>
          </a:p>
        </p:txBody>
      </p:sp>
      <p:sp>
        <p:nvSpPr>
          <p:cNvPr id="4" name="rail"/>
          <p:cNvSpPr/>
          <p:nvPr/>
        </p:nvSpPr>
        <p:spPr>
          <a:xfrm>
            <a:off x="1097280" y="2011680"/>
            <a:ext cx="9966960" cy="0"/>
          </a:xfrm>
          <a:prstGeom prst="line">
            <a:avLst/>
          </a:prstGeom>
          <a:noFill/>
          <a:ln w="25400">
            <a:solidFill>
              <a:srgbClr val="2DD4BF"/>
            </a:solidFill>
            <a:prstDash val="solid"/>
          </a:ln>
        </p:spPr>
      </p:sp>
      <p:sp>
        <p:nvSpPr>
          <p:cNvPr id="5" name="stage-0"/>
          <p:cNvSpPr/>
          <p:nvPr/>
        </p:nvSpPr>
        <p:spPr>
          <a:xfrm>
            <a:off x="822960" y="1737360"/>
            <a:ext cx="548640" cy="548640"/>
          </a:xfrm>
          <a:prstGeom prst="ellipse">
            <a:avLst/>
          </a:prstGeom>
          <a:solidFill>
            <a:srgbClr val="2DD4BF"/>
          </a:solidFill>
          <a:ln w="12700">
            <a:solidFill>
              <a:srgbClr val="2DD4BF"/>
            </a:solidFill>
            <a:prstDash val="solid"/>
          </a:ln>
        </p:spPr>
      </p:sp>
      <p:sp>
        <p:nvSpPr>
          <p:cNvPr id="6" name="Text 4"/>
          <p:cNvSpPr txBox="1"/>
          <p:nvPr/>
        </p:nvSpPr>
        <p:spPr>
          <a:xfrm>
            <a:off x="822960" y="1856232"/>
            <a:ext cx="548640" cy="310896"/>
          </a:xfrm>
          <a:prstGeom prst="rect">
            <a:avLst/>
          </a:prstGeom>
          <a:noFill/>
          <a:ln/>
        </p:spPr>
        <p:txBody>
          <a:bodyPr wrap="square" lIns="0" tIns="0" rIns="0" bIns="0" rtlCol="0" anchor="t"/>
          <a:lstStyle/>
          <a:p>
            <a:pPr algn="ctr" indent="0" marL="0">
              <a:buNone/>
            </a:pPr>
            <a:r>
              <a:rPr lang="en-US" sz="1600" b="1" dirty="0">
                <a:solidFill>
                  <a:srgbClr val="0A111D"/>
                </a:solidFill>
              </a:rPr>
              <a:t>1</a:t>
            </a:r>
            <a:endParaRPr lang="en-US" sz="1600" dirty="0"/>
          </a:p>
        </p:txBody>
      </p:sp>
      <p:sp>
        <p:nvSpPr>
          <p:cNvPr id="7" name="Text 5"/>
          <p:cNvSpPr txBox="1"/>
          <p:nvPr/>
        </p:nvSpPr>
        <p:spPr>
          <a:xfrm>
            <a:off x="-45720" y="2423160"/>
            <a:ext cx="2286000" cy="292608"/>
          </a:xfrm>
          <a:prstGeom prst="rect">
            <a:avLst/>
          </a:prstGeom>
          <a:noFill/>
          <a:ln/>
        </p:spPr>
        <p:txBody>
          <a:bodyPr wrap="square" lIns="0" tIns="0" rIns="0" bIns="0" rtlCol="0" anchor="t"/>
          <a:lstStyle/>
          <a:p>
            <a:pPr algn="ctr" indent="0" marL="0">
              <a:buNone/>
            </a:pPr>
            <a:r>
              <a:rPr lang="en-US" sz="1500" b="1" dirty="0">
                <a:solidFill>
                  <a:srgbClr val="E8EEF8"/>
                </a:solidFill>
              </a:rPr>
              <a:t>Raise</a:t>
            </a:r>
            <a:endParaRPr lang="en-US" sz="1500" dirty="0"/>
          </a:p>
        </p:txBody>
      </p:sp>
      <p:sp>
        <p:nvSpPr>
          <p:cNvPr id="8" name="Text 6"/>
          <p:cNvSpPr txBox="1"/>
          <p:nvPr/>
        </p:nvSpPr>
        <p:spPr>
          <a:xfrm>
            <a:off x="-45720" y="2743200"/>
            <a:ext cx="2286000" cy="640080"/>
          </a:xfrm>
          <a:prstGeom prst="rect">
            <a:avLst/>
          </a:prstGeom>
          <a:noFill/>
          <a:ln/>
        </p:spPr>
        <p:txBody>
          <a:bodyPr wrap="square" lIns="0" tIns="0" rIns="0" bIns="0" rtlCol="0" anchor="t"/>
          <a:lstStyle/>
          <a:p>
            <a:pPr algn="ctr" indent="0" marL="0">
              <a:buNone/>
            </a:pPr>
            <a:r>
              <a:rPr lang="en-US" sz="1200" dirty="0">
                <a:solidFill>
                  <a:srgbClr val="A7B6CC"/>
                </a:solidFill>
              </a:rPr>
              <a:t>PM types one sentence; AI fill completes the form</a:t>
            </a:r>
            <a:endParaRPr lang="en-US" sz="1200" dirty="0"/>
          </a:p>
        </p:txBody>
      </p:sp>
      <p:sp>
        <p:nvSpPr>
          <p:cNvPr id="9" name="stage-1"/>
          <p:cNvSpPr/>
          <p:nvPr/>
        </p:nvSpPr>
        <p:spPr>
          <a:xfrm>
            <a:off x="3314700" y="1737360"/>
            <a:ext cx="548640" cy="548640"/>
          </a:xfrm>
          <a:prstGeom prst="ellipse">
            <a:avLst/>
          </a:prstGeom>
          <a:solidFill>
            <a:srgbClr val="2DD4BF"/>
          </a:solidFill>
          <a:ln w="12700">
            <a:solidFill>
              <a:srgbClr val="2DD4BF"/>
            </a:solidFill>
            <a:prstDash val="solid"/>
          </a:ln>
        </p:spPr>
      </p:sp>
      <p:sp>
        <p:nvSpPr>
          <p:cNvPr id="10" name="Text 8"/>
          <p:cNvSpPr txBox="1"/>
          <p:nvPr/>
        </p:nvSpPr>
        <p:spPr>
          <a:xfrm>
            <a:off x="3314700" y="1856232"/>
            <a:ext cx="548640" cy="310896"/>
          </a:xfrm>
          <a:prstGeom prst="rect">
            <a:avLst/>
          </a:prstGeom>
          <a:noFill/>
          <a:ln/>
        </p:spPr>
        <p:txBody>
          <a:bodyPr wrap="square" lIns="0" tIns="0" rIns="0" bIns="0" rtlCol="0" anchor="t"/>
          <a:lstStyle/>
          <a:p>
            <a:pPr algn="ctr" indent="0" marL="0">
              <a:buNone/>
            </a:pPr>
            <a:r>
              <a:rPr lang="en-US" sz="1600" b="1" dirty="0">
                <a:solidFill>
                  <a:srgbClr val="0A111D"/>
                </a:solidFill>
              </a:rPr>
              <a:t>2</a:t>
            </a:r>
            <a:endParaRPr lang="en-US" sz="1600" dirty="0"/>
          </a:p>
        </p:txBody>
      </p:sp>
      <p:sp>
        <p:nvSpPr>
          <p:cNvPr id="11" name="Text 9"/>
          <p:cNvSpPr txBox="1"/>
          <p:nvPr/>
        </p:nvSpPr>
        <p:spPr>
          <a:xfrm>
            <a:off x="2446020" y="2423160"/>
            <a:ext cx="2286000" cy="292608"/>
          </a:xfrm>
          <a:prstGeom prst="rect">
            <a:avLst/>
          </a:prstGeom>
          <a:noFill/>
          <a:ln/>
        </p:spPr>
        <p:txBody>
          <a:bodyPr wrap="square" lIns="0" tIns="0" rIns="0" bIns="0" rtlCol="0" anchor="t"/>
          <a:lstStyle/>
          <a:p>
            <a:pPr algn="ctr" indent="0" marL="0">
              <a:buNone/>
            </a:pPr>
            <a:r>
              <a:rPr lang="en-US" sz="1500" b="1" dirty="0">
                <a:solidFill>
                  <a:srgbClr val="E8EEF8"/>
                </a:solidFill>
              </a:rPr>
              <a:t>Submit</a:t>
            </a:r>
            <a:endParaRPr lang="en-US" sz="1500" dirty="0"/>
          </a:p>
        </p:txBody>
      </p:sp>
      <p:sp>
        <p:nvSpPr>
          <p:cNvPr id="12" name="Text 10"/>
          <p:cNvSpPr txBox="1"/>
          <p:nvPr/>
        </p:nvSpPr>
        <p:spPr>
          <a:xfrm>
            <a:off x="2446020" y="2743200"/>
            <a:ext cx="2286000" cy="640080"/>
          </a:xfrm>
          <a:prstGeom prst="rect">
            <a:avLst/>
          </a:prstGeom>
          <a:noFill/>
          <a:ln/>
        </p:spPr>
        <p:txBody>
          <a:bodyPr wrap="square" lIns="0" tIns="0" rIns="0" bIns="0" rtlCol="0" anchor="t"/>
          <a:lstStyle/>
          <a:p>
            <a:pPr algn="ctr" indent="0" marL="0">
              <a:buNone/>
            </a:pPr>
            <a:r>
              <a:rPr lang="en-US" sz="1200" dirty="0">
                <a:solidFill>
                  <a:srgbClr val="A7B6CC"/>
                </a:solidFill>
              </a:rPr>
              <a:t>Draft → Submitted; PMO notified in real time</a:t>
            </a:r>
            <a:endParaRPr lang="en-US" sz="1200" dirty="0"/>
          </a:p>
        </p:txBody>
      </p:sp>
      <p:sp>
        <p:nvSpPr>
          <p:cNvPr id="13" name="stage-2"/>
          <p:cNvSpPr/>
          <p:nvPr/>
        </p:nvSpPr>
        <p:spPr>
          <a:xfrm>
            <a:off x="5806440" y="1737360"/>
            <a:ext cx="548640" cy="548640"/>
          </a:xfrm>
          <a:prstGeom prst="ellipse">
            <a:avLst/>
          </a:prstGeom>
          <a:solidFill>
            <a:srgbClr val="2DD4BF"/>
          </a:solidFill>
          <a:ln w="12700">
            <a:solidFill>
              <a:srgbClr val="2DD4BF"/>
            </a:solidFill>
            <a:prstDash val="solid"/>
          </a:ln>
        </p:spPr>
      </p:sp>
      <p:sp>
        <p:nvSpPr>
          <p:cNvPr id="14" name="Text 12"/>
          <p:cNvSpPr txBox="1"/>
          <p:nvPr/>
        </p:nvSpPr>
        <p:spPr>
          <a:xfrm>
            <a:off x="5806440" y="1856232"/>
            <a:ext cx="548640" cy="310896"/>
          </a:xfrm>
          <a:prstGeom prst="rect">
            <a:avLst/>
          </a:prstGeom>
          <a:noFill/>
          <a:ln/>
        </p:spPr>
        <p:txBody>
          <a:bodyPr wrap="square" lIns="0" tIns="0" rIns="0" bIns="0" rtlCol="0" anchor="t"/>
          <a:lstStyle/>
          <a:p>
            <a:pPr algn="ctr" indent="0" marL="0">
              <a:buNone/>
            </a:pPr>
            <a:r>
              <a:rPr lang="en-US" sz="1600" b="1" dirty="0">
                <a:solidFill>
                  <a:srgbClr val="0A111D"/>
                </a:solidFill>
              </a:rPr>
              <a:t>3</a:t>
            </a:r>
            <a:endParaRPr lang="en-US" sz="1600" dirty="0"/>
          </a:p>
        </p:txBody>
      </p:sp>
      <p:sp>
        <p:nvSpPr>
          <p:cNvPr id="15" name="Text 13"/>
          <p:cNvSpPr txBox="1"/>
          <p:nvPr/>
        </p:nvSpPr>
        <p:spPr>
          <a:xfrm>
            <a:off x="4937760" y="2423160"/>
            <a:ext cx="2286000" cy="292608"/>
          </a:xfrm>
          <a:prstGeom prst="rect">
            <a:avLst/>
          </a:prstGeom>
          <a:noFill/>
          <a:ln/>
        </p:spPr>
        <p:txBody>
          <a:bodyPr wrap="square" lIns="0" tIns="0" rIns="0" bIns="0" rtlCol="0" anchor="t"/>
          <a:lstStyle/>
          <a:p>
            <a:pPr algn="ctr" indent="0" marL="0">
              <a:buNone/>
            </a:pPr>
            <a:r>
              <a:rPr lang="en-US" sz="1500" b="1" dirty="0">
                <a:solidFill>
                  <a:srgbClr val="E8EEF8"/>
                </a:solidFill>
              </a:rPr>
              <a:t>AI impact</a:t>
            </a:r>
            <a:endParaRPr lang="en-US" sz="1500" dirty="0"/>
          </a:p>
        </p:txBody>
      </p:sp>
      <p:sp>
        <p:nvSpPr>
          <p:cNvPr id="16" name="Text 14"/>
          <p:cNvSpPr txBox="1"/>
          <p:nvPr/>
        </p:nvSpPr>
        <p:spPr>
          <a:xfrm>
            <a:off x="4937760" y="2743200"/>
            <a:ext cx="2286000" cy="640080"/>
          </a:xfrm>
          <a:prstGeom prst="rect">
            <a:avLst/>
          </a:prstGeom>
          <a:noFill/>
          <a:ln/>
        </p:spPr>
        <p:txBody>
          <a:bodyPr wrap="square" lIns="0" tIns="0" rIns="0" bIns="0" rtlCol="0" anchor="t"/>
          <a:lstStyle/>
          <a:p>
            <a:pPr algn="ctr" indent="0" marL="0">
              <a:buNone/>
            </a:pPr>
            <a:r>
              <a:rPr lang="en-US" sz="1200" dirty="0">
                <a:solidFill>
                  <a:srgbClr val="A7B6CC"/>
                </a:solidFill>
              </a:rPr>
              <a:t>+AED 30K → EAC 960K; mitigates risk scored 25</a:t>
            </a:r>
            <a:endParaRPr lang="en-US" sz="1200" dirty="0"/>
          </a:p>
        </p:txBody>
      </p:sp>
      <p:sp>
        <p:nvSpPr>
          <p:cNvPr id="17" name="stage-3"/>
          <p:cNvSpPr/>
          <p:nvPr/>
        </p:nvSpPr>
        <p:spPr>
          <a:xfrm>
            <a:off x="8298180" y="1737360"/>
            <a:ext cx="548640" cy="548640"/>
          </a:xfrm>
          <a:prstGeom prst="ellipse">
            <a:avLst/>
          </a:prstGeom>
          <a:solidFill>
            <a:srgbClr val="2DD4BF"/>
          </a:solidFill>
          <a:ln w="12700">
            <a:solidFill>
              <a:srgbClr val="2DD4BF"/>
            </a:solidFill>
            <a:prstDash val="solid"/>
          </a:ln>
        </p:spPr>
      </p:sp>
      <p:sp>
        <p:nvSpPr>
          <p:cNvPr id="18" name="Text 16"/>
          <p:cNvSpPr txBox="1"/>
          <p:nvPr/>
        </p:nvSpPr>
        <p:spPr>
          <a:xfrm>
            <a:off x="8298180" y="1856232"/>
            <a:ext cx="548640" cy="310896"/>
          </a:xfrm>
          <a:prstGeom prst="rect">
            <a:avLst/>
          </a:prstGeom>
          <a:noFill/>
          <a:ln/>
        </p:spPr>
        <p:txBody>
          <a:bodyPr wrap="square" lIns="0" tIns="0" rIns="0" bIns="0" rtlCol="0" anchor="t"/>
          <a:lstStyle/>
          <a:p>
            <a:pPr algn="ctr" indent="0" marL="0">
              <a:buNone/>
            </a:pPr>
            <a:r>
              <a:rPr lang="en-US" sz="1600" b="1" dirty="0">
                <a:solidFill>
                  <a:srgbClr val="0A111D"/>
                </a:solidFill>
              </a:rPr>
              <a:t>4</a:t>
            </a:r>
            <a:endParaRPr lang="en-US" sz="1600" dirty="0"/>
          </a:p>
        </p:txBody>
      </p:sp>
      <p:sp>
        <p:nvSpPr>
          <p:cNvPr id="19" name="Text 17"/>
          <p:cNvSpPr txBox="1"/>
          <p:nvPr/>
        </p:nvSpPr>
        <p:spPr>
          <a:xfrm>
            <a:off x="7429500" y="2423160"/>
            <a:ext cx="2286000" cy="292608"/>
          </a:xfrm>
          <a:prstGeom prst="rect">
            <a:avLst/>
          </a:prstGeom>
          <a:noFill/>
          <a:ln/>
        </p:spPr>
        <p:txBody>
          <a:bodyPr wrap="square" lIns="0" tIns="0" rIns="0" bIns="0" rtlCol="0" anchor="t"/>
          <a:lstStyle/>
          <a:p>
            <a:pPr algn="ctr" indent="0" marL="0">
              <a:buNone/>
            </a:pPr>
            <a:r>
              <a:rPr lang="en-US" sz="1500" b="1" dirty="0">
                <a:solidFill>
                  <a:srgbClr val="E8EEF8"/>
                </a:solidFill>
              </a:rPr>
              <a:t>Decide</a:t>
            </a:r>
            <a:endParaRPr lang="en-US" sz="1500" dirty="0"/>
          </a:p>
        </p:txBody>
      </p:sp>
      <p:sp>
        <p:nvSpPr>
          <p:cNvPr id="20" name="Text 18"/>
          <p:cNvSpPr txBox="1"/>
          <p:nvPr/>
        </p:nvSpPr>
        <p:spPr>
          <a:xfrm>
            <a:off x="7429500" y="2743200"/>
            <a:ext cx="2286000" cy="640080"/>
          </a:xfrm>
          <a:prstGeom prst="rect">
            <a:avLst/>
          </a:prstGeom>
          <a:noFill/>
          <a:ln/>
        </p:spPr>
        <p:txBody>
          <a:bodyPr wrap="square" lIns="0" tIns="0" rIns="0" bIns="0" rtlCol="0" anchor="t"/>
          <a:lstStyle/>
          <a:p>
            <a:pPr algn="ctr" indent="0" marL="0">
              <a:buNone/>
            </a:pPr>
            <a:r>
              <a:rPr lang="en-US" sz="1200" dirty="0">
                <a:solidFill>
                  <a:srgbClr val="A7B6CC"/>
                </a:solidFill>
              </a:rPr>
              <a:t>Sponsor approves, returns or rejects</a:t>
            </a:r>
            <a:endParaRPr lang="en-US" sz="1200" dirty="0"/>
          </a:p>
        </p:txBody>
      </p:sp>
      <p:sp>
        <p:nvSpPr>
          <p:cNvPr id="21" name="stage-4"/>
          <p:cNvSpPr/>
          <p:nvPr/>
        </p:nvSpPr>
        <p:spPr>
          <a:xfrm>
            <a:off x="10789920" y="1737360"/>
            <a:ext cx="548640" cy="548640"/>
          </a:xfrm>
          <a:prstGeom prst="ellipse">
            <a:avLst/>
          </a:prstGeom>
          <a:solidFill>
            <a:srgbClr val="2DD4BF"/>
          </a:solidFill>
          <a:ln w="12700">
            <a:solidFill>
              <a:srgbClr val="2DD4BF"/>
            </a:solidFill>
            <a:prstDash val="solid"/>
          </a:ln>
        </p:spPr>
      </p:sp>
      <p:sp>
        <p:nvSpPr>
          <p:cNvPr id="22" name="Text 20"/>
          <p:cNvSpPr txBox="1"/>
          <p:nvPr/>
        </p:nvSpPr>
        <p:spPr>
          <a:xfrm>
            <a:off x="10789920" y="1856232"/>
            <a:ext cx="548640" cy="310896"/>
          </a:xfrm>
          <a:prstGeom prst="rect">
            <a:avLst/>
          </a:prstGeom>
          <a:noFill/>
          <a:ln/>
        </p:spPr>
        <p:txBody>
          <a:bodyPr wrap="square" lIns="0" tIns="0" rIns="0" bIns="0" rtlCol="0" anchor="t"/>
          <a:lstStyle/>
          <a:p>
            <a:pPr algn="ctr" indent="0" marL="0">
              <a:buNone/>
            </a:pPr>
            <a:r>
              <a:rPr lang="en-US" sz="1600" b="1" dirty="0">
                <a:solidFill>
                  <a:srgbClr val="0A111D"/>
                </a:solidFill>
              </a:rPr>
              <a:t>5</a:t>
            </a:r>
            <a:endParaRPr lang="en-US" sz="1600" dirty="0"/>
          </a:p>
        </p:txBody>
      </p:sp>
      <p:sp>
        <p:nvSpPr>
          <p:cNvPr id="23" name="Text 21"/>
          <p:cNvSpPr txBox="1"/>
          <p:nvPr/>
        </p:nvSpPr>
        <p:spPr>
          <a:xfrm>
            <a:off x="9921240" y="2423160"/>
            <a:ext cx="2286000" cy="292608"/>
          </a:xfrm>
          <a:prstGeom prst="rect">
            <a:avLst/>
          </a:prstGeom>
          <a:noFill/>
          <a:ln/>
        </p:spPr>
        <p:txBody>
          <a:bodyPr wrap="square" lIns="0" tIns="0" rIns="0" bIns="0" rtlCol="0" anchor="t"/>
          <a:lstStyle/>
          <a:p>
            <a:pPr algn="ctr" indent="0" marL="0">
              <a:buNone/>
            </a:pPr>
            <a:r>
              <a:rPr lang="en-US" sz="1500" b="1" dirty="0">
                <a:solidFill>
                  <a:srgbClr val="E8EEF8"/>
                </a:solidFill>
              </a:rPr>
              <a:t>Outcome</a:t>
            </a:r>
            <a:endParaRPr lang="en-US" sz="1500" dirty="0"/>
          </a:p>
        </p:txBody>
      </p:sp>
      <p:sp>
        <p:nvSpPr>
          <p:cNvPr id="24" name="Text 22"/>
          <p:cNvSpPr txBox="1"/>
          <p:nvPr/>
        </p:nvSpPr>
        <p:spPr>
          <a:xfrm>
            <a:off x="9921240" y="2743200"/>
            <a:ext cx="2286000" cy="640080"/>
          </a:xfrm>
          <a:prstGeom prst="rect">
            <a:avLst/>
          </a:prstGeom>
          <a:noFill/>
          <a:ln/>
        </p:spPr>
        <p:txBody>
          <a:bodyPr wrap="square" lIns="0" tIns="0" rIns="0" bIns="0" rtlCol="0" anchor="t"/>
          <a:lstStyle/>
          <a:p>
            <a:pPr algn="ctr" indent="0" marL="0">
              <a:buNone/>
            </a:pPr>
            <a:r>
              <a:rPr lang="en-US" sz="1200" dirty="0">
                <a:solidFill>
                  <a:srgbClr val="A7B6CC"/>
                </a:solidFill>
              </a:rPr>
              <a:t>Budget revised, risk 25 → 12, audit logged</a:t>
            </a:r>
            <a:endParaRPr lang="en-US" sz="1200" dirty="0"/>
          </a:p>
        </p:txBody>
      </p:sp>
      <p:sp>
        <p:nvSpPr>
          <p:cNvPr id="25" name="compare-0"/>
          <p:cNvSpPr/>
          <p:nvPr/>
        </p:nvSpPr>
        <p:spPr>
          <a:xfrm>
            <a:off x="548640" y="3657600"/>
            <a:ext cx="5440680" cy="2468880"/>
          </a:xfrm>
          <a:prstGeom prst="roundRect">
            <a:avLst>
              <a:gd name="adj" fmla="val 4444"/>
            </a:avLst>
          </a:prstGeom>
          <a:solidFill>
            <a:srgbClr val="16233A"/>
          </a:solidFill>
          <a:ln w="9525">
            <a:solidFill>
              <a:srgbClr val="2A3A55"/>
            </a:solidFill>
            <a:prstDash val="solid"/>
          </a:ln>
        </p:spPr>
      </p:sp>
      <p:sp>
        <p:nvSpPr>
          <p:cNvPr id="26" name="Text 24"/>
          <p:cNvSpPr txBox="1"/>
          <p:nvPr/>
        </p:nvSpPr>
        <p:spPr>
          <a:xfrm>
            <a:off x="822960" y="3794760"/>
            <a:ext cx="4937760" cy="320040"/>
          </a:xfrm>
          <a:prstGeom prst="rect">
            <a:avLst/>
          </a:prstGeom>
          <a:noFill/>
          <a:ln/>
        </p:spPr>
        <p:txBody>
          <a:bodyPr wrap="square" lIns="0" tIns="0" rIns="0" bIns="0" rtlCol="0" anchor="t"/>
          <a:lstStyle/>
          <a:p>
            <a:pPr indent="0" marL="0">
              <a:buNone/>
            </a:pPr>
            <a:r>
              <a:rPr lang="en-US" sz="1400" b="1" dirty="0">
                <a:solidFill>
                  <a:srgbClr val="E8EEF8"/>
                </a:solidFill>
              </a:rPr>
              <a:t>Before decision · PRJ-HRP HR Self-Service Portal</a:t>
            </a:r>
            <a:endParaRPr lang="en-US" sz="1400" dirty="0"/>
          </a:p>
        </p:txBody>
      </p:sp>
      <p:sp>
        <p:nvSpPr>
          <p:cNvPr id="27" name="Text 25"/>
          <p:cNvSpPr txBox="1"/>
          <p:nvPr/>
        </p:nvSpPr>
        <p:spPr>
          <a:xfrm>
            <a:off x="822960" y="4251960"/>
            <a:ext cx="2377440" cy="320040"/>
          </a:xfrm>
          <a:prstGeom prst="rect">
            <a:avLst/>
          </a:prstGeom>
          <a:noFill/>
          <a:ln/>
        </p:spPr>
        <p:txBody>
          <a:bodyPr wrap="square" lIns="0" tIns="0" rIns="0" bIns="0" rtlCol="0" anchor="t"/>
          <a:lstStyle/>
          <a:p>
            <a:pPr indent="0" marL="0">
              <a:buNone/>
            </a:pPr>
            <a:r>
              <a:rPr lang="en-US" sz="1300" dirty="0">
                <a:solidFill>
                  <a:srgbClr val="A7B6CC"/>
                </a:solidFill>
              </a:rPr>
              <a:t>Approved budget</a:t>
            </a:r>
            <a:endParaRPr lang="en-US" sz="1300" dirty="0"/>
          </a:p>
        </p:txBody>
      </p:sp>
      <p:sp>
        <p:nvSpPr>
          <p:cNvPr id="28" name="Text 26"/>
          <p:cNvSpPr txBox="1"/>
          <p:nvPr/>
        </p:nvSpPr>
        <p:spPr>
          <a:xfrm>
            <a:off x="3200400" y="4251960"/>
            <a:ext cx="2560320" cy="320040"/>
          </a:xfrm>
          <a:prstGeom prst="rect">
            <a:avLst/>
          </a:prstGeom>
          <a:noFill/>
          <a:ln/>
        </p:spPr>
        <p:txBody>
          <a:bodyPr wrap="square" lIns="0" tIns="0" rIns="0" bIns="0" rtlCol="0" anchor="t"/>
          <a:lstStyle/>
          <a:p>
            <a:pPr algn="r" indent="0" marL="0">
              <a:buNone/>
            </a:pPr>
            <a:r>
              <a:rPr lang="en-US" sz="1300" b="1" dirty="0">
                <a:solidFill>
                  <a:srgbClr val="E8EEF8"/>
                </a:solidFill>
              </a:rPr>
              <a:t>AED 800,000</a:t>
            </a:r>
            <a:endParaRPr lang="en-US" sz="1300" dirty="0"/>
          </a:p>
        </p:txBody>
      </p:sp>
      <p:sp>
        <p:nvSpPr>
          <p:cNvPr id="29" name="Text 27"/>
          <p:cNvSpPr txBox="1"/>
          <p:nvPr/>
        </p:nvSpPr>
        <p:spPr>
          <a:xfrm>
            <a:off x="822960" y="4690872"/>
            <a:ext cx="2377440" cy="320040"/>
          </a:xfrm>
          <a:prstGeom prst="rect">
            <a:avLst/>
          </a:prstGeom>
          <a:noFill/>
          <a:ln/>
        </p:spPr>
        <p:txBody>
          <a:bodyPr wrap="square" lIns="0" tIns="0" rIns="0" bIns="0" rtlCol="0" anchor="t"/>
          <a:lstStyle/>
          <a:p>
            <a:pPr indent="0" marL="0">
              <a:buNone/>
            </a:pPr>
            <a:r>
              <a:rPr lang="en-US" sz="1300" dirty="0">
                <a:solidFill>
                  <a:srgbClr val="A7B6CC"/>
                </a:solidFill>
              </a:rPr>
              <a:t>Forecast (EAC)</a:t>
            </a:r>
            <a:endParaRPr lang="en-US" sz="1300" dirty="0"/>
          </a:p>
        </p:txBody>
      </p:sp>
      <p:sp>
        <p:nvSpPr>
          <p:cNvPr id="30" name="Text 28"/>
          <p:cNvSpPr txBox="1"/>
          <p:nvPr/>
        </p:nvSpPr>
        <p:spPr>
          <a:xfrm>
            <a:off x="3200400" y="4690872"/>
            <a:ext cx="2560320" cy="320040"/>
          </a:xfrm>
          <a:prstGeom prst="rect">
            <a:avLst/>
          </a:prstGeom>
          <a:noFill/>
          <a:ln/>
        </p:spPr>
        <p:txBody>
          <a:bodyPr wrap="square" lIns="0" tIns="0" rIns="0" bIns="0" rtlCol="0" anchor="t"/>
          <a:lstStyle/>
          <a:p>
            <a:pPr algn="r" indent="0" marL="0">
              <a:buNone/>
            </a:pPr>
            <a:r>
              <a:rPr lang="en-US" sz="1300" b="1" dirty="0">
                <a:solidFill>
                  <a:srgbClr val="E8EEF8"/>
                </a:solidFill>
              </a:rPr>
              <a:t>AED 930,000</a:t>
            </a:r>
            <a:endParaRPr lang="en-US" sz="1300" dirty="0"/>
          </a:p>
        </p:txBody>
      </p:sp>
      <p:sp>
        <p:nvSpPr>
          <p:cNvPr id="31" name="Text 29"/>
          <p:cNvSpPr txBox="1"/>
          <p:nvPr/>
        </p:nvSpPr>
        <p:spPr>
          <a:xfrm>
            <a:off x="822960" y="5129784"/>
            <a:ext cx="2377440" cy="320040"/>
          </a:xfrm>
          <a:prstGeom prst="rect">
            <a:avLst/>
          </a:prstGeom>
          <a:noFill/>
          <a:ln/>
        </p:spPr>
        <p:txBody>
          <a:bodyPr wrap="square" lIns="0" tIns="0" rIns="0" bIns="0" rtlCol="0" anchor="t"/>
          <a:lstStyle/>
          <a:p>
            <a:pPr indent="0" marL="0">
              <a:buNone/>
            </a:pPr>
            <a:r>
              <a:rPr lang="en-US" sz="1300" dirty="0">
                <a:solidFill>
                  <a:srgbClr val="A7B6CC"/>
                </a:solidFill>
              </a:rPr>
              <a:t>High-exposure risk</a:t>
            </a:r>
            <a:endParaRPr lang="en-US" sz="1300" dirty="0"/>
          </a:p>
        </p:txBody>
      </p:sp>
      <p:sp>
        <p:nvSpPr>
          <p:cNvPr id="32" name="Text 30"/>
          <p:cNvSpPr txBox="1"/>
          <p:nvPr/>
        </p:nvSpPr>
        <p:spPr>
          <a:xfrm>
            <a:off x="3200400" y="5129784"/>
            <a:ext cx="2560320" cy="320040"/>
          </a:xfrm>
          <a:prstGeom prst="rect">
            <a:avLst/>
          </a:prstGeom>
          <a:noFill/>
          <a:ln/>
        </p:spPr>
        <p:txBody>
          <a:bodyPr wrap="square" lIns="0" tIns="0" rIns="0" bIns="0" rtlCol="0" anchor="t"/>
          <a:lstStyle/>
          <a:p>
            <a:pPr algn="r" indent="0" marL="0">
              <a:buNone/>
            </a:pPr>
            <a:r>
              <a:rPr lang="en-US" sz="1300" b="1" dirty="0">
                <a:solidFill>
                  <a:srgbClr val="E8EEF8"/>
                </a:solidFill>
              </a:rPr>
              <a:t>Data quality gap · 25</a:t>
            </a:r>
            <a:endParaRPr lang="en-US" sz="1300" dirty="0"/>
          </a:p>
        </p:txBody>
      </p:sp>
      <p:sp>
        <p:nvSpPr>
          <p:cNvPr id="33" name="Text 31"/>
          <p:cNvSpPr txBox="1"/>
          <p:nvPr/>
        </p:nvSpPr>
        <p:spPr>
          <a:xfrm>
            <a:off x="822960" y="5568696"/>
            <a:ext cx="2377440" cy="320040"/>
          </a:xfrm>
          <a:prstGeom prst="rect">
            <a:avLst/>
          </a:prstGeom>
          <a:noFill/>
          <a:ln/>
        </p:spPr>
        <p:txBody>
          <a:bodyPr wrap="square" lIns="0" tIns="0" rIns="0" bIns="0" rtlCol="0" anchor="t"/>
          <a:lstStyle/>
          <a:p>
            <a:pPr indent="0" marL="0">
              <a:buNone/>
            </a:pPr>
            <a:r>
              <a:rPr lang="en-US" sz="1300" dirty="0">
                <a:solidFill>
                  <a:srgbClr val="A7B6CC"/>
                </a:solidFill>
              </a:rPr>
              <a:t>Time to decision</a:t>
            </a:r>
            <a:endParaRPr lang="en-US" sz="1300" dirty="0"/>
          </a:p>
        </p:txBody>
      </p:sp>
      <p:sp>
        <p:nvSpPr>
          <p:cNvPr id="34" name="Text 32"/>
          <p:cNvSpPr txBox="1"/>
          <p:nvPr/>
        </p:nvSpPr>
        <p:spPr>
          <a:xfrm>
            <a:off x="3200400" y="5568696"/>
            <a:ext cx="2560320" cy="320040"/>
          </a:xfrm>
          <a:prstGeom prst="rect">
            <a:avLst/>
          </a:prstGeom>
          <a:noFill/>
          <a:ln/>
        </p:spPr>
        <p:txBody>
          <a:bodyPr wrap="square" lIns="0" tIns="0" rIns="0" bIns="0" rtlCol="0" anchor="t"/>
          <a:lstStyle/>
          <a:p>
            <a:pPr algn="r" indent="0" marL="0">
              <a:buNone/>
            </a:pPr>
            <a:r>
              <a:rPr lang="en-US" sz="1300" b="1" dirty="0">
                <a:solidFill>
                  <a:srgbClr val="E8EEF8"/>
                </a:solidFill>
              </a:rPr>
              <a:t>~2 weeks of email</a:t>
            </a:r>
            <a:endParaRPr lang="en-US" sz="1300" dirty="0"/>
          </a:p>
        </p:txBody>
      </p:sp>
      <p:sp>
        <p:nvSpPr>
          <p:cNvPr id="35" name="compare-1"/>
          <p:cNvSpPr/>
          <p:nvPr/>
        </p:nvSpPr>
        <p:spPr>
          <a:xfrm>
            <a:off x="6172200" y="3657600"/>
            <a:ext cx="5440680" cy="2468880"/>
          </a:xfrm>
          <a:prstGeom prst="roundRect">
            <a:avLst>
              <a:gd name="adj" fmla="val 4444"/>
            </a:avLst>
          </a:prstGeom>
          <a:solidFill>
            <a:srgbClr val="183C40"/>
          </a:solidFill>
          <a:ln w="9525">
            <a:solidFill>
              <a:srgbClr val="2A3A55"/>
            </a:solidFill>
            <a:prstDash val="solid"/>
          </a:ln>
        </p:spPr>
      </p:sp>
      <p:sp>
        <p:nvSpPr>
          <p:cNvPr id="36" name="Text 34"/>
          <p:cNvSpPr txBox="1"/>
          <p:nvPr/>
        </p:nvSpPr>
        <p:spPr>
          <a:xfrm>
            <a:off x="6446520" y="3794760"/>
            <a:ext cx="4937760" cy="320040"/>
          </a:xfrm>
          <a:prstGeom prst="rect">
            <a:avLst/>
          </a:prstGeom>
          <a:noFill/>
          <a:ln/>
        </p:spPr>
        <p:txBody>
          <a:bodyPr wrap="square" lIns="0" tIns="0" rIns="0" bIns="0" rtlCol="0" anchor="t"/>
          <a:lstStyle/>
          <a:p>
            <a:pPr indent="0" marL="0">
              <a:buNone/>
            </a:pPr>
            <a:r>
              <a:rPr lang="en-US" sz="1400" b="1" dirty="0">
                <a:solidFill>
                  <a:srgbClr val="2DD4BF"/>
                </a:solidFill>
              </a:rPr>
              <a:t>✓ After approval · PRJ-HRP HR Self-Service Portal</a:t>
            </a:r>
            <a:endParaRPr lang="en-US" sz="1400" dirty="0"/>
          </a:p>
        </p:txBody>
      </p:sp>
      <p:sp>
        <p:nvSpPr>
          <p:cNvPr id="37" name="Text 35"/>
          <p:cNvSpPr txBox="1"/>
          <p:nvPr/>
        </p:nvSpPr>
        <p:spPr>
          <a:xfrm>
            <a:off x="6446520" y="4251960"/>
            <a:ext cx="2377440" cy="320040"/>
          </a:xfrm>
          <a:prstGeom prst="rect">
            <a:avLst/>
          </a:prstGeom>
          <a:noFill/>
          <a:ln/>
        </p:spPr>
        <p:txBody>
          <a:bodyPr wrap="square" lIns="0" tIns="0" rIns="0" bIns="0" rtlCol="0" anchor="t"/>
          <a:lstStyle/>
          <a:p>
            <a:pPr indent="0" marL="0">
              <a:buNone/>
            </a:pPr>
            <a:r>
              <a:rPr lang="en-US" sz="1300" dirty="0">
                <a:solidFill>
                  <a:srgbClr val="A7B6CC"/>
                </a:solidFill>
              </a:rPr>
              <a:t>Approved budget</a:t>
            </a:r>
            <a:endParaRPr lang="en-US" sz="1300" dirty="0"/>
          </a:p>
        </p:txBody>
      </p:sp>
      <p:sp>
        <p:nvSpPr>
          <p:cNvPr id="38" name="Text 36"/>
          <p:cNvSpPr txBox="1"/>
          <p:nvPr/>
        </p:nvSpPr>
        <p:spPr>
          <a:xfrm>
            <a:off x="8823960" y="4251960"/>
            <a:ext cx="2560320" cy="320040"/>
          </a:xfrm>
          <a:prstGeom prst="rect">
            <a:avLst/>
          </a:prstGeom>
          <a:noFill/>
          <a:ln/>
        </p:spPr>
        <p:txBody>
          <a:bodyPr wrap="square" lIns="0" tIns="0" rIns="0" bIns="0" rtlCol="0" anchor="t"/>
          <a:lstStyle/>
          <a:p>
            <a:pPr algn="r" indent="0" marL="0">
              <a:buNone/>
            </a:pPr>
            <a:r>
              <a:rPr lang="en-US" sz="1300" b="1" dirty="0">
                <a:solidFill>
                  <a:srgbClr val="2DD4BF"/>
                </a:solidFill>
              </a:rPr>
              <a:t>AED 830,000</a:t>
            </a:r>
            <a:endParaRPr lang="en-US" sz="1300" dirty="0"/>
          </a:p>
        </p:txBody>
      </p:sp>
      <p:sp>
        <p:nvSpPr>
          <p:cNvPr id="39" name="Text 37"/>
          <p:cNvSpPr txBox="1"/>
          <p:nvPr/>
        </p:nvSpPr>
        <p:spPr>
          <a:xfrm>
            <a:off x="6446520" y="4690872"/>
            <a:ext cx="2377440" cy="320040"/>
          </a:xfrm>
          <a:prstGeom prst="rect">
            <a:avLst/>
          </a:prstGeom>
          <a:noFill/>
          <a:ln/>
        </p:spPr>
        <p:txBody>
          <a:bodyPr wrap="square" lIns="0" tIns="0" rIns="0" bIns="0" rtlCol="0" anchor="t"/>
          <a:lstStyle/>
          <a:p>
            <a:pPr indent="0" marL="0">
              <a:buNone/>
            </a:pPr>
            <a:r>
              <a:rPr lang="en-US" sz="1300" dirty="0">
                <a:solidFill>
                  <a:srgbClr val="A7B6CC"/>
                </a:solidFill>
              </a:rPr>
              <a:t>Forecast (EAC)</a:t>
            </a:r>
            <a:endParaRPr lang="en-US" sz="1300" dirty="0"/>
          </a:p>
        </p:txBody>
      </p:sp>
      <p:sp>
        <p:nvSpPr>
          <p:cNvPr id="40" name="Text 38"/>
          <p:cNvSpPr txBox="1"/>
          <p:nvPr/>
        </p:nvSpPr>
        <p:spPr>
          <a:xfrm>
            <a:off x="8823960" y="4690872"/>
            <a:ext cx="2560320" cy="320040"/>
          </a:xfrm>
          <a:prstGeom prst="rect">
            <a:avLst/>
          </a:prstGeom>
          <a:noFill/>
          <a:ln/>
        </p:spPr>
        <p:txBody>
          <a:bodyPr wrap="square" lIns="0" tIns="0" rIns="0" bIns="0" rtlCol="0" anchor="t"/>
          <a:lstStyle/>
          <a:p>
            <a:pPr algn="r" indent="0" marL="0">
              <a:buNone/>
            </a:pPr>
            <a:r>
              <a:rPr lang="en-US" sz="1300" b="1" dirty="0">
                <a:solidFill>
                  <a:srgbClr val="2DD4BF"/>
                </a:solidFill>
              </a:rPr>
              <a:t>AED 960,000</a:t>
            </a:r>
            <a:endParaRPr lang="en-US" sz="1300" dirty="0"/>
          </a:p>
        </p:txBody>
      </p:sp>
      <p:sp>
        <p:nvSpPr>
          <p:cNvPr id="41" name="Text 39"/>
          <p:cNvSpPr txBox="1"/>
          <p:nvPr/>
        </p:nvSpPr>
        <p:spPr>
          <a:xfrm>
            <a:off x="6446520" y="5129784"/>
            <a:ext cx="2377440" cy="320040"/>
          </a:xfrm>
          <a:prstGeom prst="rect">
            <a:avLst/>
          </a:prstGeom>
          <a:noFill/>
          <a:ln/>
        </p:spPr>
        <p:txBody>
          <a:bodyPr wrap="square" lIns="0" tIns="0" rIns="0" bIns="0" rtlCol="0" anchor="t"/>
          <a:lstStyle/>
          <a:p>
            <a:pPr indent="0" marL="0">
              <a:buNone/>
            </a:pPr>
            <a:r>
              <a:rPr lang="en-US" sz="1300" dirty="0">
                <a:solidFill>
                  <a:srgbClr val="A7B6CC"/>
                </a:solidFill>
              </a:rPr>
              <a:t>High-exposure risk</a:t>
            </a:r>
            <a:endParaRPr lang="en-US" sz="1300" dirty="0"/>
          </a:p>
        </p:txBody>
      </p:sp>
      <p:sp>
        <p:nvSpPr>
          <p:cNvPr id="42" name="Text 40"/>
          <p:cNvSpPr txBox="1"/>
          <p:nvPr/>
        </p:nvSpPr>
        <p:spPr>
          <a:xfrm>
            <a:off x="8823960" y="5129784"/>
            <a:ext cx="2560320" cy="320040"/>
          </a:xfrm>
          <a:prstGeom prst="rect">
            <a:avLst/>
          </a:prstGeom>
          <a:noFill/>
          <a:ln/>
        </p:spPr>
        <p:txBody>
          <a:bodyPr wrap="square" lIns="0" tIns="0" rIns="0" bIns="0" rtlCol="0" anchor="t"/>
          <a:lstStyle/>
          <a:p>
            <a:pPr algn="r" indent="0" marL="0">
              <a:buNone/>
            </a:pPr>
            <a:r>
              <a:rPr lang="en-US" sz="1300" b="1" dirty="0">
                <a:solidFill>
                  <a:srgbClr val="2DD4BF"/>
                </a:solidFill>
              </a:rPr>
              <a:t>Score 25 → 12</a:t>
            </a:r>
            <a:endParaRPr lang="en-US" sz="1300" dirty="0"/>
          </a:p>
        </p:txBody>
      </p:sp>
      <p:sp>
        <p:nvSpPr>
          <p:cNvPr id="43" name="Text 41"/>
          <p:cNvSpPr txBox="1"/>
          <p:nvPr/>
        </p:nvSpPr>
        <p:spPr>
          <a:xfrm>
            <a:off x="6446520" y="5568696"/>
            <a:ext cx="2377440" cy="320040"/>
          </a:xfrm>
          <a:prstGeom prst="rect">
            <a:avLst/>
          </a:prstGeom>
          <a:noFill/>
          <a:ln/>
        </p:spPr>
        <p:txBody>
          <a:bodyPr wrap="square" lIns="0" tIns="0" rIns="0" bIns="0" rtlCol="0" anchor="t"/>
          <a:lstStyle/>
          <a:p>
            <a:pPr indent="0" marL="0">
              <a:buNone/>
            </a:pPr>
            <a:r>
              <a:rPr lang="en-US" sz="1300" dirty="0">
                <a:solidFill>
                  <a:srgbClr val="A7B6CC"/>
                </a:solidFill>
              </a:rPr>
              <a:t>Time to decision</a:t>
            </a:r>
            <a:endParaRPr lang="en-US" sz="1300" dirty="0"/>
          </a:p>
        </p:txBody>
      </p:sp>
      <p:sp>
        <p:nvSpPr>
          <p:cNvPr id="44" name="Text 42"/>
          <p:cNvSpPr txBox="1"/>
          <p:nvPr/>
        </p:nvSpPr>
        <p:spPr>
          <a:xfrm>
            <a:off x="8823960" y="5568696"/>
            <a:ext cx="2560320" cy="320040"/>
          </a:xfrm>
          <a:prstGeom prst="rect">
            <a:avLst/>
          </a:prstGeom>
          <a:noFill/>
          <a:ln/>
        </p:spPr>
        <p:txBody>
          <a:bodyPr wrap="square" lIns="0" tIns="0" rIns="0" bIns="0" rtlCol="0" anchor="t"/>
          <a:lstStyle/>
          <a:p>
            <a:pPr algn="r" indent="0" marL="0">
              <a:buNone/>
            </a:pPr>
            <a:r>
              <a:rPr lang="en-US" sz="1300" b="1" dirty="0">
                <a:solidFill>
                  <a:srgbClr val="E8EEF8"/>
                </a:solidFill>
              </a:rPr>
              <a:t>~1 hour, fully audited</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07 · WEB INTELLIGENCE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The executive dashboard: one screen for delivery, risk and money</a:t>
            </a:r>
            <a:endParaRPr lang="en-US" sz="3000" dirty="0"/>
          </a:p>
        </p:txBody>
      </p:sp>
      <p:sp>
        <p:nvSpPr>
          <p:cNvPr id="4" name="kpi-0"/>
          <p:cNvSpPr/>
          <p:nvPr/>
        </p:nvSpPr>
        <p:spPr>
          <a:xfrm>
            <a:off x="548640" y="1554480"/>
            <a:ext cx="1737360" cy="960120"/>
          </a:xfrm>
          <a:prstGeom prst="roundRect">
            <a:avLst>
              <a:gd name="adj" fmla="val 11429"/>
            </a:avLst>
          </a:prstGeom>
          <a:solidFill>
            <a:srgbClr val="16233A"/>
          </a:solidFill>
          <a:ln w="9525">
            <a:solidFill>
              <a:srgbClr val="2A3A55"/>
            </a:solidFill>
            <a:prstDash val="solid"/>
          </a:ln>
        </p:spPr>
      </p:sp>
      <p:sp>
        <p:nvSpPr>
          <p:cNvPr id="5" name="Text 3"/>
          <p:cNvSpPr txBox="1"/>
          <p:nvPr/>
        </p:nvSpPr>
        <p:spPr>
          <a:xfrm>
            <a:off x="68580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ACTIVE PROJECTS</a:t>
            </a:r>
            <a:endParaRPr lang="en-US" sz="1000" dirty="0"/>
          </a:p>
        </p:txBody>
      </p:sp>
      <p:sp>
        <p:nvSpPr>
          <p:cNvPr id="6" name="Text 4"/>
          <p:cNvSpPr txBox="1"/>
          <p:nvPr/>
        </p:nvSpPr>
        <p:spPr>
          <a:xfrm>
            <a:off x="685800" y="1920240"/>
            <a:ext cx="1508760" cy="457200"/>
          </a:xfrm>
          <a:prstGeom prst="rect">
            <a:avLst/>
          </a:prstGeom>
          <a:noFill/>
          <a:ln/>
        </p:spPr>
        <p:txBody>
          <a:bodyPr wrap="square" lIns="0" tIns="0" rIns="0" bIns="0" rtlCol="0" anchor="t"/>
          <a:lstStyle/>
          <a:p>
            <a:pPr indent="0" marL="0">
              <a:buNone/>
            </a:pPr>
            <a:r>
              <a:rPr lang="en-US" sz="2400" b="1" dirty="0">
                <a:solidFill>
                  <a:srgbClr val="E8EEF8"/>
                </a:solidFill>
              </a:rPr>
              <a:t>7</a:t>
            </a:r>
            <a:endParaRPr lang="en-US" sz="2400" dirty="0"/>
          </a:p>
        </p:txBody>
      </p:sp>
      <p:sp>
        <p:nvSpPr>
          <p:cNvPr id="7" name="kpi-1"/>
          <p:cNvSpPr/>
          <p:nvPr/>
        </p:nvSpPr>
        <p:spPr>
          <a:xfrm>
            <a:off x="2423160" y="1554480"/>
            <a:ext cx="1737360" cy="960120"/>
          </a:xfrm>
          <a:prstGeom prst="roundRect">
            <a:avLst>
              <a:gd name="adj" fmla="val 11429"/>
            </a:avLst>
          </a:prstGeom>
          <a:solidFill>
            <a:srgbClr val="16233A"/>
          </a:solidFill>
          <a:ln w="9525">
            <a:solidFill>
              <a:srgbClr val="2A3A55"/>
            </a:solidFill>
            <a:prstDash val="solid"/>
          </a:ln>
        </p:spPr>
      </p:sp>
      <p:sp>
        <p:nvSpPr>
          <p:cNvPr id="8" name="Text 6"/>
          <p:cNvSpPr txBox="1"/>
          <p:nvPr/>
        </p:nvSpPr>
        <p:spPr>
          <a:xfrm>
            <a:off x="256032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PORTFOLIO PROGRESS</a:t>
            </a:r>
            <a:endParaRPr lang="en-US" sz="1000" dirty="0"/>
          </a:p>
        </p:txBody>
      </p:sp>
      <p:sp>
        <p:nvSpPr>
          <p:cNvPr id="9" name="Text 7"/>
          <p:cNvSpPr txBox="1"/>
          <p:nvPr/>
        </p:nvSpPr>
        <p:spPr>
          <a:xfrm>
            <a:off x="2560320" y="1920240"/>
            <a:ext cx="1508760" cy="457200"/>
          </a:xfrm>
          <a:prstGeom prst="rect">
            <a:avLst/>
          </a:prstGeom>
          <a:noFill/>
          <a:ln/>
        </p:spPr>
        <p:txBody>
          <a:bodyPr wrap="square" lIns="0" tIns="0" rIns="0" bIns="0" rtlCol="0" anchor="t"/>
          <a:lstStyle/>
          <a:p>
            <a:pPr indent="0" marL="0">
              <a:buNone/>
            </a:pPr>
            <a:r>
              <a:rPr lang="en-US" sz="2400" b="1" dirty="0">
                <a:solidFill>
                  <a:srgbClr val="2DD4BF"/>
                </a:solidFill>
              </a:rPr>
              <a:t>77%</a:t>
            </a:r>
            <a:endParaRPr lang="en-US" sz="2400" dirty="0"/>
          </a:p>
        </p:txBody>
      </p:sp>
      <p:sp>
        <p:nvSpPr>
          <p:cNvPr id="10" name="kpi-2"/>
          <p:cNvSpPr/>
          <p:nvPr/>
        </p:nvSpPr>
        <p:spPr>
          <a:xfrm>
            <a:off x="4297680" y="1554480"/>
            <a:ext cx="1737360" cy="960120"/>
          </a:xfrm>
          <a:prstGeom prst="roundRect">
            <a:avLst>
              <a:gd name="adj" fmla="val 11429"/>
            </a:avLst>
          </a:prstGeom>
          <a:solidFill>
            <a:srgbClr val="16233A"/>
          </a:solidFill>
          <a:ln w="9525">
            <a:solidFill>
              <a:srgbClr val="2A3A55"/>
            </a:solidFill>
            <a:prstDash val="solid"/>
          </a:ln>
        </p:spPr>
      </p:sp>
      <p:sp>
        <p:nvSpPr>
          <p:cNvPr id="11" name="Text 9"/>
          <p:cNvSpPr txBox="1"/>
          <p:nvPr/>
        </p:nvSpPr>
        <p:spPr>
          <a:xfrm>
            <a:off x="443484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OVERDUE TASKS</a:t>
            </a:r>
            <a:endParaRPr lang="en-US" sz="1000" dirty="0"/>
          </a:p>
        </p:txBody>
      </p:sp>
      <p:sp>
        <p:nvSpPr>
          <p:cNvPr id="12" name="Text 10"/>
          <p:cNvSpPr txBox="1"/>
          <p:nvPr/>
        </p:nvSpPr>
        <p:spPr>
          <a:xfrm>
            <a:off x="4434840" y="1920240"/>
            <a:ext cx="1508760" cy="457200"/>
          </a:xfrm>
          <a:prstGeom prst="rect">
            <a:avLst/>
          </a:prstGeom>
          <a:noFill/>
          <a:ln/>
        </p:spPr>
        <p:txBody>
          <a:bodyPr wrap="square" lIns="0" tIns="0" rIns="0" bIns="0" rtlCol="0" anchor="t"/>
          <a:lstStyle/>
          <a:p>
            <a:pPr indent="0" marL="0">
              <a:buNone/>
            </a:pPr>
            <a:r>
              <a:rPr lang="en-US" sz="2400" b="1" dirty="0">
                <a:solidFill>
                  <a:srgbClr val="FF6B5E"/>
                </a:solidFill>
              </a:rPr>
              <a:t>14</a:t>
            </a:r>
            <a:endParaRPr lang="en-US" sz="2400" dirty="0"/>
          </a:p>
        </p:txBody>
      </p:sp>
      <p:sp>
        <p:nvSpPr>
          <p:cNvPr id="13" name="kpi-3"/>
          <p:cNvSpPr/>
          <p:nvPr/>
        </p:nvSpPr>
        <p:spPr>
          <a:xfrm>
            <a:off x="6172200" y="1554480"/>
            <a:ext cx="1737360" cy="960120"/>
          </a:xfrm>
          <a:prstGeom prst="roundRect">
            <a:avLst>
              <a:gd name="adj" fmla="val 11429"/>
            </a:avLst>
          </a:prstGeom>
          <a:solidFill>
            <a:srgbClr val="16233A"/>
          </a:solidFill>
          <a:ln w="9525">
            <a:solidFill>
              <a:srgbClr val="2A3A55"/>
            </a:solidFill>
            <a:prstDash val="solid"/>
          </a:ln>
        </p:spPr>
      </p:sp>
      <p:sp>
        <p:nvSpPr>
          <p:cNvPr id="14" name="Text 12"/>
          <p:cNvSpPr txBox="1"/>
          <p:nvPr/>
        </p:nvSpPr>
        <p:spPr>
          <a:xfrm>
            <a:off x="630936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HIGH-EXPOSURE RISKS</a:t>
            </a:r>
            <a:endParaRPr lang="en-US" sz="1000" dirty="0"/>
          </a:p>
        </p:txBody>
      </p:sp>
      <p:sp>
        <p:nvSpPr>
          <p:cNvPr id="15" name="Text 13"/>
          <p:cNvSpPr txBox="1"/>
          <p:nvPr/>
        </p:nvSpPr>
        <p:spPr>
          <a:xfrm>
            <a:off x="6309360" y="1920240"/>
            <a:ext cx="1508760" cy="457200"/>
          </a:xfrm>
          <a:prstGeom prst="rect">
            <a:avLst/>
          </a:prstGeom>
          <a:noFill/>
          <a:ln/>
        </p:spPr>
        <p:txBody>
          <a:bodyPr wrap="square" lIns="0" tIns="0" rIns="0" bIns="0" rtlCol="0" anchor="t"/>
          <a:lstStyle/>
          <a:p>
            <a:pPr indent="0" marL="0">
              <a:buNone/>
            </a:pPr>
            <a:r>
              <a:rPr lang="en-US" sz="2400" b="1" dirty="0">
                <a:solidFill>
                  <a:srgbClr val="FF6B5E"/>
                </a:solidFill>
              </a:rPr>
              <a:t>6</a:t>
            </a:r>
            <a:endParaRPr lang="en-US" sz="2400" dirty="0"/>
          </a:p>
        </p:txBody>
      </p:sp>
      <p:sp>
        <p:nvSpPr>
          <p:cNvPr id="16" name="kpi-4"/>
          <p:cNvSpPr/>
          <p:nvPr/>
        </p:nvSpPr>
        <p:spPr>
          <a:xfrm>
            <a:off x="8046720" y="1554480"/>
            <a:ext cx="1737360" cy="960120"/>
          </a:xfrm>
          <a:prstGeom prst="roundRect">
            <a:avLst>
              <a:gd name="adj" fmla="val 11429"/>
            </a:avLst>
          </a:prstGeom>
          <a:solidFill>
            <a:srgbClr val="16233A"/>
          </a:solidFill>
          <a:ln w="9525">
            <a:solidFill>
              <a:srgbClr val="2A3A55"/>
            </a:solidFill>
            <a:prstDash val="solid"/>
          </a:ln>
        </p:spPr>
      </p:sp>
      <p:sp>
        <p:nvSpPr>
          <p:cNvPr id="17" name="Text 15"/>
          <p:cNvSpPr txBox="1"/>
          <p:nvPr/>
        </p:nvSpPr>
        <p:spPr>
          <a:xfrm>
            <a:off x="818388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FORECAST EAC</a:t>
            </a:r>
            <a:endParaRPr lang="en-US" sz="1000" dirty="0"/>
          </a:p>
        </p:txBody>
      </p:sp>
      <p:sp>
        <p:nvSpPr>
          <p:cNvPr id="18" name="Text 16"/>
          <p:cNvSpPr txBox="1"/>
          <p:nvPr/>
        </p:nvSpPr>
        <p:spPr>
          <a:xfrm>
            <a:off x="8183880" y="1920240"/>
            <a:ext cx="1508760" cy="457200"/>
          </a:xfrm>
          <a:prstGeom prst="rect">
            <a:avLst/>
          </a:prstGeom>
          <a:noFill/>
          <a:ln/>
        </p:spPr>
        <p:txBody>
          <a:bodyPr wrap="square" lIns="0" tIns="0" rIns="0" bIns="0" rtlCol="0" anchor="t"/>
          <a:lstStyle/>
          <a:p>
            <a:pPr indent="0" marL="0">
              <a:buNone/>
            </a:pPr>
            <a:r>
              <a:rPr lang="en-US" sz="2400" b="1" dirty="0">
                <a:solidFill>
                  <a:srgbClr val="F5B342"/>
                </a:solidFill>
              </a:rPr>
              <a:t>AED 16.2M</a:t>
            </a:r>
            <a:endParaRPr lang="en-US" sz="2400" dirty="0"/>
          </a:p>
        </p:txBody>
      </p:sp>
      <p:sp>
        <p:nvSpPr>
          <p:cNvPr id="19" name="kpi-5"/>
          <p:cNvSpPr/>
          <p:nvPr/>
        </p:nvSpPr>
        <p:spPr>
          <a:xfrm>
            <a:off x="9921240" y="1554480"/>
            <a:ext cx="1737360" cy="960120"/>
          </a:xfrm>
          <a:prstGeom prst="roundRect">
            <a:avLst>
              <a:gd name="adj" fmla="val 11429"/>
            </a:avLst>
          </a:prstGeom>
          <a:solidFill>
            <a:srgbClr val="16233A"/>
          </a:solidFill>
          <a:ln w="9525">
            <a:solidFill>
              <a:srgbClr val="2A3A55"/>
            </a:solidFill>
            <a:prstDash val="solid"/>
          </a:ln>
        </p:spPr>
      </p:sp>
      <p:sp>
        <p:nvSpPr>
          <p:cNvPr id="20" name="Text 18"/>
          <p:cNvSpPr txBox="1"/>
          <p:nvPr/>
        </p:nvSpPr>
        <p:spPr>
          <a:xfrm>
            <a:off x="10058400" y="1645920"/>
            <a:ext cx="1508760" cy="256032"/>
          </a:xfrm>
          <a:prstGeom prst="rect">
            <a:avLst/>
          </a:prstGeom>
          <a:noFill/>
          <a:ln/>
        </p:spPr>
        <p:txBody>
          <a:bodyPr wrap="square" lIns="0" tIns="0" rIns="0" bIns="0" rtlCol="0" anchor="t"/>
          <a:lstStyle/>
          <a:p>
            <a:pPr indent="0" marL="0">
              <a:buNone/>
            </a:pPr>
            <a:r>
              <a:rPr lang="en-US" sz="1000" dirty="0">
                <a:solidFill>
                  <a:srgbClr val="70819B"/>
                </a:solidFill>
              </a:rPr>
              <a:t>PROJECTED OVERRUNS</a:t>
            </a:r>
            <a:endParaRPr lang="en-US" sz="1000" dirty="0"/>
          </a:p>
        </p:txBody>
      </p:sp>
      <p:sp>
        <p:nvSpPr>
          <p:cNvPr id="21" name="Text 19"/>
          <p:cNvSpPr txBox="1"/>
          <p:nvPr/>
        </p:nvSpPr>
        <p:spPr>
          <a:xfrm>
            <a:off x="10058400" y="1920240"/>
            <a:ext cx="1508760" cy="457200"/>
          </a:xfrm>
          <a:prstGeom prst="rect">
            <a:avLst/>
          </a:prstGeom>
          <a:noFill/>
          <a:ln/>
        </p:spPr>
        <p:txBody>
          <a:bodyPr wrap="square" lIns="0" tIns="0" rIns="0" bIns="0" rtlCol="0" anchor="t"/>
          <a:lstStyle/>
          <a:p>
            <a:pPr indent="0" marL="0">
              <a:buNone/>
            </a:pPr>
            <a:r>
              <a:rPr lang="en-US" sz="2400" b="1" dirty="0">
                <a:solidFill>
                  <a:srgbClr val="FF6B5E"/>
                </a:solidFill>
              </a:rPr>
              <a:t>4</a:t>
            </a:r>
            <a:endParaRPr lang="en-US" sz="2400" dirty="0"/>
          </a:p>
        </p:txBody>
      </p:sp>
      <p:graphicFrame>
        <p:nvGraphicFramePr>
          <p:cNvPr id="22" name="chart-budget" descr=""/>
          <p:cNvGraphicFramePr/>
          <p:nvPr/>
        </p:nvGraphicFramePr>
        <p:xfrm>
          <a:off x="548640" y="2697480"/>
          <a:ext cx="548640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chart-trend" descr=""/>
          <p:cNvGraphicFramePr/>
          <p:nvPr/>
        </p:nvGraphicFramePr>
        <p:xfrm>
          <a:off x="6172200" y="2697480"/>
          <a:ext cx="2697480" cy="3474720"/>
        </p:xfrm>
        <a:graphic xmlns:a="http://schemas.openxmlformats.org/drawingml/2006/main">
          <a:graphicData uri="http://schemas.openxmlformats.org/drawingml/2006/chart">
            <c:chart xmlns:c="http://schemas.openxmlformats.org/drawingml/2006/chart" r:id="rId2"/>
          </a:graphicData>
        </a:graphic>
      </p:graphicFrame>
      <p:graphicFrame>
        <p:nvGraphicFramePr>
          <p:cNvPr id="24" name="chart-tasks" descr=""/>
          <p:cNvGraphicFramePr/>
          <p:nvPr/>
        </p:nvGraphicFramePr>
        <p:xfrm>
          <a:off x="9006840" y="2697480"/>
          <a:ext cx="2606040" cy="347472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08 · THE BUSINESS CASE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Payback in 8 months, AED 5.77M net value over three years</a:t>
            </a:r>
            <a:endParaRPr lang="en-US" sz="3000" dirty="0"/>
          </a:p>
        </p:txBody>
      </p:sp>
      <p:sp>
        <p:nvSpPr>
          <p:cNvPr id="4" name="bk-0"/>
          <p:cNvSpPr/>
          <p:nvPr/>
        </p:nvSpPr>
        <p:spPr>
          <a:xfrm>
            <a:off x="548640" y="1600200"/>
            <a:ext cx="3291840" cy="960120"/>
          </a:xfrm>
          <a:prstGeom prst="roundRect">
            <a:avLst>
              <a:gd name="adj" fmla="val 11429"/>
            </a:avLst>
          </a:prstGeom>
          <a:solidFill>
            <a:srgbClr val="16233A"/>
          </a:solidFill>
          <a:ln w="9525">
            <a:solidFill>
              <a:srgbClr val="2A3A55"/>
            </a:solidFill>
            <a:prstDash val="solid"/>
          </a:ln>
        </p:spPr>
      </p:sp>
      <p:sp>
        <p:nvSpPr>
          <p:cNvPr id="5" name="Text 3"/>
          <p:cNvSpPr txBox="1"/>
          <p:nvPr/>
        </p:nvSpPr>
        <p:spPr>
          <a:xfrm>
            <a:off x="777240" y="1709928"/>
            <a:ext cx="2926080" cy="228600"/>
          </a:xfrm>
          <a:prstGeom prst="rect">
            <a:avLst/>
          </a:prstGeom>
          <a:noFill/>
          <a:ln/>
        </p:spPr>
        <p:txBody>
          <a:bodyPr wrap="square" lIns="0" tIns="0" rIns="0" bIns="0" rtlCol="0" anchor="t"/>
          <a:lstStyle/>
          <a:p>
            <a:pPr indent="0" marL="0">
              <a:buNone/>
            </a:pPr>
            <a:r>
              <a:rPr lang="en-US" sz="1000" dirty="0">
                <a:solidFill>
                  <a:srgbClr val="70819B"/>
                </a:solidFill>
              </a:rPr>
              <a:t>ANNUAL BENEFIT</a:t>
            </a:r>
            <a:endParaRPr lang="en-US" sz="1000" dirty="0"/>
          </a:p>
        </p:txBody>
      </p:sp>
      <p:sp>
        <p:nvSpPr>
          <p:cNvPr id="6" name="Text 4"/>
          <p:cNvSpPr txBox="1"/>
          <p:nvPr/>
        </p:nvSpPr>
        <p:spPr>
          <a:xfrm>
            <a:off x="777240" y="1947672"/>
            <a:ext cx="2926080" cy="411480"/>
          </a:xfrm>
          <a:prstGeom prst="rect">
            <a:avLst/>
          </a:prstGeom>
          <a:noFill/>
          <a:ln/>
        </p:spPr>
        <p:txBody>
          <a:bodyPr wrap="square" lIns="0" tIns="0" rIns="0" bIns="0" rtlCol="0" anchor="t"/>
          <a:lstStyle/>
          <a:p>
            <a:pPr indent="0" marL="0">
              <a:buNone/>
            </a:pPr>
            <a:r>
              <a:rPr lang="en-US" sz="2400" b="1" dirty="0">
                <a:solidFill>
                  <a:srgbClr val="E8EEF8"/>
                </a:solidFill>
              </a:rPr>
              <a:t>AED 2.60M</a:t>
            </a:r>
            <a:endParaRPr lang="en-US" sz="2400" dirty="0"/>
          </a:p>
        </p:txBody>
      </p:sp>
      <p:sp>
        <p:nvSpPr>
          <p:cNvPr id="7" name="Text 5"/>
          <p:cNvSpPr txBox="1"/>
          <p:nvPr/>
        </p:nvSpPr>
        <p:spPr>
          <a:xfrm>
            <a:off x="777240" y="2313432"/>
            <a:ext cx="2926080" cy="201168"/>
          </a:xfrm>
          <a:prstGeom prst="rect">
            <a:avLst/>
          </a:prstGeom>
          <a:noFill/>
          <a:ln/>
        </p:spPr>
        <p:txBody>
          <a:bodyPr wrap="square" lIns="0" tIns="0" rIns="0" bIns="0" rtlCol="0" anchor="t"/>
          <a:lstStyle/>
          <a:p>
            <a:pPr indent="0" marL="0">
              <a:buNone/>
            </a:pPr>
            <a:r>
              <a:rPr lang="en-US" sz="1000" dirty="0">
                <a:solidFill>
                  <a:srgbClr val="70819B"/>
                </a:solidFill>
              </a:rPr>
              <a:t>at full adoption</a:t>
            </a:r>
            <a:endParaRPr lang="en-US" sz="1000" dirty="0"/>
          </a:p>
        </p:txBody>
      </p:sp>
      <p:sp>
        <p:nvSpPr>
          <p:cNvPr id="8" name="bk-1"/>
          <p:cNvSpPr/>
          <p:nvPr/>
        </p:nvSpPr>
        <p:spPr>
          <a:xfrm>
            <a:off x="548640" y="2715768"/>
            <a:ext cx="3291840" cy="960120"/>
          </a:xfrm>
          <a:prstGeom prst="roundRect">
            <a:avLst>
              <a:gd name="adj" fmla="val 11429"/>
            </a:avLst>
          </a:prstGeom>
          <a:solidFill>
            <a:srgbClr val="16233A"/>
          </a:solidFill>
          <a:ln w="9525">
            <a:solidFill>
              <a:srgbClr val="2A3A55"/>
            </a:solidFill>
            <a:prstDash val="solid"/>
          </a:ln>
        </p:spPr>
      </p:sp>
      <p:sp>
        <p:nvSpPr>
          <p:cNvPr id="9" name="Text 7"/>
          <p:cNvSpPr txBox="1"/>
          <p:nvPr/>
        </p:nvSpPr>
        <p:spPr>
          <a:xfrm>
            <a:off x="777240" y="2825496"/>
            <a:ext cx="2926080" cy="228600"/>
          </a:xfrm>
          <a:prstGeom prst="rect">
            <a:avLst/>
          </a:prstGeom>
          <a:noFill/>
          <a:ln/>
        </p:spPr>
        <p:txBody>
          <a:bodyPr wrap="square" lIns="0" tIns="0" rIns="0" bIns="0" rtlCol="0" anchor="t"/>
          <a:lstStyle/>
          <a:p>
            <a:pPr indent="0" marL="0">
              <a:buNone/>
            </a:pPr>
            <a:r>
              <a:rPr lang="en-US" sz="1000" dirty="0">
                <a:solidFill>
                  <a:srgbClr val="70819B"/>
                </a:solidFill>
              </a:rPr>
              <a:t>ONE-OFF INVESTMENT</a:t>
            </a:r>
            <a:endParaRPr lang="en-US" sz="1000" dirty="0"/>
          </a:p>
        </p:txBody>
      </p:sp>
      <p:sp>
        <p:nvSpPr>
          <p:cNvPr id="10" name="Text 8"/>
          <p:cNvSpPr txBox="1"/>
          <p:nvPr/>
        </p:nvSpPr>
        <p:spPr>
          <a:xfrm>
            <a:off x="777240" y="3063240"/>
            <a:ext cx="2926080" cy="411480"/>
          </a:xfrm>
          <a:prstGeom prst="rect">
            <a:avLst/>
          </a:prstGeom>
          <a:noFill/>
          <a:ln/>
        </p:spPr>
        <p:txBody>
          <a:bodyPr wrap="square" lIns="0" tIns="0" rIns="0" bIns="0" rtlCol="0" anchor="t"/>
          <a:lstStyle/>
          <a:p>
            <a:pPr indent="0" marL="0">
              <a:buNone/>
            </a:pPr>
            <a:r>
              <a:rPr lang="en-US" sz="2400" b="1" dirty="0">
                <a:solidFill>
                  <a:srgbClr val="E8EEF8"/>
                </a:solidFill>
              </a:rPr>
              <a:t>AED 860K</a:t>
            </a:r>
            <a:endParaRPr lang="en-US" sz="2400" dirty="0"/>
          </a:p>
        </p:txBody>
      </p:sp>
      <p:sp>
        <p:nvSpPr>
          <p:cNvPr id="11" name="Text 9"/>
          <p:cNvSpPr txBox="1"/>
          <p:nvPr/>
        </p:nvSpPr>
        <p:spPr>
          <a:xfrm>
            <a:off x="777240" y="3429000"/>
            <a:ext cx="2926080" cy="201168"/>
          </a:xfrm>
          <a:prstGeom prst="rect">
            <a:avLst/>
          </a:prstGeom>
          <a:noFill/>
          <a:ln/>
        </p:spPr>
        <p:txBody>
          <a:bodyPr wrap="square" lIns="0" tIns="0" rIns="0" bIns="0" rtlCol="0" anchor="t"/>
          <a:lstStyle/>
          <a:p>
            <a:pPr indent="0" marL="0">
              <a:buNone/>
            </a:pPr>
            <a:r>
              <a:rPr lang="en-US" sz="1000" dirty="0">
                <a:solidFill>
                  <a:srgbClr val="70819B"/>
                </a:solidFill>
              </a:rPr>
              <a:t>+ AED 208K/yr to run</a:t>
            </a:r>
            <a:endParaRPr lang="en-US" sz="1000" dirty="0"/>
          </a:p>
        </p:txBody>
      </p:sp>
      <p:sp>
        <p:nvSpPr>
          <p:cNvPr id="12" name="bk-2"/>
          <p:cNvSpPr/>
          <p:nvPr/>
        </p:nvSpPr>
        <p:spPr>
          <a:xfrm>
            <a:off x="548640" y="3831336"/>
            <a:ext cx="3291840" cy="960120"/>
          </a:xfrm>
          <a:prstGeom prst="roundRect">
            <a:avLst>
              <a:gd name="adj" fmla="val 11429"/>
            </a:avLst>
          </a:prstGeom>
          <a:solidFill>
            <a:srgbClr val="183C40"/>
          </a:solidFill>
          <a:ln w="9525">
            <a:solidFill>
              <a:srgbClr val="2A3A55"/>
            </a:solidFill>
            <a:prstDash val="solid"/>
          </a:ln>
        </p:spPr>
      </p:sp>
      <p:sp>
        <p:nvSpPr>
          <p:cNvPr id="13" name="Text 11"/>
          <p:cNvSpPr txBox="1"/>
          <p:nvPr/>
        </p:nvSpPr>
        <p:spPr>
          <a:xfrm>
            <a:off x="777240" y="3941064"/>
            <a:ext cx="2926080" cy="228600"/>
          </a:xfrm>
          <a:prstGeom prst="rect">
            <a:avLst/>
          </a:prstGeom>
          <a:noFill/>
          <a:ln/>
        </p:spPr>
        <p:txBody>
          <a:bodyPr wrap="square" lIns="0" tIns="0" rIns="0" bIns="0" rtlCol="0" anchor="t"/>
          <a:lstStyle/>
          <a:p>
            <a:pPr indent="0" marL="0">
              <a:buNone/>
            </a:pPr>
            <a:r>
              <a:rPr lang="en-US" sz="1000" dirty="0">
                <a:solidFill>
                  <a:srgbClr val="70819B"/>
                </a:solidFill>
              </a:rPr>
              <a:t>PAYBACK</a:t>
            </a:r>
            <a:endParaRPr lang="en-US" sz="1000" dirty="0"/>
          </a:p>
        </p:txBody>
      </p:sp>
      <p:sp>
        <p:nvSpPr>
          <p:cNvPr id="14" name="Text 12"/>
          <p:cNvSpPr txBox="1"/>
          <p:nvPr/>
        </p:nvSpPr>
        <p:spPr>
          <a:xfrm>
            <a:off x="777240" y="4178808"/>
            <a:ext cx="2926080" cy="411480"/>
          </a:xfrm>
          <a:prstGeom prst="rect">
            <a:avLst/>
          </a:prstGeom>
          <a:noFill/>
          <a:ln/>
        </p:spPr>
        <p:txBody>
          <a:bodyPr wrap="square" lIns="0" tIns="0" rIns="0" bIns="0" rtlCol="0" anchor="t"/>
          <a:lstStyle/>
          <a:p>
            <a:pPr indent="0" marL="0">
              <a:buNone/>
            </a:pPr>
            <a:r>
              <a:rPr lang="en-US" sz="2400" b="1" dirty="0">
                <a:solidFill>
                  <a:srgbClr val="2DD4BF"/>
                </a:solidFill>
              </a:rPr>
              <a:t>8 months</a:t>
            </a:r>
            <a:endParaRPr lang="en-US" sz="2400" dirty="0"/>
          </a:p>
        </p:txBody>
      </p:sp>
      <p:sp>
        <p:nvSpPr>
          <p:cNvPr id="15" name="Text 13"/>
          <p:cNvSpPr txBox="1"/>
          <p:nvPr/>
        </p:nvSpPr>
        <p:spPr>
          <a:xfrm>
            <a:off x="777240" y="4544568"/>
            <a:ext cx="2926080" cy="201168"/>
          </a:xfrm>
          <a:prstGeom prst="rect">
            <a:avLst/>
          </a:prstGeom>
          <a:noFill/>
          <a:ln/>
        </p:spPr>
        <p:txBody>
          <a:bodyPr wrap="square" lIns="0" tIns="0" rIns="0" bIns="0" rtlCol="0" anchor="t"/>
          <a:lstStyle/>
          <a:p>
            <a:pPr indent="0" marL="0">
              <a:buNone/>
            </a:pPr>
            <a:r>
              <a:rPr lang="en-US" sz="1000" dirty="0">
                <a:solidFill>
                  <a:srgbClr val="70819B"/>
                </a:solidFill>
              </a:rPr>
              <a:t>from go-live</a:t>
            </a:r>
            <a:endParaRPr lang="en-US" sz="1000" dirty="0"/>
          </a:p>
        </p:txBody>
      </p:sp>
      <p:sp>
        <p:nvSpPr>
          <p:cNvPr id="16" name="bk-3"/>
          <p:cNvSpPr/>
          <p:nvPr/>
        </p:nvSpPr>
        <p:spPr>
          <a:xfrm>
            <a:off x="548640" y="4946904"/>
            <a:ext cx="3291840" cy="960120"/>
          </a:xfrm>
          <a:prstGeom prst="roundRect">
            <a:avLst>
              <a:gd name="adj" fmla="val 11429"/>
            </a:avLst>
          </a:prstGeom>
          <a:solidFill>
            <a:srgbClr val="16233A"/>
          </a:solidFill>
          <a:ln w="9525">
            <a:solidFill>
              <a:srgbClr val="2A3A55"/>
            </a:solidFill>
            <a:prstDash val="solid"/>
          </a:ln>
        </p:spPr>
      </p:sp>
      <p:sp>
        <p:nvSpPr>
          <p:cNvPr id="17" name="Text 15"/>
          <p:cNvSpPr txBox="1"/>
          <p:nvPr/>
        </p:nvSpPr>
        <p:spPr>
          <a:xfrm>
            <a:off x="777240" y="5056632"/>
            <a:ext cx="2926080" cy="228600"/>
          </a:xfrm>
          <a:prstGeom prst="rect">
            <a:avLst/>
          </a:prstGeom>
          <a:noFill/>
          <a:ln/>
        </p:spPr>
        <p:txBody>
          <a:bodyPr wrap="square" lIns="0" tIns="0" rIns="0" bIns="0" rtlCol="0" anchor="t"/>
          <a:lstStyle/>
          <a:p>
            <a:pPr indent="0" marL="0">
              <a:buNone/>
            </a:pPr>
            <a:r>
              <a:rPr lang="en-US" sz="1000" dirty="0">
                <a:solidFill>
                  <a:srgbClr val="70819B"/>
                </a:solidFill>
              </a:rPr>
              <a:t>3-YEAR NET VALUE</a:t>
            </a:r>
            <a:endParaRPr lang="en-US" sz="1000" dirty="0"/>
          </a:p>
        </p:txBody>
      </p:sp>
      <p:sp>
        <p:nvSpPr>
          <p:cNvPr id="18" name="Text 16"/>
          <p:cNvSpPr txBox="1"/>
          <p:nvPr/>
        </p:nvSpPr>
        <p:spPr>
          <a:xfrm>
            <a:off x="777240" y="5294376"/>
            <a:ext cx="2926080" cy="411480"/>
          </a:xfrm>
          <a:prstGeom prst="rect">
            <a:avLst/>
          </a:prstGeom>
          <a:noFill/>
          <a:ln/>
        </p:spPr>
        <p:txBody>
          <a:bodyPr wrap="square" lIns="0" tIns="0" rIns="0" bIns="0" rtlCol="0" anchor="t"/>
          <a:lstStyle/>
          <a:p>
            <a:pPr indent="0" marL="0">
              <a:buNone/>
            </a:pPr>
            <a:r>
              <a:rPr lang="en-US" sz="2400" b="1" dirty="0">
                <a:solidFill>
                  <a:srgbClr val="E8EEF8"/>
                </a:solidFill>
              </a:rPr>
              <a:t>AED 5.77M</a:t>
            </a:r>
            <a:endParaRPr lang="en-US" sz="2400" dirty="0"/>
          </a:p>
        </p:txBody>
      </p:sp>
      <p:sp>
        <p:nvSpPr>
          <p:cNvPr id="19" name="Text 17"/>
          <p:cNvSpPr txBox="1"/>
          <p:nvPr/>
        </p:nvSpPr>
        <p:spPr>
          <a:xfrm>
            <a:off x="777240" y="5660136"/>
            <a:ext cx="2926080" cy="201168"/>
          </a:xfrm>
          <a:prstGeom prst="rect">
            <a:avLst/>
          </a:prstGeom>
          <a:noFill/>
          <a:ln/>
        </p:spPr>
        <p:txBody>
          <a:bodyPr wrap="square" lIns="0" tIns="0" rIns="0" bIns="0" rtlCol="0" anchor="t"/>
          <a:lstStyle/>
          <a:p>
            <a:pPr indent="0" marL="0">
              <a:buNone/>
            </a:pPr>
            <a:r>
              <a:rPr lang="en-US" sz="1000" dirty="0">
                <a:solidFill>
                  <a:srgbClr val="70819B"/>
                </a:solidFill>
              </a:rPr>
              <a:t>ROI 388%</a:t>
            </a:r>
            <a:endParaRPr lang="en-US" sz="1000" dirty="0"/>
          </a:p>
        </p:txBody>
      </p:sp>
      <p:graphicFrame>
        <p:nvGraphicFramePr>
          <p:cNvPr id="20" name="chart-cash" descr=""/>
          <p:cNvGraphicFramePr/>
          <p:nvPr/>
        </p:nvGraphicFramePr>
        <p:xfrm>
          <a:off x="4069080" y="1600200"/>
          <a:ext cx="754380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assumptions"/>
          <p:cNvGraphicFramePr>
            <a:graphicFrameLocks noGrp="1"/>
          </p:cNvGraphicFramePr>
          <p:nvPr>
            <p:extLst>
              <p:ext uri="{D42A27DB-BD31-4B8C-83A1-F6EECF244321}">
                <p14:modId xmlns:p14="http://schemas.microsoft.com/office/powerpoint/2010/main" val="1579011935"/>
              </p:ext>
            </p:extLst>
          </p:nvPr>
        </p:nvGraphicFramePr>
        <p:xfrm>
          <a:off x="4069080" y="5074920"/>
          <a:ext cx="7543800" cy="914400"/>
        </p:xfrm>
        <a:graphic>
          <a:graphicData uri="http://schemas.openxmlformats.org/drawingml/2006/table">
            <a:tbl>
              <a:tblPr/>
              <a:tblGrid>
                <a:gridCol w="4572000"/>
                <a:gridCol w="2971800"/>
              </a:tblGrid>
              <a:tr h="274320">
                <a:tc>
                  <a:txBody>
                    <a:bodyPr/>
                    <a:lstStyle/>
                    <a:p>
                      <a:pPr indent="0" marL="0">
                        <a:buNone/>
                      </a:pPr>
                      <a:r>
                        <a:rPr lang="en-US" sz="1200" b="1" dirty="0">
                          <a:solidFill>
                            <a:srgbClr val="70819B"/>
                          </a:solidFill>
                        </a:rPr>
                        <a:t>Assumption (illustrative)</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c>
                  <a:txBody>
                    <a:bodyPr/>
                    <a:lstStyle/>
                    <a:p>
                      <a:pPr algn="r" indent="0" marL="0">
                        <a:buNone/>
                      </a:pPr>
                      <a:r>
                        <a:rPr lang="en-US" sz="1200" b="1" dirty="0">
                          <a:solidFill>
                            <a:srgbClr val="70819B"/>
                          </a:solidFill>
                        </a:rPr>
                        <a:t>Base case</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r>
              <a:tr h="274320">
                <a:tc>
                  <a:txBody>
                    <a:bodyPr/>
                    <a:lstStyle/>
                    <a:p>
                      <a:pPr indent="0" marL="0">
                        <a:buNone/>
                      </a:pPr>
                      <a:r>
                        <a:rPr lang="en-US" sz="1200" dirty="0">
                          <a:solidFill>
                            <a:srgbClr val="E8EEF8"/>
                          </a:solidFill>
                        </a:rPr>
                        <a:t>Portfolio · projects onboarded</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c>
                  <a:txBody>
                    <a:bodyPr/>
                    <a:lstStyle/>
                    <a:p>
                      <a:pPr indent="0" marL="0">
                        <a:buNone/>
                      </a:pPr>
                      <a:r>
                        <a:rPr lang="en-US" sz="1200" dirty="0">
                          <a:solidFill>
                            <a:srgbClr val="E8EEF8"/>
                          </a:solidFill>
                        </a:rPr>
                        <a:t>AED 60M · 40</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r>
              <a:tr h="274320">
                <a:tc>
                  <a:txBody>
                    <a:bodyPr/>
                    <a:lstStyle/>
                    <a:p>
                      <a:pPr indent="0" marL="0">
                        <a:buNone/>
                      </a:pPr>
                      <a:r>
                        <a:rPr lang="en-US" sz="1200" dirty="0">
                          <a:solidFill>
                            <a:srgbClr val="E8EEF8"/>
                          </a:solidFill>
                        </a:rPr>
                        <a:t>Overrun today → avoided</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c>
                  <a:txBody>
                    <a:bodyPr/>
                    <a:lstStyle/>
                    <a:p>
                      <a:pPr indent="0" marL="0">
                        <a:buNone/>
                      </a:pPr>
                      <a:r>
                        <a:rPr lang="en-US" sz="1200" dirty="0">
                          <a:solidFill>
                            <a:srgbClr val="E8EEF8"/>
                          </a:solidFill>
                        </a:rPr>
                        <a:t>11% → 25% of it</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r>
              <a:tr h="274320">
                <a:tc>
                  <a:txBody>
                    <a:bodyPr/>
                    <a:lstStyle/>
                    <a:p>
                      <a:pPr indent="0" marL="0">
                        <a:buNone/>
                      </a:pPr>
                      <a:r>
                        <a:rPr lang="en-US" sz="1200" dirty="0">
                          <a:solidFill>
                            <a:srgbClr val="E8EEF8"/>
                          </a:solidFill>
                        </a:rPr>
                        <a:t>PMO reporting hours automated</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c>
                  <a:txBody>
                    <a:bodyPr/>
                    <a:lstStyle/>
                    <a:p>
                      <a:pPr indent="0" marL="0">
                        <a:buNone/>
                      </a:pPr>
                      <a:r>
                        <a:rPr lang="en-US" sz="1200" dirty="0">
                          <a:solidFill>
                            <a:srgbClr val="E8EEF8"/>
                          </a:solidFill>
                        </a:rPr>
                        <a:t>70% of 3.5 h/project/week</a:t>
                      </a:r>
                      <a:endParaRPr lang="en-US" sz="1200" dirty="0"/>
                    </a:p>
                  </a:txBody>
                  <a:tcPr marL="101600" marR="101600" marT="25400" marB="25400">
                    <a:lnL w="6350" cap="flat" cmpd="sng" algn="ctr">
                      <a:solidFill>
                        <a:srgbClr val="2A3A55"/>
                      </a:solidFill>
                      <a:prstDash val="solid"/>
                      <a:round/>
                      <a:headEnd type="none" w="med" len="med"/>
                      <a:tailEnd type="none" w="med" len="med"/>
                    </a:lnL>
                    <a:lnR w="6350" cap="flat" cmpd="sng" algn="ctr">
                      <a:solidFill>
                        <a:srgbClr val="2A3A55"/>
                      </a:solidFill>
                      <a:prstDash val="solid"/>
                      <a:round/>
                      <a:headEnd type="none" w="med" len="med"/>
                      <a:tailEnd type="none" w="med" len="med"/>
                    </a:lnR>
                    <a:lnT w="6350" cap="flat" cmpd="sng" algn="ctr">
                      <a:solidFill>
                        <a:srgbClr val="2A3A55"/>
                      </a:solidFill>
                      <a:prstDash val="solid"/>
                      <a:round/>
                      <a:headEnd type="none" w="med" len="med"/>
                      <a:tailEnd type="none" w="med" len="med"/>
                    </a:lnT>
                    <a:lnB w="6350" cap="flat" cmpd="sng" algn="ctr">
                      <a:solidFill>
                        <a:srgbClr val="2A3A55"/>
                      </a:solidFill>
                      <a:prstDash val="solid"/>
                      <a:round/>
                      <a:headEnd type="none" w="med" len="med"/>
                      <a:tailEnd type="none" w="med" len="med"/>
                    </a:lnB>
                    <a:solidFill>
                      <a:srgbClr val="16233A"/>
                    </a:solidFill>
                  </a:tcPr>
                </a:tc>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09 · AUTOMATION &amp; AI APPROACH</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Machines do the chasing; people make the decisions</a:t>
            </a:r>
            <a:endParaRPr lang="en-US" sz="3000" dirty="0"/>
          </a:p>
        </p:txBody>
      </p:sp>
      <p:graphicFrame>
        <p:nvGraphicFramePr>
          <p:cNvPr id="4" name="chart-hours" descr=""/>
          <p:cNvGraphicFramePr/>
          <p:nvPr/>
        </p:nvGraphicFramePr>
        <p:xfrm>
          <a:off x="548640" y="1600200"/>
          <a:ext cx="5760720" cy="3886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23560"/>
            <a:ext cx="5760720" cy="411480"/>
          </a:xfrm>
          <a:prstGeom prst="rect">
            <a:avLst/>
          </a:prstGeom>
          <a:noFill/>
          <a:ln/>
        </p:spPr>
        <p:txBody>
          <a:bodyPr wrap="square" lIns="0" tIns="0" rIns="0" bIns="0" rtlCol="0" anchor="ctr"/>
          <a:lstStyle/>
          <a:p>
            <a:pPr indent="0" marL="0">
              <a:buNone/>
            </a:pPr>
            <a:r>
              <a:rPr lang="en-US" sz="2200" b="1" dirty="0">
                <a:solidFill>
                  <a:srgbClr val="2DD4BF"/>
                </a:solidFill>
              </a:rPr>
              <a:t>33h → 4h</a:t>
            </a:r>
            <a:pPr indent="0" marL="0">
              <a:buNone/>
            </a:pPr>
            <a:r>
              <a:rPr lang="en-US" sz="1200" dirty="0">
                <a:solidFill>
                  <a:srgbClr val="A7B6CC"/>
                </a:solidFill>
              </a:rPr>
              <a:t>  per analyst, per week (illustrative)</a:t>
            </a:r>
            <a:endParaRPr lang="en-US" sz="1400" dirty="0"/>
          </a:p>
        </p:txBody>
      </p:sp>
      <p:sp>
        <p:nvSpPr>
          <p:cNvPr id="6" name="gateway"/>
          <p:cNvSpPr/>
          <p:nvPr/>
        </p:nvSpPr>
        <p:spPr>
          <a:xfrm>
            <a:off x="6537960" y="1600200"/>
            <a:ext cx="5074920" cy="2057400"/>
          </a:xfrm>
          <a:prstGeom prst="roundRect">
            <a:avLst>
              <a:gd name="adj" fmla="val 5333"/>
            </a:avLst>
          </a:prstGeom>
          <a:solidFill>
            <a:srgbClr val="16233A"/>
          </a:solidFill>
          <a:ln w="9525">
            <a:solidFill>
              <a:srgbClr val="2A3A55"/>
            </a:solidFill>
            <a:prstDash val="solid"/>
          </a:ln>
        </p:spPr>
      </p:sp>
      <p:sp>
        <p:nvSpPr>
          <p:cNvPr id="7" name="Text 4"/>
          <p:cNvSpPr txBox="1"/>
          <p:nvPr/>
        </p:nvSpPr>
        <p:spPr>
          <a:xfrm>
            <a:off x="6766560" y="1737360"/>
            <a:ext cx="4663440" cy="292608"/>
          </a:xfrm>
          <a:prstGeom prst="rect">
            <a:avLst/>
          </a:prstGeom>
          <a:noFill/>
          <a:ln/>
        </p:spPr>
        <p:txBody>
          <a:bodyPr wrap="square" lIns="0" tIns="0" rIns="0" bIns="0" rtlCol="0" anchor="t"/>
          <a:lstStyle/>
          <a:p>
            <a:pPr indent="0" marL="0">
              <a:buNone/>
            </a:pPr>
            <a:r>
              <a:rPr lang="en-US" sz="1400" b="1" dirty="0">
                <a:solidFill>
                  <a:srgbClr val="8B7CFF"/>
                </a:solidFill>
              </a:rPr>
              <a:t>AI gateway · 12 providers, ordered failover</a:t>
            </a:r>
            <a:endParaRPr lang="en-US" sz="1400" dirty="0"/>
          </a:p>
        </p:txBody>
      </p:sp>
      <p:sp>
        <p:nvSpPr>
          <p:cNvPr id="8" name="provider-0"/>
          <p:cNvSpPr/>
          <p:nvPr/>
        </p:nvSpPr>
        <p:spPr>
          <a:xfrm>
            <a:off x="6766560" y="2148840"/>
            <a:ext cx="1078992" cy="347472"/>
          </a:xfrm>
          <a:prstGeom prst="roundRect">
            <a:avLst>
              <a:gd name="adj" fmla="val 13158"/>
            </a:avLst>
          </a:prstGeom>
          <a:solidFill>
            <a:srgbClr val="183C40"/>
          </a:solidFill>
          <a:ln w="9525">
            <a:solidFill>
              <a:srgbClr val="2DD4BF"/>
            </a:solidFill>
            <a:prstDash val="solid"/>
          </a:ln>
        </p:spPr>
      </p:sp>
      <p:sp>
        <p:nvSpPr>
          <p:cNvPr id="9" name="Text 6"/>
          <p:cNvSpPr txBox="1"/>
          <p:nvPr/>
        </p:nvSpPr>
        <p:spPr>
          <a:xfrm>
            <a:off x="6766560" y="2148840"/>
            <a:ext cx="1078992" cy="347472"/>
          </a:xfrm>
          <a:prstGeom prst="rect">
            <a:avLst/>
          </a:prstGeom>
          <a:noFill/>
          <a:ln/>
        </p:spPr>
        <p:txBody>
          <a:bodyPr wrap="square" lIns="0" tIns="0" rIns="0" bIns="0" rtlCol="0" anchor="ctr"/>
          <a:lstStyle/>
          <a:p>
            <a:pPr algn="ctr" indent="0" marL="0">
              <a:buNone/>
            </a:pPr>
            <a:r>
              <a:rPr lang="en-US" sz="1000" dirty="0">
                <a:solidFill>
                  <a:srgbClr val="E8EEF8"/>
                </a:solidFill>
              </a:rPr>
              <a:t>1 Groq</a:t>
            </a:r>
            <a:endParaRPr lang="en-US" sz="1000" dirty="0"/>
          </a:p>
        </p:txBody>
      </p:sp>
      <p:sp>
        <p:nvSpPr>
          <p:cNvPr id="10" name="provider-1"/>
          <p:cNvSpPr/>
          <p:nvPr/>
        </p:nvSpPr>
        <p:spPr>
          <a:xfrm>
            <a:off x="7936992" y="2148840"/>
            <a:ext cx="1078992" cy="347472"/>
          </a:xfrm>
          <a:prstGeom prst="roundRect">
            <a:avLst>
              <a:gd name="adj" fmla="val 13158"/>
            </a:avLst>
          </a:prstGeom>
          <a:solidFill>
            <a:srgbClr val="1D2D49"/>
          </a:solidFill>
          <a:ln w="9525">
            <a:solidFill>
              <a:srgbClr val="2A3A55"/>
            </a:solidFill>
            <a:prstDash val="solid"/>
          </a:ln>
        </p:spPr>
      </p:sp>
      <p:sp>
        <p:nvSpPr>
          <p:cNvPr id="11" name="Text 8"/>
          <p:cNvSpPr txBox="1"/>
          <p:nvPr/>
        </p:nvSpPr>
        <p:spPr>
          <a:xfrm>
            <a:off x="7936992" y="21488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2 OpenRouter</a:t>
            </a:r>
            <a:endParaRPr lang="en-US" sz="1000" dirty="0"/>
          </a:p>
        </p:txBody>
      </p:sp>
      <p:sp>
        <p:nvSpPr>
          <p:cNvPr id="12" name="provider-2"/>
          <p:cNvSpPr/>
          <p:nvPr/>
        </p:nvSpPr>
        <p:spPr>
          <a:xfrm>
            <a:off x="9107424" y="2148840"/>
            <a:ext cx="1078992" cy="347472"/>
          </a:xfrm>
          <a:prstGeom prst="roundRect">
            <a:avLst>
              <a:gd name="adj" fmla="val 13158"/>
            </a:avLst>
          </a:prstGeom>
          <a:solidFill>
            <a:srgbClr val="1D2D49"/>
          </a:solidFill>
          <a:ln w="9525">
            <a:solidFill>
              <a:srgbClr val="2A3A55"/>
            </a:solidFill>
            <a:prstDash val="solid"/>
          </a:ln>
        </p:spPr>
      </p:sp>
      <p:sp>
        <p:nvSpPr>
          <p:cNvPr id="13" name="Text 10"/>
          <p:cNvSpPr txBox="1"/>
          <p:nvPr/>
        </p:nvSpPr>
        <p:spPr>
          <a:xfrm>
            <a:off x="9107424" y="21488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3 Cerebras</a:t>
            </a:r>
            <a:endParaRPr lang="en-US" sz="1000" dirty="0"/>
          </a:p>
        </p:txBody>
      </p:sp>
      <p:sp>
        <p:nvSpPr>
          <p:cNvPr id="14" name="provider-3"/>
          <p:cNvSpPr/>
          <p:nvPr/>
        </p:nvSpPr>
        <p:spPr>
          <a:xfrm>
            <a:off x="10277856" y="2148840"/>
            <a:ext cx="1078992" cy="347472"/>
          </a:xfrm>
          <a:prstGeom prst="roundRect">
            <a:avLst>
              <a:gd name="adj" fmla="val 13158"/>
            </a:avLst>
          </a:prstGeom>
          <a:solidFill>
            <a:srgbClr val="1D2D49"/>
          </a:solidFill>
          <a:ln w="9525">
            <a:solidFill>
              <a:srgbClr val="2A3A55"/>
            </a:solidFill>
            <a:prstDash val="solid"/>
          </a:ln>
        </p:spPr>
      </p:sp>
      <p:sp>
        <p:nvSpPr>
          <p:cNvPr id="15" name="Text 12"/>
          <p:cNvSpPr txBox="1"/>
          <p:nvPr/>
        </p:nvSpPr>
        <p:spPr>
          <a:xfrm>
            <a:off x="10277856" y="21488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4 Gemini</a:t>
            </a:r>
            <a:endParaRPr lang="en-US" sz="1000" dirty="0"/>
          </a:p>
        </p:txBody>
      </p:sp>
      <p:sp>
        <p:nvSpPr>
          <p:cNvPr id="16" name="provider-4"/>
          <p:cNvSpPr/>
          <p:nvPr/>
        </p:nvSpPr>
        <p:spPr>
          <a:xfrm>
            <a:off x="6766560" y="2606040"/>
            <a:ext cx="1078992" cy="347472"/>
          </a:xfrm>
          <a:prstGeom prst="roundRect">
            <a:avLst>
              <a:gd name="adj" fmla="val 13158"/>
            </a:avLst>
          </a:prstGeom>
          <a:solidFill>
            <a:srgbClr val="1D2D49"/>
          </a:solidFill>
          <a:ln w="9525">
            <a:solidFill>
              <a:srgbClr val="2A3A55"/>
            </a:solidFill>
            <a:prstDash val="solid"/>
          </a:ln>
        </p:spPr>
      </p:sp>
      <p:sp>
        <p:nvSpPr>
          <p:cNvPr id="17" name="Text 14"/>
          <p:cNvSpPr txBox="1"/>
          <p:nvPr/>
        </p:nvSpPr>
        <p:spPr>
          <a:xfrm>
            <a:off x="6766560" y="26060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5 SambaNova</a:t>
            </a:r>
            <a:endParaRPr lang="en-US" sz="1000" dirty="0"/>
          </a:p>
        </p:txBody>
      </p:sp>
      <p:sp>
        <p:nvSpPr>
          <p:cNvPr id="18" name="provider-5"/>
          <p:cNvSpPr/>
          <p:nvPr/>
        </p:nvSpPr>
        <p:spPr>
          <a:xfrm>
            <a:off x="7936992" y="2606040"/>
            <a:ext cx="1078992" cy="347472"/>
          </a:xfrm>
          <a:prstGeom prst="roundRect">
            <a:avLst>
              <a:gd name="adj" fmla="val 13158"/>
            </a:avLst>
          </a:prstGeom>
          <a:solidFill>
            <a:srgbClr val="1D2D49"/>
          </a:solidFill>
          <a:ln w="9525">
            <a:solidFill>
              <a:srgbClr val="2A3A55"/>
            </a:solidFill>
            <a:prstDash val="solid"/>
          </a:ln>
        </p:spPr>
      </p:sp>
      <p:sp>
        <p:nvSpPr>
          <p:cNvPr id="19" name="Text 16"/>
          <p:cNvSpPr txBox="1"/>
          <p:nvPr/>
        </p:nvSpPr>
        <p:spPr>
          <a:xfrm>
            <a:off x="7936992" y="26060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6 Together</a:t>
            </a:r>
            <a:endParaRPr lang="en-US" sz="1000" dirty="0"/>
          </a:p>
        </p:txBody>
      </p:sp>
      <p:sp>
        <p:nvSpPr>
          <p:cNvPr id="20" name="provider-6"/>
          <p:cNvSpPr/>
          <p:nvPr/>
        </p:nvSpPr>
        <p:spPr>
          <a:xfrm>
            <a:off x="9107424" y="2606040"/>
            <a:ext cx="1078992" cy="347472"/>
          </a:xfrm>
          <a:prstGeom prst="roundRect">
            <a:avLst>
              <a:gd name="adj" fmla="val 13158"/>
            </a:avLst>
          </a:prstGeom>
          <a:solidFill>
            <a:srgbClr val="1D2D49"/>
          </a:solidFill>
          <a:ln w="9525">
            <a:solidFill>
              <a:srgbClr val="2A3A55"/>
            </a:solidFill>
            <a:prstDash val="solid"/>
          </a:ln>
        </p:spPr>
      </p:sp>
      <p:sp>
        <p:nvSpPr>
          <p:cNvPr id="21" name="Text 18"/>
          <p:cNvSpPr txBox="1"/>
          <p:nvPr/>
        </p:nvSpPr>
        <p:spPr>
          <a:xfrm>
            <a:off x="9107424" y="26060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7 HuggingFace</a:t>
            </a:r>
            <a:endParaRPr lang="en-US" sz="1000" dirty="0"/>
          </a:p>
        </p:txBody>
      </p:sp>
      <p:sp>
        <p:nvSpPr>
          <p:cNvPr id="22" name="provider-7"/>
          <p:cNvSpPr/>
          <p:nvPr/>
        </p:nvSpPr>
        <p:spPr>
          <a:xfrm>
            <a:off x="10277856" y="2606040"/>
            <a:ext cx="1078992" cy="347472"/>
          </a:xfrm>
          <a:prstGeom prst="roundRect">
            <a:avLst>
              <a:gd name="adj" fmla="val 13158"/>
            </a:avLst>
          </a:prstGeom>
          <a:solidFill>
            <a:srgbClr val="1D2D49"/>
          </a:solidFill>
          <a:ln w="9525">
            <a:solidFill>
              <a:srgbClr val="2A3A55"/>
            </a:solidFill>
            <a:prstDash val="solid"/>
          </a:ln>
        </p:spPr>
      </p:sp>
      <p:sp>
        <p:nvSpPr>
          <p:cNvPr id="23" name="Text 20"/>
          <p:cNvSpPr txBox="1"/>
          <p:nvPr/>
        </p:nvSpPr>
        <p:spPr>
          <a:xfrm>
            <a:off x="10277856" y="26060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8 Qwen</a:t>
            </a:r>
            <a:endParaRPr lang="en-US" sz="1000" dirty="0"/>
          </a:p>
        </p:txBody>
      </p:sp>
      <p:sp>
        <p:nvSpPr>
          <p:cNvPr id="24" name="provider-8"/>
          <p:cNvSpPr/>
          <p:nvPr/>
        </p:nvSpPr>
        <p:spPr>
          <a:xfrm>
            <a:off x="6766560" y="3063240"/>
            <a:ext cx="1078992" cy="347472"/>
          </a:xfrm>
          <a:prstGeom prst="roundRect">
            <a:avLst>
              <a:gd name="adj" fmla="val 13158"/>
            </a:avLst>
          </a:prstGeom>
          <a:solidFill>
            <a:srgbClr val="1D2D49"/>
          </a:solidFill>
          <a:ln w="9525">
            <a:solidFill>
              <a:srgbClr val="2A3A55"/>
            </a:solidFill>
            <a:prstDash val="solid"/>
          </a:ln>
        </p:spPr>
      </p:sp>
      <p:sp>
        <p:nvSpPr>
          <p:cNvPr id="25" name="Text 22"/>
          <p:cNvSpPr txBox="1"/>
          <p:nvPr/>
        </p:nvSpPr>
        <p:spPr>
          <a:xfrm>
            <a:off x="6766560" y="30632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9 DeepSeek</a:t>
            </a:r>
            <a:endParaRPr lang="en-US" sz="1000" dirty="0"/>
          </a:p>
        </p:txBody>
      </p:sp>
      <p:sp>
        <p:nvSpPr>
          <p:cNvPr id="26" name="provider-9"/>
          <p:cNvSpPr/>
          <p:nvPr/>
        </p:nvSpPr>
        <p:spPr>
          <a:xfrm>
            <a:off x="7936992" y="3063240"/>
            <a:ext cx="1078992" cy="347472"/>
          </a:xfrm>
          <a:prstGeom prst="roundRect">
            <a:avLst>
              <a:gd name="adj" fmla="val 13158"/>
            </a:avLst>
          </a:prstGeom>
          <a:solidFill>
            <a:srgbClr val="1D2D49"/>
          </a:solidFill>
          <a:ln w="9525">
            <a:solidFill>
              <a:srgbClr val="2A3A55"/>
            </a:solidFill>
            <a:prstDash val="solid"/>
          </a:ln>
        </p:spPr>
      </p:sp>
      <p:sp>
        <p:nvSpPr>
          <p:cNvPr id="27" name="Text 24"/>
          <p:cNvSpPr txBox="1"/>
          <p:nvPr/>
        </p:nvSpPr>
        <p:spPr>
          <a:xfrm>
            <a:off x="7936992" y="30632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10 Mistral</a:t>
            </a:r>
            <a:endParaRPr lang="en-US" sz="1000" dirty="0"/>
          </a:p>
        </p:txBody>
      </p:sp>
      <p:sp>
        <p:nvSpPr>
          <p:cNvPr id="28" name="provider-10"/>
          <p:cNvSpPr/>
          <p:nvPr/>
        </p:nvSpPr>
        <p:spPr>
          <a:xfrm>
            <a:off x="9107424" y="3063240"/>
            <a:ext cx="1078992" cy="347472"/>
          </a:xfrm>
          <a:prstGeom prst="roundRect">
            <a:avLst>
              <a:gd name="adj" fmla="val 13158"/>
            </a:avLst>
          </a:prstGeom>
          <a:solidFill>
            <a:srgbClr val="1D2D49"/>
          </a:solidFill>
          <a:ln w="9525">
            <a:solidFill>
              <a:srgbClr val="2A3A55"/>
            </a:solidFill>
            <a:prstDash val="solid"/>
          </a:ln>
        </p:spPr>
      </p:sp>
      <p:sp>
        <p:nvSpPr>
          <p:cNvPr id="29" name="Text 26"/>
          <p:cNvSpPr txBox="1"/>
          <p:nvPr/>
        </p:nvSpPr>
        <p:spPr>
          <a:xfrm>
            <a:off x="9107424" y="30632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11 NVIDIA NIM</a:t>
            </a:r>
            <a:endParaRPr lang="en-US" sz="1000" dirty="0"/>
          </a:p>
        </p:txBody>
      </p:sp>
      <p:sp>
        <p:nvSpPr>
          <p:cNvPr id="30" name="provider-11"/>
          <p:cNvSpPr/>
          <p:nvPr/>
        </p:nvSpPr>
        <p:spPr>
          <a:xfrm>
            <a:off x="10277856" y="3063240"/>
            <a:ext cx="1078992" cy="347472"/>
          </a:xfrm>
          <a:prstGeom prst="roundRect">
            <a:avLst>
              <a:gd name="adj" fmla="val 13158"/>
            </a:avLst>
          </a:prstGeom>
          <a:solidFill>
            <a:srgbClr val="1D2D49"/>
          </a:solidFill>
          <a:ln w="9525">
            <a:solidFill>
              <a:srgbClr val="2A3A55"/>
            </a:solidFill>
            <a:prstDash val="solid"/>
          </a:ln>
        </p:spPr>
      </p:sp>
      <p:sp>
        <p:nvSpPr>
          <p:cNvPr id="31" name="Text 28"/>
          <p:cNvSpPr txBox="1"/>
          <p:nvPr/>
        </p:nvSpPr>
        <p:spPr>
          <a:xfrm>
            <a:off x="10277856" y="3063240"/>
            <a:ext cx="1078992" cy="347472"/>
          </a:xfrm>
          <a:prstGeom prst="rect">
            <a:avLst/>
          </a:prstGeom>
          <a:noFill/>
          <a:ln/>
        </p:spPr>
        <p:txBody>
          <a:bodyPr wrap="square" lIns="0" tIns="0" rIns="0" bIns="0" rtlCol="0" anchor="ctr"/>
          <a:lstStyle/>
          <a:p>
            <a:pPr algn="ctr" indent="0" marL="0">
              <a:buNone/>
            </a:pPr>
            <a:r>
              <a:rPr lang="en-US" sz="1000" dirty="0">
                <a:solidFill>
                  <a:srgbClr val="A7B6CC"/>
                </a:solidFill>
              </a:rPr>
              <a:t>12 Grok</a:t>
            </a:r>
            <a:endParaRPr lang="en-US" sz="1000" dirty="0"/>
          </a:p>
        </p:txBody>
      </p:sp>
      <p:sp>
        <p:nvSpPr>
          <p:cNvPr id="32" name="cap-dot-0"/>
          <p:cNvSpPr/>
          <p:nvPr/>
        </p:nvSpPr>
        <p:spPr>
          <a:xfrm>
            <a:off x="6583680" y="3886200"/>
            <a:ext cx="182880" cy="182880"/>
          </a:xfrm>
          <a:prstGeom prst="ellipse">
            <a:avLst/>
          </a:prstGeom>
          <a:solidFill>
            <a:srgbClr val="8B7CFF"/>
          </a:solidFill>
          <a:ln w="12700">
            <a:solidFill>
              <a:srgbClr val="0A111D"/>
            </a:solidFill>
            <a:prstDash val="solid"/>
          </a:ln>
        </p:spPr>
      </p:sp>
      <p:sp>
        <p:nvSpPr>
          <p:cNvPr id="33" name="Text 30"/>
          <p:cNvSpPr txBox="1"/>
          <p:nvPr/>
        </p:nvSpPr>
        <p:spPr>
          <a:xfrm>
            <a:off x="6903720" y="3794760"/>
            <a:ext cx="4709160" cy="365760"/>
          </a:xfrm>
          <a:prstGeom prst="rect">
            <a:avLst/>
          </a:prstGeom>
          <a:noFill/>
          <a:ln/>
        </p:spPr>
        <p:txBody>
          <a:bodyPr wrap="square" lIns="0" tIns="0" rIns="0" bIns="0" rtlCol="0" anchor="ctr"/>
          <a:lstStyle/>
          <a:p>
            <a:pPr indent="0" marL="0">
              <a:buNone/>
            </a:pPr>
            <a:r>
              <a:rPr lang="en-US" sz="1300" b="1" dirty="0">
                <a:solidFill>
                  <a:srgbClr val="E8EEF8"/>
                </a:solidFill>
              </a:rPr>
              <a:t>Portfolio chat  </a:t>
            </a:r>
            <a:pPr indent="0" marL="0">
              <a:buNone/>
            </a:pPr>
            <a:r>
              <a:rPr lang="en-US" sz="1300" dirty="0">
                <a:solidFill>
                  <a:srgbClr val="A7B6CC"/>
                </a:solidFill>
              </a:rPr>
              <a:t>scoped to one, all or compared projects</a:t>
            </a:r>
            <a:endParaRPr lang="en-US" sz="1300" dirty="0"/>
          </a:p>
        </p:txBody>
      </p:sp>
      <p:sp>
        <p:nvSpPr>
          <p:cNvPr id="34" name="cap-dot-1"/>
          <p:cNvSpPr/>
          <p:nvPr/>
        </p:nvSpPr>
        <p:spPr>
          <a:xfrm>
            <a:off x="6583680" y="4343400"/>
            <a:ext cx="182880" cy="182880"/>
          </a:xfrm>
          <a:prstGeom prst="ellipse">
            <a:avLst/>
          </a:prstGeom>
          <a:solidFill>
            <a:srgbClr val="8B7CFF"/>
          </a:solidFill>
          <a:ln w="12700">
            <a:solidFill>
              <a:srgbClr val="0A111D"/>
            </a:solidFill>
            <a:prstDash val="solid"/>
          </a:ln>
        </p:spPr>
      </p:sp>
      <p:sp>
        <p:nvSpPr>
          <p:cNvPr id="35" name="Text 32"/>
          <p:cNvSpPr txBox="1"/>
          <p:nvPr/>
        </p:nvSpPr>
        <p:spPr>
          <a:xfrm>
            <a:off x="6903720" y="4251960"/>
            <a:ext cx="4709160" cy="365760"/>
          </a:xfrm>
          <a:prstGeom prst="rect">
            <a:avLst/>
          </a:prstGeom>
          <a:noFill/>
          <a:ln/>
        </p:spPr>
        <p:txBody>
          <a:bodyPr wrap="square" lIns="0" tIns="0" rIns="0" bIns="0" rtlCol="0" anchor="ctr"/>
          <a:lstStyle/>
          <a:p>
            <a:pPr indent="0" marL="0">
              <a:buNone/>
            </a:pPr>
            <a:r>
              <a:rPr lang="en-US" sz="1300" b="1" dirty="0">
                <a:solidFill>
                  <a:srgbClr val="E8EEF8"/>
                </a:solidFill>
              </a:rPr>
              <a:t>AI Summary &amp; risk analysis  </a:t>
            </a:r>
            <a:pPr indent="0" marL="0">
              <a:buNone/>
            </a:pPr>
            <a:r>
              <a:rPr lang="en-US" sz="1300" dirty="0">
                <a:solidFill>
                  <a:srgbClr val="A7B6CC"/>
                </a:solidFill>
              </a:rPr>
              <a:t>one-click briefs and mitigation ideas</a:t>
            </a:r>
            <a:endParaRPr lang="en-US" sz="1300" dirty="0"/>
          </a:p>
        </p:txBody>
      </p:sp>
      <p:sp>
        <p:nvSpPr>
          <p:cNvPr id="36" name="cap-dot-2"/>
          <p:cNvSpPr/>
          <p:nvPr/>
        </p:nvSpPr>
        <p:spPr>
          <a:xfrm>
            <a:off x="6583680" y="4800600"/>
            <a:ext cx="182880" cy="182880"/>
          </a:xfrm>
          <a:prstGeom prst="ellipse">
            <a:avLst/>
          </a:prstGeom>
          <a:solidFill>
            <a:srgbClr val="8B7CFF"/>
          </a:solidFill>
          <a:ln w="12700">
            <a:solidFill>
              <a:srgbClr val="0A111D"/>
            </a:solidFill>
            <a:prstDash val="solid"/>
          </a:ln>
        </p:spPr>
      </p:sp>
      <p:sp>
        <p:nvSpPr>
          <p:cNvPr id="37" name="Text 34"/>
          <p:cNvSpPr txBox="1"/>
          <p:nvPr/>
        </p:nvSpPr>
        <p:spPr>
          <a:xfrm>
            <a:off x="6903720" y="4709160"/>
            <a:ext cx="4709160" cy="365760"/>
          </a:xfrm>
          <a:prstGeom prst="rect">
            <a:avLst/>
          </a:prstGeom>
          <a:noFill/>
          <a:ln/>
        </p:spPr>
        <p:txBody>
          <a:bodyPr wrap="square" lIns="0" tIns="0" rIns="0" bIns="0" rtlCol="0" anchor="ctr"/>
          <a:lstStyle/>
          <a:p>
            <a:pPr indent="0" marL="0">
              <a:buNone/>
            </a:pPr>
            <a:r>
              <a:rPr lang="en-US" sz="1300" b="1" dirty="0">
                <a:solidFill>
                  <a:srgbClr val="E8EEF8"/>
                </a:solidFill>
              </a:rPr>
              <a:t>Dashboard insights  </a:t>
            </a:r>
            <a:pPr indent="0" marL="0">
              <a:buNone/>
            </a:pPr>
            <a:r>
              <a:rPr lang="en-US" sz="1300" dirty="0">
                <a:solidFill>
                  <a:srgbClr val="A7B6CC"/>
                </a:solidFill>
              </a:rPr>
              <a:t>narrates what changed</a:t>
            </a:r>
            <a:endParaRPr lang="en-US" sz="1300" dirty="0"/>
          </a:p>
        </p:txBody>
      </p:sp>
      <p:sp>
        <p:nvSpPr>
          <p:cNvPr id="38" name="cap-dot-3"/>
          <p:cNvSpPr/>
          <p:nvPr/>
        </p:nvSpPr>
        <p:spPr>
          <a:xfrm>
            <a:off x="6583680" y="5257800"/>
            <a:ext cx="182880" cy="182880"/>
          </a:xfrm>
          <a:prstGeom prst="ellipse">
            <a:avLst/>
          </a:prstGeom>
          <a:solidFill>
            <a:srgbClr val="8B7CFF"/>
          </a:solidFill>
          <a:ln w="12700">
            <a:solidFill>
              <a:srgbClr val="0A111D"/>
            </a:solidFill>
            <a:prstDash val="solid"/>
          </a:ln>
        </p:spPr>
      </p:sp>
      <p:sp>
        <p:nvSpPr>
          <p:cNvPr id="39" name="Text 36"/>
          <p:cNvSpPr txBox="1"/>
          <p:nvPr/>
        </p:nvSpPr>
        <p:spPr>
          <a:xfrm>
            <a:off x="6903720" y="5166360"/>
            <a:ext cx="4709160" cy="365760"/>
          </a:xfrm>
          <a:prstGeom prst="rect">
            <a:avLst/>
          </a:prstGeom>
          <a:noFill/>
          <a:ln/>
        </p:spPr>
        <p:txBody>
          <a:bodyPr wrap="square" lIns="0" tIns="0" rIns="0" bIns="0" rtlCol="0" anchor="ctr"/>
          <a:lstStyle/>
          <a:p>
            <a:pPr indent="0" marL="0">
              <a:buNone/>
            </a:pPr>
            <a:r>
              <a:rPr lang="en-US" sz="1300" b="1" dirty="0">
                <a:solidFill>
                  <a:srgbClr val="E8EEF8"/>
                </a:solidFill>
              </a:rPr>
              <a:t>AI fill  </a:t>
            </a:r>
            <a:pPr indent="0" marL="0">
              <a:buNone/>
            </a:pPr>
            <a:r>
              <a:rPr lang="en-US" sz="1300" dirty="0">
                <a:solidFill>
                  <a:srgbClr val="A7B6CC"/>
                </a:solidFill>
              </a:rPr>
              <a:t>one sentence → a complete form</a:t>
            </a:r>
            <a:endParaRPr lang="en-US" sz="1300" dirty="0"/>
          </a:p>
        </p:txBody>
      </p:sp>
      <p:sp>
        <p:nvSpPr>
          <p:cNvPr id="40" name="cap-dot-4"/>
          <p:cNvSpPr/>
          <p:nvPr/>
        </p:nvSpPr>
        <p:spPr>
          <a:xfrm>
            <a:off x="6583680" y="5715000"/>
            <a:ext cx="182880" cy="182880"/>
          </a:xfrm>
          <a:prstGeom prst="ellipse">
            <a:avLst/>
          </a:prstGeom>
          <a:solidFill>
            <a:srgbClr val="2DD4BF"/>
          </a:solidFill>
          <a:ln w="12700">
            <a:solidFill>
              <a:srgbClr val="0A111D"/>
            </a:solidFill>
            <a:prstDash val="solid"/>
          </a:ln>
        </p:spPr>
      </p:sp>
      <p:sp>
        <p:nvSpPr>
          <p:cNvPr id="41" name="Text 38"/>
          <p:cNvSpPr txBox="1"/>
          <p:nvPr/>
        </p:nvSpPr>
        <p:spPr>
          <a:xfrm>
            <a:off x="6903720" y="5623560"/>
            <a:ext cx="4709160" cy="365760"/>
          </a:xfrm>
          <a:prstGeom prst="rect">
            <a:avLst/>
          </a:prstGeom>
          <a:noFill/>
          <a:ln/>
        </p:spPr>
        <p:txBody>
          <a:bodyPr wrap="square" lIns="0" tIns="0" rIns="0" bIns="0" rtlCol="0" anchor="ctr"/>
          <a:lstStyle/>
          <a:p>
            <a:pPr indent="0" marL="0">
              <a:buNone/>
            </a:pPr>
            <a:r>
              <a:rPr lang="en-US" sz="1300" b="1" dirty="0">
                <a:solidFill>
                  <a:srgbClr val="E8EEF8"/>
                </a:solidFill>
              </a:rPr>
              <a:t>Guardrails  </a:t>
            </a:r>
            <a:pPr indent="0" marL="0">
              <a:buNone/>
            </a:pPr>
            <a:r>
              <a:rPr lang="en-US" sz="1300" dirty="0">
                <a:solidFill>
                  <a:srgbClr val="A7B6CC"/>
                </a:solidFill>
              </a:rPr>
              <a:t>role-scoped data · humans approve · every call audited</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chemeClr val="accent1"/>
                </a:solidFill>
              </a:rPr>
              <a:t>10 · TESTING, DELIVERY &amp; THE DECISION</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bg2"/>
                </a:solidFill>
              </a:rPr>
              <a:t>Proven in pilot, ready to scale — the decision requested today</a:t>
            </a:r>
            <a:endParaRPr lang="en-US" sz="3000" dirty="0"/>
          </a:p>
        </p:txBody>
      </p:sp>
      <p:sp>
        <p:nvSpPr>
          <p:cNvPr id="4" name="timeline"/>
          <p:cNvSpPr/>
          <p:nvPr/>
        </p:nvSpPr>
        <p:spPr>
          <a:xfrm>
            <a:off x="1280160" y="1874520"/>
            <a:ext cx="9601200" cy="0"/>
          </a:xfrm>
          <a:prstGeom prst="line">
            <a:avLst/>
          </a:prstGeom>
          <a:noFill/>
          <a:ln w="31750">
            <a:solidFill>
              <a:srgbClr val="2DD4BF"/>
            </a:solidFill>
            <a:prstDash val="solid"/>
          </a:ln>
        </p:spPr>
      </p:sp>
      <p:sp>
        <p:nvSpPr>
          <p:cNvPr id="5" name="phase-0"/>
          <p:cNvSpPr/>
          <p:nvPr/>
        </p:nvSpPr>
        <p:spPr>
          <a:xfrm>
            <a:off x="1051560" y="1645920"/>
            <a:ext cx="457200" cy="457200"/>
          </a:xfrm>
          <a:prstGeom prst="ellipse">
            <a:avLst/>
          </a:prstGeom>
          <a:solidFill>
            <a:srgbClr val="2DD4BF"/>
          </a:solidFill>
          <a:ln w="25400">
            <a:solidFill>
              <a:srgbClr val="2DD4BF"/>
            </a:solidFill>
            <a:prstDash val="solid"/>
          </a:ln>
        </p:spPr>
      </p:sp>
      <p:sp>
        <p:nvSpPr>
          <p:cNvPr id="6" name="Text 4"/>
          <p:cNvSpPr txBox="1"/>
          <p:nvPr/>
        </p:nvSpPr>
        <p:spPr>
          <a:xfrm>
            <a:off x="1051560" y="1728216"/>
            <a:ext cx="457200" cy="292608"/>
          </a:xfrm>
          <a:prstGeom prst="rect">
            <a:avLst/>
          </a:prstGeom>
          <a:noFill/>
          <a:ln/>
        </p:spPr>
        <p:txBody>
          <a:bodyPr wrap="square" lIns="0" tIns="0" rIns="0" bIns="0" rtlCol="0" anchor="t"/>
          <a:lstStyle/>
          <a:p>
            <a:pPr algn="ctr" indent="0" marL="0">
              <a:buNone/>
            </a:pPr>
            <a:r>
              <a:rPr lang="en-US" sz="1400" b="1" dirty="0">
                <a:solidFill>
                  <a:srgbClr val="0A111D"/>
                </a:solidFill>
              </a:rPr>
              <a:t>✓</a:t>
            </a:r>
            <a:endParaRPr lang="en-US" sz="1400" dirty="0"/>
          </a:p>
        </p:txBody>
      </p:sp>
      <p:sp>
        <p:nvSpPr>
          <p:cNvPr id="7" name="Text 5"/>
          <p:cNvSpPr txBox="1"/>
          <p:nvPr/>
        </p:nvSpPr>
        <p:spPr>
          <a:xfrm>
            <a:off x="0" y="2240280"/>
            <a:ext cx="2560320" cy="822960"/>
          </a:xfrm>
          <a:prstGeom prst="rect">
            <a:avLst/>
          </a:prstGeom>
          <a:noFill/>
          <a:ln/>
        </p:spPr>
        <p:txBody>
          <a:bodyPr wrap="square" lIns="0" tIns="0" rIns="0" bIns="0" rtlCol="0" anchor="t"/>
          <a:lstStyle/>
          <a:p>
            <a:pPr algn="ctr" indent="0" marL="0">
              <a:buNone/>
            </a:pPr>
            <a:r>
              <a:rPr lang="en-US" sz="1500" b="1" dirty="0">
                <a:solidFill>
                  <a:srgbClr val="E8EEF8"/>
                </a:solidFill>
              </a:rPr>
              <a:t>Pilot</a:t>
            </a:r>
            <a:endParaRPr lang="en-US" sz="1400" dirty="0"/>
          </a:p>
          <a:p>
            <a:pPr algn="ctr" indent="0" marL="0">
              <a:buNone/>
            </a:pPr>
            <a:r>
              <a:rPr lang="en-US" sz="1100" dirty="0">
                <a:solidFill>
                  <a:srgbClr val="70819B"/>
                </a:solidFill>
              </a:rPr>
              <a:t>Jul – Oct 2026</a:t>
            </a:r>
            <a:endParaRPr lang="en-US" sz="1400" dirty="0"/>
          </a:p>
          <a:p>
            <a:pPr algn="ctr" indent="0" marL="0">
              <a:buNone/>
            </a:pPr>
            <a:r>
              <a:rPr lang="en-US" sz="1200" dirty="0">
                <a:solidFill>
                  <a:srgbClr val="7CC4FF"/>
                </a:solidFill>
              </a:rPr>
              <a:t>Delivered</a:t>
            </a:r>
            <a:endParaRPr lang="en-US" sz="1400" dirty="0"/>
          </a:p>
        </p:txBody>
      </p:sp>
      <p:sp>
        <p:nvSpPr>
          <p:cNvPr id="8" name="phase-1"/>
          <p:cNvSpPr/>
          <p:nvPr/>
        </p:nvSpPr>
        <p:spPr>
          <a:xfrm>
            <a:off x="4251960" y="1645920"/>
            <a:ext cx="457200" cy="457200"/>
          </a:xfrm>
          <a:prstGeom prst="ellipse">
            <a:avLst/>
          </a:prstGeom>
          <a:solidFill>
            <a:srgbClr val="0A111D"/>
          </a:solidFill>
          <a:ln w="25400">
            <a:solidFill>
              <a:srgbClr val="2DD4BF"/>
            </a:solidFill>
            <a:prstDash val="solid"/>
          </a:ln>
        </p:spPr>
      </p:sp>
      <p:sp>
        <p:nvSpPr>
          <p:cNvPr id="9" name="Text 7"/>
          <p:cNvSpPr txBox="1"/>
          <p:nvPr/>
        </p:nvSpPr>
        <p:spPr>
          <a:xfrm>
            <a:off x="4251960" y="1728216"/>
            <a:ext cx="457200" cy="292608"/>
          </a:xfrm>
          <a:prstGeom prst="rect">
            <a:avLst/>
          </a:prstGeom>
          <a:noFill/>
          <a:ln/>
        </p:spPr>
        <p:txBody>
          <a:bodyPr wrap="square" lIns="0" tIns="0" rIns="0" bIns="0" rtlCol="0" anchor="t"/>
          <a:lstStyle/>
          <a:p>
            <a:pPr algn="ctr" indent="0" marL="0">
              <a:buNone/>
            </a:pPr>
            <a:r>
              <a:rPr lang="en-US" sz="1400" b="1" dirty="0">
                <a:solidFill>
                  <a:srgbClr val="2DD4BF"/>
                </a:solidFill>
              </a:rPr>
              <a:t>1</a:t>
            </a:r>
            <a:endParaRPr lang="en-US" sz="1400" dirty="0"/>
          </a:p>
        </p:txBody>
      </p:sp>
      <p:sp>
        <p:nvSpPr>
          <p:cNvPr id="10" name="Text 8"/>
          <p:cNvSpPr txBox="1"/>
          <p:nvPr/>
        </p:nvSpPr>
        <p:spPr>
          <a:xfrm>
            <a:off x="3200400" y="2240280"/>
            <a:ext cx="2560320" cy="822960"/>
          </a:xfrm>
          <a:prstGeom prst="rect">
            <a:avLst/>
          </a:prstGeom>
          <a:noFill/>
          <a:ln/>
        </p:spPr>
        <p:txBody>
          <a:bodyPr wrap="square" lIns="0" tIns="0" rIns="0" bIns="0" rtlCol="0" anchor="t"/>
          <a:lstStyle/>
          <a:p>
            <a:pPr algn="ctr" indent="0" marL="0">
              <a:buNone/>
            </a:pPr>
            <a:r>
              <a:rPr lang="en-US" sz="1500" b="1" dirty="0">
                <a:solidFill>
                  <a:srgbClr val="E8EEF8"/>
                </a:solidFill>
              </a:rPr>
              <a:t>Harden &amp; integrate</a:t>
            </a:r>
            <a:endParaRPr lang="en-US" sz="1400" dirty="0"/>
          </a:p>
          <a:p>
            <a:pPr algn="ctr" indent="0" marL="0">
              <a:buNone/>
            </a:pPr>
            <a:r>
              <a:rPr lang="en-US" sz="1100" dirty="0">
                <a:solidFill>
                  <a:srgbClr val="70819B"/>
                </a:solidFill>
              </a:rPr>
              <a:t>Nov 2026 – Jan 2027</a:t>
            </a:r>
            <a:endParaRPr lang="en-US" sz="1400" dirty="0"/>
          </a:p>
          <a:p>
            <a:pPr algn="ctr" indent="0" marL="0">
              <a:buNone/>
            </a:pPr>
            <a:r>
              <a:rPr lang="en-US" sz="1200" dirty="0">
                <a:solidFill>
                  <a:srgbClr val="7CC4FF"/>
                </a:solidFill>
              </a:rPr>
              <a:t>AED 378K</a:t>
            </a:r>
            <a:endParaRPr lang="en-US" sz="1400" dirty="0"/>
          </a:p>
        </p:txBody>
      </p:sp>
      <p:sp>
        <p:nvSpPr>
          <p:cNvPr id="11" name="phase-2"/>
          <p:cNvSpPr/>
          <p:nvPr/>
        </p:nvSpPr>
        <p:spPr>
          <a:xfrm>
            <a:off x="7452360" y="1645920"/>
            <a:ext cx="457200" cy="457200"/>
          </a:xfrm>
          <a:prstGeom prst="ellipse">
            <a:avLst/>
          </a:prstGeom>
          <a:solidFill>
            <a:srgbClr val="0A111D"/>
          </a:solidFill>
          <a:ln w="25400">
            <a:solidFill>
              <a:srgbClr val="2DD4BF"/>
            </a:solidFill>
            <a:prstDash val="solid"/>
          </a:ln>
        </p:spPr>
      </p:sp>
      <p:sp>
        <p:nvSpPr>
          <p:cNvPr id="12" name="Text 10"/>
          <p:cNvSpPr txBox="1"/>
          <p:nvPr/>
        </p:nvSpPr>
        <p:spPr>
          <a:xfrm>
            <a:off x="7452360" y="1728216"/>
            <a:ext cx="457200" cy="292608"/>
          </a:xfrm>
          <a:prstGeom prst="rect">
            <a:avLst/>
          </a:prstGeom>
          <a:noFill/>
          <a:ln/>
        </p:spPr>
        <p:txBody>
          <a:bodyPr wrap="square" lIns="0" tIns="0" rIns="0" bIns="0" rtlCol="0" anchor="t"/>
          <a:lstStyle/>
          <a:p>
            <a:pPr algn="ctr" indent="0" marL="0">
              <a:buNone/>
            </a:pPr>
            <a:r>
              <a:rPr lang="en-US" sz="1400" b="1" dirty="0">
                <a:solidFill>
                  <a:srgbClr val="2DD4BF"/>
                </a:solidFill>
              </a:rPr>
              <a:t>2</a:t>
            </a:r>
            <a:endParaRPr lang="en-US" sz="1400" dirty="0"/>
          </a:p>
        </p:txBody>
      </p:sp>
      <p:sp>
        <p:nvSpPr>
          <p:cNvPr id="13" name="Text 11"/>
          <p:cNvSpPr txBox="1"/>
          <p:nvPr/>
        </p:nvSpPr>
        <p:spPr>
          <a:xfrm>
            <a:off x="6400800" y="2240280"/>
            <a:ext cx="2560320" cy="822960"/>
          </a:xfrm>
          <a:prstGeom prst="rect">
            <a:avLst/>
          </a:prstGeom>
          <a:noFill/>
          <a:ln/>
        </p:spPr>
        <p:txBody>
          <a:bodyPr wrap="square" lIns="0" tIns="0" rIns="0" bIns="0" rtlCol="0" anchor="t"/>
          <a:lstStyle/>
          <a:p>
            <a:pPr algn="ctr" indent="0" marL="0">
              <a:buNone/>
            </a:pPr>
            <a:r>
              <a:rPr lang="en-US" sz="1500" b="1" dirty="0">
                <a:solidFill>
                  <a:srgbClr val="E8EEF8"/>
                </a:solidFill>
              </a:rPr>
              <a:t>Group rollout</a:t>
            </a:r>
            <a:endParaRPr lang="en-US" sz="1400" dirty="0"/>
          </a:p>
          <a:p>
            <a:pPr algn="ctr" indent="0" marL="0">
              <a:buNone/>
            </a:pPr>
            <a:r>
              <a:rPr lang="en-US" sz="1100" dirty="0">
                <a:solidFill>
                  <a:srgbClr val="70819B"/>
                </a:solidFill>
              </a:rPr>
              <a:t>Feb – Apr 2027</a:t>
            </a:r>
            <a:endParaRPr lang="en-US" sz="1400" dirty="0"/>
          </a:p>
          <a:p>
            <a:pPr algn="ctr" indent="0" marL="0">
              <a:buNone/>
            </a:pPr>
            <a:r>
              <a:rPr lang="en-US" sz="1200" dirty="0">
                <a:solidFill>
                  <a:srgbClr val="7CC4FF"/>
                </a:solidFill>
              </a:rPr>
              <a:t>AED 482K</a:t>
            </a:r>
            <a:endParaRPr lang="en-US" sz="1400" dirty="0"/>
          </a:p>
        </p:txBody>
      </p:sp>
      <p:sp>
        <p:nvSpPr>
          <p:cNvPr id="14" name="phase-3"/>
          <p:cNvSpPr/>
          <p:nvPr/>
        </p:nvSpPr>
        <p:spPr>
          <a:xfrm>
            <a:off x="10652760" y="1645920"/>
            <a:ext cx="457200" cy="457200"/>
          </a:xfrm>
          <a:prstGeom prst="ellipse">
            <a:avLst/>
          </a:prstGeom>
          <a:solidFill>
            <a:srgbClr val="0A111D"/>
          </a:solidFill>
          <a:ln w="25400">
            <a:solidFill>
              <a:srgbClr val="2DD4BF"/>
            </a:solidFill>
            <a:prstDash val="solid"/>
          </a:ln>
        </p:spPr>
      </p:sp>
      <p:sp>
        <p:nvSpPr>
          <p:cNvPr id="15" name="Text 13"/>
          <p:cNvSpPr txBox="1"/>
          <p:nvPr/>
        </p:nvSpPr>
        <p:spPr>
          <a:xfrm>
            <a:off x="10652760" y="1728216"/>
            <a:ext cx="457200" cy="292608"/>
          </a:xfrm>
          <a:prstGeom prst="rect">
            <a:avLst/>
          </a:prstGeom>
          <a:noFill/>
          <a:ln/>
        </p:spPr>
        <p:txBody>
          <a:bodyPr wrap="square" lIns="0" tIns="0" rIns="0" bIns="0" rtlCol="0" anchor="t"/>
          <a:lstStyle/>
          <a:p>
            <a:pPr algn="ctr" indent="0" marL="0">
              <a:buNone/>
            </a:pPr>
            <a:r>
              <a:rPr lang="en-US" sz="1400" b="1" dirty="0">
                <a:solidFill>
                  <a:srgbClr val="2DD4BF"/>
                </a:solidFill>
              </a:rPr>
              <a:t>3</a:t>
            </a:r>
            <a:endParaRPr lang="en-US" sz="1400" dirty="0"/>
          </a:p>
        </p:txBody>
      </p:sp>
      <p:sp>
        <p:nvSpPr>
          <p:cNvPr id="16" name="Text 14"/>
          <p:cNvSpPr txBox="1"/>
          <p:nvPr/>
        </p:nvSpPr>
        <p:spPr>
          <a:xfrm>
            <a:off x="9601200" y="2240280"/>
            <a:ext cx="2560320" cy="822960"/>
          </a:xfrm>
          <a:prstGeom prst="rect">
            <a:avLst/>
          </a:prstGeom>
          <a:noFill/>
          <a:ln/>
        </p:spPr>
        <p:txBody>
          <a:bodyPr wrap="square" lIns="0" tIns="0" rIns="0" bIns="0" rtlCol="0" anchor="t"/>
          <a:lstStyle/>
          <a:p>
            <a:pPr algn="ctr" indent="0" marL="0">
              <a:buNone/>
            </a:pPr>
            <a:r>
              <a:rPr lang="en-US" sz="1500" b="1" dirty="0">
                <a:solidFill>
                  <a:srgbClr val="E8EEF8"/>
                </a:solidFill>
              </a:rPr>
              <a:t>Optimise</a:t>
            </a:r>
            <a:endParaRPr lang="en-US" sz="1400" dirty="0"/>
          </a:p>
          <a:p>
            <a:pPr algn="ctr" indent="0" marL="0">
              <a:buNone/>
            </a:pPr>
            <a:r>
              <a:rPr lang="en-US" sz="1100" dirty="0">
                <a:solidFill>
                  <a:srgbClr val="70819B"/>
                </a:solidFill>
              </a:rPr>
              <a:t>May – Sep 2027</a:t>
            </a:r>
            <a:endParaRPr lang="en-US" sz="1400" dirty="0"/>
          </a:p>
          <a:p>
            <a:pPr algn="ctr" indent="0" marL="0">
              <a:buNone/>
            </a:pPr>
            <a:r>
              <a:rPr lang="en-US" sz="1200" dirty="0">
                <a:solidFill>
                  <a:srgbClr val="7CC4FF"/>
                </a:solidFill>
              </a:rPr>
              <a:t>Run budget</a:t>
            </a:r>
            <a:endParaRPr lang="en-US" sz="1400" dirty="0"/>
          </a:p>
        </p:txBody>
      </p:sp>
      <p:sp>
        <p:nvSpPr>
          <p:cNvPr id="17" name="gates"/>
          <p:cNvSpPr/>
          <p:nvPr/>
        </p:nvSpPr>
        <p:spPr>
          <a:xfrm>
            <a:off x="548640" y="3291840"/>
            <a:ext cx="5394960" cy="2834640"/>
          </a:xfrm>
          <a:prstGeom prst="roundRect">
            <a:avLst>
              <a:gd name="adj" fmla="val 3871"/>
            </a:avLst>
          </a:prstGeom>
          <a:solidFill>
            <a:srgbClr val="16233A"/>
          </a:solidFill>
          <a:ln w="9525">
            <a:solidFill>
              <a:srgbClr val="2A3A55"/>
            </a:solidFill>
            <a:prstDash val="solid"/>
          </a:ln>
        </p:spPr>
      </p:sp>
      <p:sp>
        <p:nvSpPr>
          <p:cNvPr id="18" name="Text 16"/>
          <p:cNvSpPr txBox="1"/>
          <p:nvPr/>
        </p:nvSpPr>
        <p:spPr>
          <a:xfrm>
            <a:off x="822960" y="3429000"/>
            <a:ext cx="4846320" cy="320040"/>
          </a:xfrm>
          <a:prstGeom prst="rect">
            <a:avLst/>
          </a:prstGeom>
          <a:noFill/>
          <a:ln/>
        </p:spPr>
        <p:txBody>
          <a:bodyPr wrap="square" lIns="0" tIns="0" rIns="0" bIns="0" rtlCol="0" anchor="t"/>
          <a:lstStyle/>
          <a:p>
            <a:pPr indent="0" marL="0">
              <a:buNone/>
            </a:pPr>
            <a:r>
              <a:rPr lang="en-US" sz="1400" b="1" dirty="0">
                <a:solidFill>
                  <a:srgbClr val="2DD4BF"/>
                </a:solidFill>
              </a:rPr>
              <a:t>Quality gates on every release</a:t>
            </a:r>
            <a:endParaRPr lang="en-US" sz="1400" dirty="0"/>
          </a:p>
        </p:txBody>
      </p:sp>
      <p:sp>
        <p:nvSpPr>
          <p:cNvPr id="19" name="Text 17"/>
          <p:cNvSpPr txBox="1"/>
          <p:nvPr/>
        </p:nvSpPr>
        <p:spPr>
          <a:xfrm>
            <a:off x="822960" y="3840480"/>
            <a:ext cx="493776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A7B6CC"/>
                </a:solidFill>
              </a:rPr>
              <a:t>Unit &amp; integration tests on every pull request</a:t>
            </a:r>
            <a:endParaRPr lang="en-US" sz="1300" dirty="0"/>
          </a:p>
          <a:p>
            <a:pPr marL="342900" indent="-342900">
              <a:spcAft>
                <a:spcPts val="500"/>
              </a:spcAft>
              <a:buSzPct val="100000"/>
              <a:buChar char="•"/>
            </a:pPr>
            <a:r>
              <a:rPr lang="en-US" sz="1300" dirty="0">
                <a:solidFill>
                  <a:srgbClr val="A7B6CC"/>
                </a:solidFill>
              </a:rPr>
              <a:t>Permission tests for every pmo:* key and role</a:t>
            </a:r>
            <a:endParaRPr lang="en-US" sz="1300" dirty="0"/>
          </a:p>
          <a:p>
            <a:pPr marL="342900" indent="-342900">
              <a:spcAft>
                <a:spcPts val="500"/>
              </a:spcAft>
              <a:buSzPct val="100000"/>
              <a:buChar char="•"/>
            </a:pPr>
            <a:r>
              <a:rPr lang="en-US" sz="1300" dirty="0">
                <a:solidFill>
                  <a:srgbClr val="A7B6CC"/>
                </a:solidFill>
              </a:rPr>
              <a:t>UAT scripts signed off by the PMO per module</a:t>
            </a:r>
            <a:endParaRPr lang="en-US" sz="1300" dirty="0"/>
          </a:p>
          <a:p>
            <a:pPr marL="342900" indent="-342900">
              <a:spcAft>
                <a:spcPts val="500"/>
              </a:spcAft>
              <a:buSzPct val="100000"/>
              <a:buChar char="•"/>
            </a:pPr>
            <a:r>
              <a:rPr lang="en-US" sz="1300" dirty="0">
                <a:solidFill>
                  <a:srgbClr val="A7B6CC"/>
                </a:solidFill>
              </a:rPr>
              <a:t>Performance budget: lists &lt; 1 s; AI calls time out at 60 s</a:t>
            </a:r>
            <a:endParaRPr lang="en-US" sz="1300" dirty="0"/>
          </a:p>
          <a:p>
            <a:pPr marL="342900" indent="-342900">
              <a:spcAft>
                <a:spcPts val="500"/>
              </a:spcAft>
              <a:buSzPct val="100000"/>
              <a:buChar char="•"/>
            </a:pPr>
            <a:r>
              <a:rPr lang="en-US" sz="1300" dirty="0">
                <a:solidFill>
                  <a:srgbClr val="A7B6CC"/>
                </a:solidFill>
              </a:rPr>
              <a:t>Pen-test, JWT expiry, audit trail on every change</a:t>
            </a:r>
            <a:endParaRPr lang="en-US" sz="1300" dirty="0"/>
          </a:p>
          <a:p>
            <a:pPr marL="342900" indent="-342900">
              <a:spcAft>
                <a:spcPts val="500"/>
              </a:spcAft>
              <a:buSzPct val="100000"/>
              <a:buChar char="•"/>
            </a:pPr>
            <a:r>
              <a:rPr lang="en-US" sz="1300" dirty="0">
                <a:solidFill>
                  <a:srgbClr val="A7B6CC"/>
                </a:solidFill>
              </a:rPr>
              <a:t>Bilingual QA: every screen in Arabic RTL and English</a:t>
            </a:r>
            <a:endParaRPr lang="en-US" sz="1300" dirty="0"/>
          </a:p>
        </p:txBody>
      </p:sp>
      <p:sp>
        <p:nvSpPr>
          <p:cNvPr id="20" name="ask"/>
          <p:cNvSpPr/>
          <p:nvPr/>
        </p:nvSpPr>
        <p:spPr>
          <a:xfrm>
            <a:off x="6172200" y="3291840"/>
            <a:ext cx="5440680" cy="2834640"/>
          </a:xfrm>
          <a:prstGeom prst="roundRect">
            <a:avLst>
              <a:gd name="adj" fmla="val 3871"/>
            </a:avLst>
          </a:prstGeom>
          <a:solidFill>
            <a:srgbClr val="183C40"/>
          </a:solidFill>
          <a:ln w="9525">
            <a:solidFill>
              <a:srgbClr val="2A3A55"/>
            </a:solidFill>
            <a:prstDash val="solid"/>
          </a:ln>
        </p:spPr>
      </p:sp>
      <p:sp>
        <p:nvSpPr>
          <p:cNvPr id="21" name="Text 19"/>
          <p:cNvSpPr txBox="1"/>
          <p:nvPr/>
        </p:nvSpPr>
        <p:spPr>
          <a:xfrm>
            <a:off x="6446520" y="3429000"/>
            <a:ext cx="4937760" cy="320040"/>
          </a:xfrm>
          <a:prstGeom prst="rect">
            <a:avLst/>
          </a:prstGeom>
          <a:noFill/>
          <a:ln/>
        </p:spPr>
        <p:txBody>
          <a:bodyPr wrap="square" lIns="0" tIns="0" rIns="0" bIns="0" rtlCol="0" anchor="t"/>
          <a:lstStyle/>
          <a:p>
            <a:pPr indent="0" marL="0">
              <a:buNone/>
            </a:pPr>
            <a:r>
              <a:rPr lang="en-US" sz="1400" b="1" dirty="0">
                <a:solidFill>
                  <a:srgbClr val="2DD4BF"/>
                </a:solidFill>
              </a:rPr>
              <a:t>The decision requested today</a:t>
            </a:r>
            <a:endParaRPr lang="en-US" sz="1400" dirty="0"/>
          </a:p>
        </p:txBody>
      </p:sp>
      <p:sp>
        <p:nvSpPr>
          <p:cNvPr id="22" name="Text 20"/>
          <p:cNvSpPr txBox="1"/>
          <p:nvPr/>
        </p:nvSpPr>
        <p:spPr>
          <a:xfrm>
            <a:off x="6446520" y="3840480"/>
            <a:ext cx="4937760" cy="14630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b="1" dirty="0">
                <a:solidFill>
                  <a:srgbClr val="E8EEF8"/>
                </a:solidFill>
              </a:rPr>
              <a:t>Approve AED 860K for Phases 1–2</a:t>
            </a:r>
            <a:endParaRPr lang="en-US" sz="1500" dirty="0"/>
          </a:p>
          <a:p>
            <a:pPr marL="342900" indent="-342900">
              <a:spcAft>
                <a:spcPts val="600"/>
              </a:spcAft>
              <a:buSzPct val="100000"/>
              <a:buFont typeface="+mj-lt"/>
              <a:buAutoNum type="arabicPeriod" startAt="1"/>
            </a:pPr>
            <a:r>
              <a:rPr lang="en-US" sz="1500" b="1" dirty="0">
                <a:solidFill>
                  <a:srgbClr val="E8EEF8"/>
                </a:solidFill>
              </a:rPr>
              <a:t>Nominate an executive sponsor &amp; PMO product owner</a:t>
            </a:r>
            <a:endParaRPr lang="en-US" sz="1500" dirty="0"/>
          </a:p>
          <a:p>
            <a:pPr marL="342900" indent="-342900">
              <a:spcAft>
                <a:spcPts val="600"/>
              </a:spcAft>
              <a:buSzPct val="100000"/>
              <a:buFont typeface="+mj-lt"/>
              <a:buAutoNum type="arabicPeriod" startAt="1"/>
            </a:pPr>
            <a:r>
              <a:rPr lang="en-US" sz="1500" b="1" dirty="0">
                <a:solidFill>
                  <a:srgbClr val="E8EEF8"/>
                </a:solidFill>
              </a:rPr>
              <a:t>Mandate the portal as the single source for portfolio reporting from Q2 2027</a:t>
            </a:r>
            <a:endParaRPr lang="en-US" sz="1500" dirty="0"/>
          </a:p>
        </p:txBody>
      </p:sp>
      <p:sp>
        <p:nvSpPr>
          <p:cNvPr id="23" name="Text 21"/>
          <p:cNvSpPr txBox="1"/>
          <p:nvPr/>
        </p:nvSpPr>
        <p:spPr>
          <a:xfrm>
            <a:off x="6446520" y="5532120"/>
            <a:ext cx="4937760" cy="411480"/>
          </a:xfrm>
          <a:prstGeom prst="rect">
            <a:avLst/>
          </a:prstGeom>
          <a:noFill/>
          <a:ln/>
        </p:spPr>
        <p:txBody>
          <a:bodyPr wrap="square" lIns="0" tIns="0" rIns="0" bIns="0" rtlCol="0" anchor="t"/>
          <a:lstStyle/>
          <a:p>
            <a:pPr indent="0" marL="0">
              <a:buNone/>
            </a:pPr>
            <a:r>
              <a:rPr lang="en-US" sz="1200" dirty="0">
                <a:solidFill>
                  <a:srgbClr val="A7B6CC"/>
                </a:solidFill>
              </a:rPr>
              <a:t>Base case: AED 2.60M/yr benefit · payback month 8 · 3-yr net AED 5.77M</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0819B"/>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MO Portal Night">
  <a:themeElements>
    <a:clrScheme name="PMO Portal Night">
      <a:dk1>
        <a:srgbClr val="0A111D"/>
      </a:dk1>
      <a:lt1>
        <a:srgbClr val="FFFFFF"/>
      </a:lt1>
      <a:dk2>
        <a:srgbClr val="16233A"/>
      </a:dk2>
      <a:lt2>
        <a:srgbClr val="E8EEF8"/>
      </a:lt2>
      <a:accent1>
        <a:srgbClr val="2DD4BF"/>
      </a:accent1>
      <a:accent2>
        <a:srgbClr val="7CC4FF"/>
      </a:accent2>
      <a:accent3>
        <a:srgbClr val="F5B342"/>
      </a:accent3>
      <a:accent4>
        <a:srgbClr val="FF6B5E"/>
      </a:accent4>
      <a:accent5>
        <a:srgbClr val="8B7CFF"/>
      </a:accent5>
      <a:accent6>
        <a:srgbClr val="4ADE80"/>
      </a:accent6>
      <a:hlink>
        <a:srgbClr val="7CC4FF"/>
      </a:hlink>
      <a:folHlink>
        <a:srgbClr val="8B7CFF"/>
      </a:folHlink>
    </a:clrScheme>
    <a:fontScheme name="PMO Portal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Sahel Holding Group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PMO Portal — Investment Proposal</dc:title>
  <dc:subject>PptxGenJS Presentation</dc:subject>
  <dc:creator>Abdulqader Alshawea</dc:creator>
  <cp:lastModifiedBy>Abdulqader Alshawea</cp:lastModifiedBy>
  <cp:revision>1</cp:revision>
  <dcterms:created xsi:type="dcterms:W3CDTF">2026-10-19T02:21:12Z</dcterms:created>
  <dcterms:modified xsi:type="dcterms:W3CDTF">2026-10-19T02:21:12Z</dcterms:modified>
</cp:coreProperties>
</file>